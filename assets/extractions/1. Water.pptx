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54"/>
  </p:notesMasterIdLst>
  <p:sldIdLst>
    <p:sldId id="320" r:id="rId3"/>
    <p:sldId id="323" r:id="rId4"/>
    <p:sldId id="256" r:id="rId5"/>
    <p:sldId id="297" r:id="rId6"/>
    <p:sldId id="257" r:id="rId7"/>
    <p:sldId id="318" r:id="rId8"/>
    <p:sldId id="261" r:id="rId9"/>
    <p:sldId id="263" r:id="rId10"/>
    <p:sldId id="306" r:id="rId11"/>
    <p:sldId id="305" r:id="rId12"/>
    <p:sldId id="303" r:id="rId13"/>
    <p:sldId id="304" r:id="rId14"/>
    <p:sldId id="298" r:id="rId15"/>
    <p:sldId id="262" r:id="rId16"/>
    <p:sldId id="281" r:id="rId17"/>
    <p:sldId id="329" r:id="rId18"/>
    <p:sldId id="276" r:id="rId19"/>
    <p:sldId id="282" r:id="rId20"/>
    <p:sldId id="283" r:id="rId21"/>
    <p:sldId id="317" r:id="rId22"/>
    <p:sldId id="274" r:id="rId23"/>
    <p:sldId id="284" r:id="rId24"/>
    <p:sldId id="285" r:id="rId25"/>
    <p:sldId id="286" r:id="rId26"/>
    <p:sldId id="314" r:id="rId27"/>
    <p:sldId id="277" r:id="rId28"/>
    <p:sldId id="308" r:id="rId29"/>
    <p:sldId id="324" r:id="rId30"/>
    <p:sldId id="325" r:id="rId31"/>
    <p:sldId id="319" r:id="rId32"/>
    <p:sldId id="327" r:id="rId33"/>
    <p:sldId id="310" r:id="rId34"/>
    <p:sldId id="311" r:id="rId35"/>
    <p:sldId id="287" r:id="rId36"/>
    <p:sldId id="267" r:id="rId37"/>
    <p:sldId id="288" r:id="rId38"/>
    <p:sldId id="315" r:id="rId39"/>
    <p:sldId id="289" r:id="rId40"/>
    <p:sldId id="271" r:id="rId41"/>
    <p:sldId id="290" r:id="rId42"/>
    <p:sldId id="275" r:id="rId43"/>
    <p:sldId id="312" r:id="rId44"/>
    <p:sldId id="299" r:id="rId45"/>
    <p:sldId id="300" r:id="rId46"/>
    <p:sldId id="301" r:id="rId47"/>
    <p:sldId id="291" r:id="rId48"/>
    <p:sldId id="292" r:id="rId49"/>
    <p:sldId id="293" r:id="rId50"/>
    <p:sldId id="294" r:id="rId51"/>
    <p:sldId id="296" r:id="rId52"/>
    <p:sldId id="273" r:id="rId53"/>
  </p:sldIdLst>
  <p:sldSz cx="12192000" cy="6858000"/>
  <p:notesSz cx="6858000" cy="9144000"/>
  <p:embeddedFontLst>
    <p:embeddedFont>
      <p:font typeface="Amasis MT Pro Medium" panose="02040604050005020304" pitchFamily="18" charset="77"/>
      <p:regular r:id="rId55"/>
      <p:italic r:id="rId56"/>
    </p:embeddedFont>
    <p:embeddedFont>
      <p:font typeface="Arial Black" panose="020B0604020202020204" pitchFamily="34" charset="0"/>
      <p:bold r:id="rId57"/>
      <p:italic r:id="rId58"/>
    </p:embeddedFont>
    <p:embeddedFont>
      <p:font typeface="Modern Love" pitchFamily="82" charset="0"/>
      <p:regular r:id="rId59"/>
    </p:embeddedFont>
    <p:embeddedFont>
      <p:font typeface="The Hand" panose="03070502030502020204" pitchFamily="66" charset="0"/>
      <p:regular r:id="rId60"/>
      <p:bold r:id="rId61"/>
    </p:embeddedFont>
    <p:embeddedFont>
      <p:font typeface="Verdana" panose="020B0604030504040204" pitchFamily="34" charset="0"/>
      <p:regular r:id="rId62"/>
      <p:bold r:id="rId63"/>
      <p:italic r:id="rId64"/>
      <p:boldItalic r:id="rId6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http://customooxmlschemas.google.com/">
      <go:slidesCustomData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6" roundtripDataSignature="AMtx7mg9sUQDRO1QOFCObiXicsDGOrLmw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7FB62C7-942A-463B-8B6F-C30A2E581A81}">
  <a:tblStyle styleId="{B7FB62C7-942A-463B-8B6F-C30A2E581A81}" styleName="Table_0">
    <a:wholeTbl>
      <a:tcTxStyle b="off" i="off">
        <a:font>
          <a:latin typeface="Calibri"/>
          <a:ea typeface="Calibri"/>
          <a:cs typeface="Calibri"/>
        </a:font>
        <a:schemeClr val="lt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973"/>
    <p:restoredTop sz="85369" autoAdjust="0"/>
  </p:normalViewPr>
  <p:slideViewPr>
    <p:cSldViewPr snapToGrid="0">
      <p:cViewPr varScale="1">
        <p:scale>
          <a:sx n="96" d="100"/>
          <a:sy n="96" d="100"/>
        </p:scale>
        <p:origin x="656" y="4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9.fntdata"/><Relationship Id="rId68"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font" Target="fonts/font4.fntdata"/><Relationship Id="rId66" Type="http://customschemas.google.com/relationships/presentationmetadata" Target="metadata"/><Relationship Id="rId5" Type="http://schemas.openxmlformats.org/officeDocument/2006/relationships/slide" Target="slides/slide3.xml"/><Relationship Id="rId61" Type="http://schemas.openxmlformats.org/officeDocument/2006/relationships/font" Target="fonts/font7.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2.fntdata"/><Relationship Id="rId64" Type="http://schemas.openxmlformats.org/officeDocument/2006/relationships/font" Target="fonts/font10.fntdata"/><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5.fntdata"/><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notesMaster" Target="notesMasters/notesMaster1.xml"/><Relationship Id="rId62" Type="http://schemas.openxmlformats.org/officeDocument/2006/relationships/font" Target="fonts/font8.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3.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font" Target="fonts/font6.fntdata"/><Relationship Id="rId65" Type="http://schemas.openxmlformats.org/officeDocument/2006/relationships/font" Target="fonts/font11.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2433986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7999438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29328834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89d6dfa6c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g89d6dfa6c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g89d6dfa6c4_0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37476321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941420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GB" sz="1200" b="0" i="0" dirty="0">
                <a:solidFill>
                  <a:schemeClr val="dk1"/>
                </a:solidFill>
                <a:latin typeface="Calibri"/>
                <a:ea typeface="Calibri"/>
                <a:cs typeface="Calibri"/>
                <a:sym typeface="Calibri"/>
              </a:rPr>
              <a:t>Water is regarded as the ‘general solvent’ or ‘universal solvent’ due to the polarity of its molecules.</a:t>
            </a:r>
            <a:br>
              <a:rPr lang="en-GB" sz="1200" b="0" i="0" dirty="0">
                <a:solidFill>
                  <a:schemeClr val="dk1"/>
                </a:solidFill>
                <a:latin typeface="Calibri"/>
                <a:ea typeface="Calibri"/>
                <a:cs typeface="Calibri"/>
                <a:sym typeface="Calibri"/>
              </a:rPr>
            </a:br>
            <a:r>
              <a:rPr lang="en-GB" sz="1200" b="1" i="0" u="sng" dirty="0">
                <a:solidFill>
                  <a:schemeClr val="dk1"/>
                </a:solidFill>
                <a:latin typeface="Calibri"/>
                <a:ea typeface="Calibri"/>
                <a:cs typeface="Calibri"/>
                <a:sym typeface="Calibri"/>
              </a:rPr>
              <a:t>For</a:t>
            </a:r>
            <a:r>
              <a:rPr lang="en-GB" sz="1200" b="1" i="0" dirty="0">
                <a:solidFill>
                  <a:schemeClr val="dk1"/>
                </a:solidFill>
                <a:latin typeface="Calibri"/>
                <a:ea typeface="Calibri"/>
                <a:cs typeface="Calibri"/>
                <a:sym typeface="Calibri"/>
              </a:rPr>
              <a:t> </a:t>
            </a:r>
            <a:r>
              <a:rPr lang="en-GB" sz="1200" b="1" i="0" u="sng" dirty="0">
                <a:solidFill>
                  <a:schemeClr val="dk1"/>
                </a:solidFill>
                <a:latin typeface="Calibri"/>
                <a:ea typeface="Calibri"/>
                <a:cs typeface="Calibri"/>
                <a:sym typeface="Calibri"/>
              </a:rPr>
              <a:t>example</a:t>
            </a:r>
            <a:r>
              <a:rPr lang="en-GB" sz="1200" b="0" i="0" dirty="0">
                <a:solidFill>
                  <a:schemeClr val="dk1"/>
                </a:solidFill>
                <a:latin typeface="Calibri"/>
                <a:ea typeface="Calibri"/>
                <a:cs typeface="Calibri"/>
                <a:sym typeface="Calibri"/>
              </a:rPr>
              <a:t>, when sodium chloride (NaCl) dissolves in water, it produces positive sodium ions and negative chlorine ions. The positive hydrogen atoms in water attract the negative chlorine ions, and the negative oxygen atoms attract the positive sodium ions. All polar substances (substances containing ions) can dissolve in polar solvents, such as water.</a:t>
            </a:r>
            <a:endParaRPr lang="en-GB" dirty="0"/>
          </a:p>
          <a:p>
            <a:pPr marL="0" lvl="0" indent="0" algn="l" rtl="0">
              <a:spcBef>
                <a:spcPts val="0"/>
              </a:spcBef>
              <a:spcAft>
                <a:spcPts val="0"/>
              </a:spcAft>
              <a:buNone/>
            </a:pPr>
            <a:r>
              <a:rPr lang="en-GB" sz="1200" b="0" i="0" dirty="0">
                <a:solidFill>
                  <a:schemeClr val="dk1"/>
                </a:solidFill>
                <a:latin typeface="Calibri"/>
                <a:ea typeface="Calibri"/>
                <a:cs typeface="Calibri"/>
                <a:sym typeface="Calibri"/>
              </a:rPr>
              <a:t>All the essential substances for living organisms (vitamins, salts, amino acids, gases, and glucose) transport inside their bodies in the form of solutes dissolved in water. These substances take part in metabolic reactions inside the cells.</a:t>
            </a:r>
            <a:endParaRPr lang="en-GB" dirty="0"/>
          </a:p>
          <a:p>
            <a:pPr marL="0" marR="0" lvl="0" indent="0" algn="l" rtl="0">
              <a:lnSpc>
                <a:spcPct val="100000"/>
              </a:lnSpc>
              <a:spcBef>
                <a:spcPts val="0"/>
              </a:spcBef>
              <a:spcAft>
                <a:spcPts val="0"/>
              </a:spcAft>
              <a:buClr>
                <a:schemeClr val="dk1"/>
              </a:buClr>
              <a:buSzPts val="1200"/>
              <a:buFont typeface="Calibri"/>
              <a:buNone/>
            </a:pPr>
            <a:r>
              <a:rPr lang="en-GB" sz="1200" dirty="0"/>
              <a:t>Water also carries substances such as starch  as a result, most of the chemical reaction within cells occur in water (in aqueous solution). Water is an excellent transport medium because the dipole nature of water enables many different substances to dissolve in it.</a:t>
            </a:r>
          </a:p>
          <a:p>
            <a:pPr marL="0" marR="0" lvl="0" indent="0" algn="l" rtl="0">
              <a:lnSpc>
                <a:spcPct val="100000"/>
              </a:lnSpc>
              <a:spcBef>
                <a:spcPts val="0"/>
              </a:spcBef>
              <a:spcAft>
                <a:spcPts val="0"/>
              </a:spcAft>
              <a:buClr>
                <a:schemeClr val="dk1"/>
              </a:buClr>
              <a:buSzPts val="1200"/>
              <a:buFont typeface="Calibri"/>
              <a:buNone/>
            </a:pPr>
            <a:r>
              <a:rPr lang="en-GB" sz="1100" dirty="0">
                <a:highlight>
                  <a:srgbClr val="FFFFFF"/>
                </a:highlight>
                <a:latin typeface="Verdana"/>
                <a:ea typeface="Verdana"/>
                <a:cs typeface="Verdana"/>
                <a:sym typeface="Verdana"/>
              </a:rPr>
              <a:t>Water is </a:t>
            </a:r>
            <a:r>
              <a:rPr lang="en-GB" sz="1100" b="1" dirty="0">
                <a:highlight>
                  <a:srgbClr val="FFFFFF"/>
                </a:highlight>
                <a:latin typeface="Verdana"/>
                <a:ea typeface="Verdana"/>
                <a:cs typeface="Verdana"/>
                <a:sym typeface="Verdana"/>
              </a:rPr>
              <a:t>good solvent</a:t>
            </a:r>
            <a:r>
              <a:rPr lang="en-GB" sz="1100" dirty="0">
                <a:highlight>
                  <a:srgbClr val="FFFFFF"/>
                </a:highlight>
                <a:latin typeface="Verdana"/>
                <a:ea typeface="Verdana"/>
                <a:cs typeface="Verdana"/>
                <a:sym typeface="Verdana"/>
              </a:rPr>
              <a:t> for other </a:t>
            </a:r>
            <a:r>
              <a:rPr lang="en-GB" sz="1100" b="1" dirty="0">
                <a:highlight>
                  <a:srgbClr val="FFFFFF"/>
                </a:highlight>
                <a:latin typeface="Verdana"/>
                <a:ea typeface="Verdana"/>
                <a:cs typeface="Verdana"/>
                <a:sym typeface="Verdana"/>
              </a:rPr>
              <a:t>polar</a:t>
            </a:r>
            <a:r>
              <a:rPr lang="en-GB" sz="1100" dirty="0">
                <a:highlight>
                  <a:srgbClr val="FFFFFF"/>
                </a:highlight>
                <a:latin typeface="Verdana"/>
                <a:ea typeface="Verdana"/>
                <a:cs typeface="Verdana"/>
                <a:sym typeface="Verdana"/>
              </a:rPr>
              <a:t> molecules since it can interact with the </a:t>
            </a:r>
            <a:r>
              <a:rPr lang="en-GB" sz="1100" b="1" dirty="0">
                <a:highlight>
                  <a:srgbClr val="FFFFFF"/>
                </a:highlight>
                <a:latin typeface="Verdana"/>
                <a:ea typeface="Verdana"/>
                <a:cs typeface="Verdana"/>
                <a:sym typeface="Verdana"/>
              </a:rPr>
              <a:t>charged regions</a:t>
            </a:r>
            <a:r>
              <a:rPr lang="en-GB" sz="1100" dirty="0">
                <a:highlight>
                  <a:srgbClr val="FFFFFF"/>
                </a:highlight>
                <a:latin typeface="Verdana"/>
                <a:ea typeface="Verdana"/>
                <a:cs typeface="Verdana"/>
                <a:sym typeface="Verdana"/>
              </a:rPr>
              <a:t> and </a:t>
            </a:r>
            <a:r>
              <a:rPr lang="en-GB" sz="1100" b="1" dirty="0">
                <a:highlight>
                  <a:srgbClr val="FFFFFF"/>
                </a:highlight>
                <a:latin typeface="Verdana"/>
                <a:ea typeface="Verdana"/>
                <a:cs typeface="Verdana"/>
                <a:sym typeface="Verdana"/>
              </a:rPr>
              <a:t>dissolve</a:t>
            </a:r>
            <a:r>
              <a:rPr lang="en-GB" sz="1100" dirty="0">
                <a:highlight>
                  <a:srgbClr val="FFFFFF"/>
                </a:highlight>
                <a:latin typeface="Verdana"/>
                <a:ea typeface="Verdana"/>
                <a:cs typeface="Verdana"/>
                <a:sym typeface="Verdana"/>
              </a:rPr>
              <a:t> the substance. It is also a good solvent for </a:t>
            </a:r>
            <a:r>
              <a:rPr lang="en-GB" sz="1100" b="1" dirty="0">
                <a:highlight>
                  <a:srgbClr val="FFFFFF"/>
                </a:highlight>
                <a:latin typeface="Verdana"/>
                <a:ea typeface="Verdana"/>
                <a:cs typeface="Verdana"/>
                <a:sym typeface="Verdana"/>
              </a:rPr>
              <a:t>ionic substances</a:t>
            </a:r>
            <a:r>
              <a:rPr lang="en-GB" sz="1100" dirty="0">
                <a:highlight>
                  <a:srgbClr val="FFFFFF"/>
                </a:highlight>
                <a:latin typeface="Verdana"/>
                <a:ea typeface="Verdana"/>
                <a:cs typeface="Verdana"/>
                <a:sym typeface="Verdana"/>
              </a:rPr>
              <a:t>, since the water molecules </a:t>
            </a:r>
            <a:r>
              <a:rPr lang="en-GB" sz="1100" b="1" dirty="0">
                <a:highlight>
                  <a:srgbClr val="FFFFFF"/>
                </a:highlight>
                <a:latin typeface="Verdana"/>
                <a:ea typeface="Verdana"/>
                <a:cs typeface="Verdana"/>
                <a:sym typeface="Verdana"/>
              </a:rPr>
              <a:t>cluster around the ions</a:t>
            </a:r>
            <a:r>
              <a:rPr lang="en-GB" sz="1100" dirty="0">
                <a:highlight>
                  <a:srgbClr val="FFFFFF"/>
                </a:highlight>
                <a:latin typeface="Verdana"/>
                <a:ea typeface="Verdana"/>
                <a:cs typeface="Verdana"/>
                <a:sym typeface="Verdana"/>
              </a:rPr>
              <a:t> and </a:t>
            </a:r>
            <a:r>
              <a:rPr lang="en-GB" sz="1100" b="1" dirty="0">
                <a:highlight>
                  <a:srgbClr val="FFFFFF"/>
                </a:highlight>
                <a:latin typeface="Verdana"/>
                <a:ea typeface="Verdana"/>
                <a:cs typeface="Verdana"/>
                <a:sym typeface="Verdana"/>
              </a:rPr>
              <a:t>separate</a:t>
            </a:r>
            <a:r>
              <a:rPr lang="en-GB" sz="1100" dirty="0">
                <a:highlight>
                  <a:srgbClr val="FFFFFF"/>
                </a:highlight>
                <a:latin typeface="Verdana"/>
                <a:ea typeface="Verdana"/>
                <a:cs typeface="Verdana"/>
                <a:sym typeface="Verdana"/>
              </a:rPr>
              <a:t> them, thus </a:t>
            </a:r>
            <a:r>
              <a:rPr lang="en-GB" sz="1100" b="1" dirty="0">
                <a:highlight>
                  <a:srgbClr val="FFFFFF"/>
                </a:highlight>
                <a:latin typeface="Verdana"/>
                <a:ea typeface="Verdana"/>
                <a:cs typeface="Verdana"/>
                <a:sym typeface="Verdana"/>
              </a:rPr>
              <a:t>dissolving</a:t>
            </a:r>
            <a:r>
              <a:rPr lang="en-GB" sz="1100" dirty="0">
                <a:highlight>
                  <a:srgbClr val="FFFFFF"/>
                </a:highlight>
                <a:latin typeface="Verdana"/>
                <a:ea typeface="Verdana"/>
                <a:cs typeface="Verdana"/>
                <a:sym typeface="Verdana"/>
              </a:rPr>
              <a:t> the substance. This property, along with the fact that water is </a:t>
            </a:r>
            <a:r>
              <a:rPr lang="en-GB" sz="1100" b="1" dirty="0">
                <a:highlight>
                  <a:srgbClr val="FFFFFF"/>
                </a:highlight>
                <a:latin typeface="Verdana"/>
                <a:ea typeface="Verdana"/>
                <a:cs typeface="Verdana"/>
                <a:sym typeface="Verdana"/>
              </a:rPr>
              <a:t>liquid over a wide range of temperatures</a:t>
            </a:r>
            <a:r>
              <a:rPr lang="en-GB" sz="1100" dirty="0">
                <a:highlight>
                  <a:srgbClr val="FFFFFF"/>
                </a:highlight>
                <a:latin typeface="Verdana"/>
                <a:ea typeface="Verdana"/>
                <a:cs typeface="Verdana"/>
                <a:sym typeface="Verdana"/>
              </a:rPr>
              <a:t>, makes it ideal for acting as a medium in which </a:t>
            </a:r>
            <a:r>
              <a:rPr lang="en-GB" sz="1100" b="1" dirty="0">
                <a:highlight>
                  <a:srgbClr val="FFFFFF"/>
                </a:highlight>
                <a:latin typeface="Verdana"/>
                <a:ea typeface="Verdana"/>
                <a:cs typeface="Verdana"/>
                <a:sym typeface="Verdana"/>
              </a:rPr>
              <a:t>metabolic reactions</a:t>
            </a:r>
            <a:r>
              <a:rPr lang="en-GB" sz="1100" dirty="0">
                <a:highlight>
                  <a:srgbClr val="FFFFFF"/>
                </a:highlight>
                <a:latin typeface="Verdana"/>
                <a:ea typeface="Verdana"/>
                <a:cs typeface="Verdana"/>
                <a:sym typeface="Verdana"/>
              </a:rPr>
              <a:t> can occur, and also as a </a:t>
            </a:r>
            <a:r>
              <a:rPr lang="en-GB" sz="1100" b="1" dirty="0">
                <a:highlight>
                  <a:srgbClr val="FFFFFF"/>
                </a:highlight>
                <a:latin typeface="Verdana"/>
                <a:ea typeface="Verdana"/>
                <a:cs typeface="Verdana"/>
                <a:sym typeface="Verdana"/>
              </a:rPr>
              <a:t>transport</a:t>
            </a:r>
            <a:r>
              <a:rPr lang="en-GB" sz="1100" dirty="0">
                <a:highlight>
                  <a:srgbClr val="FFFFFF"/>
                </a:highlight>
                <a:latin typeface="Verdana"/>
                <a:ea typeface="Verdana"/>
                <a:cs typeface="Verdana"/>
                <a:sym typeface="Verdana"/>
              </a:rPr>
              <a:t> vehicle.</a:t>
            </a:r>
          </a:p>
          <a:p>
            <a:pPr marL="0" marR="0" lvl="0" indent="0" algn="l" rtl="0">
              <a:lnSpc>
                <a:spcPct val="100000"/>
              </a:lnSpc>
              <a:spcBef>
                <a:spcPts val="0"/>
              </a:spcBef>
              <a:spcAft>
                <a:spcPts val="0"/>
              </a:spcAft>
              <a:buClr>
                <a:schemeClr val="dk1"/>
              </a:buClr>
              <a:buSzPts val="1200"/>
              <a:buFont typeface="Calibri"/>
              <a:buNone/>
            </a:pPr>
            <a:r>
              <a:rPr lang="en-GB" sz="1100" dirty="0">
                <a:highlight>
                  <a:srgbClr val="FFFFFF"/>
                </a:highlight>
                <a:latin typeface="Verdana"/>
                <a:ea typeface="Verdana"/>
                <a:cs typeface="Verdana"/>
                <a:sym typeface="Verdana"/>
              </a:rPr>
              <a:t>Water also takes part in some </a:t>
            </a:r>
            <a:r>
              <a:rPr lang="en-GB" sz="1100" b="1" dirty="0">
                <a:highlight>
                  <a:srgbClr val="FFFFFF"/>
                </a:highlight>
                <a:latin typeface="Verdana"/>
                <a:ea typeface="Verdana"/>
                <a:cs typeface="Verdana"/>
                <a:sym typeface="Verdana"/>
              </a:rPr>
              <a:t>metabolic reactions</a:t>
            </a:r>
            <a:r>
              <a:rPr lang="en-GB" sz="1100" dirty="0">
                <a:highlight>
                  <a:srgbClr val="FFFFFF"/>
                </a:highlight>
                <a:latin typeface="Verdana"/>
                <a:ea typeface="Verdana"/>
                <a:cs typeface="Verdana"/>
                <a:sym typeface="Verdana"/>
              </a:rPr>
              <a:t>, </a:t>
            </a:r>
            <a:r>
              <a:rPr lang="en-GB" sz="1100" i="1" dirty="0">
                <a:highlight>
                  <a:srgbClr val="FFFFFF"/>
                </a:highlight>
                <a:latin typeface="Verdana"/>
                <a:ea typeface="Verdana"/>
                <a:cs typeface="Verdana"/>
                <a:sym typeface="Verdana"/>
              </a:rPr>
              <a:t>for example, in</a:t>
            </a:r>
            <a:r>
              <a:rPr lang="en-GB" sz="1100" dirty="0">
                <a:highlight>
                  <a:srgbClr val="FFFFFF"/>
                </a:highlight>
                <a:latin typeface="Verdana"/>
                <a:ea typeface="Verdana"/>
                <a:cs typeface="Verdana"/>
                <a:sym typeface="Verdana"/>
              </a:rPr>
              <a:t> </a:t>
            </a:r>
            <a:r>
              <a:rPr lang="en-GB" sz="1100" b="1" i="1" dirty="0">
                <a:highlight>
                  <a:srgbClr val="FFFFFF"/>
                </a:highlight>
                <a:latin typeface="Verdana"/>
                <a:ea typeface="Verdana"/>
                <a:cs typeface="Verdana"/>
                <a:sym typeface="Verdana"/>
              </a:rPr>
              <a:t>Hydrolysis</a:t>
            </a:r>
            <a:r>
              <a:rPr lang="en-GB" sz="1100" dirty="0">
                <a:highlight>
                  <a:srgbClr val="FFFFFF"/>
                </a:highlight>
                <a:latin typeface="Verdana"/>
                <a:ea typeface="Verdana"/>
                <a:cs typeface="Verdana"/>
                <a:sym typeface="Verdana"/>
              </a:rPr>
              <a:t> </a:t>
            </a:r>
            <a:r>
              <a:rPr lang="en-GB" sz="1100" i="1" dirty="0">
                <a:highlight>
                  <a:srgbClr val="FFFFFF"/>
                </a:highlight>
                <a:latin typeface="Verdana"/>
                <a:ea typeface="Verdana"/>
                <a:cs typeface="Verdana"/>
                <a:sym typeface="Verdana"/>
              </a:rPr>
              <a:t>and</a:t>
            </a:r>
            <a:r>
              <a:rPr lang="en-GB" sz="1100" dirty="0">
                <a:highlight>
                  <a:srgbClr val="FFFFFF"/>
                </a:highlight>
                <a:latin typeface="Verdana"/>
                <a:ea typeface="Verdana"/>
                <a:cs typeface="Verdana"/>
                <a:sym typeface="Verdana"/>
              </a:rPr>
              <a:t> </a:t>
            </a:r>
            <a:r>
              <a:rPr lang="en-GB" sz="1100" b="1" i="1" dirty="0">
                <a:highlight>
                  <a:srgbClr val="FFFFFF"/>
                </a:highlight>
                <a:latin typeface="Verdana"/>
                <a:ea typeface="Verdana"/>
                <a:cs typeface="Verdana"/>
                <a:sym typeface="Verdana"/>
              </a:rPr>
              <a:t>Condensation</a:t>
            </a:r>
            <a:r>
              <a:rPr lang="en-GB" sz="1100" dirty="0">
                <a:highlight>
                  <a:srgbClr val="FFFFFF"/>
                </a:highlight>
                <a:latin typeface="Verdana"/>
                <a:ea typeface="Verdana"/>
                <a:cs typeface="Verdana"/>
                <a:sym typeface="Verdana"/>
              </a:rPr>
              <a:t> </a:t>
            </a:r>
            <a:r>
              <a:rPr lang="en-GB" sz="1100" i="1" dirty="0">
                <a:highlight>
                  <a:srgbClr val="FFFFFF"/>
                </a:highlight>
                <a:latin typeface="Verdana"/>
                <a:ea typeface="Verdana"/>
                <a:cs typeface="Verdana"/>
                <a:sym typeface="Verdana"/>
              </a:rPr>
              <a:t>reactions.</a:t>
            </a:r>
            <a:endParaRPr lang="en-GB" sz="1100" dirty="0">
              <a:highlight>
                <a:srgbClr val="FFFFFF"/>
              </a:highlight>
              <a:latin typeface="Verdana"/>
              <a:ea typeface="Verdana"/>
              <a:cs typeface="Verdana"/>
              <a:sym typeface="Verdana"/>
            </a:endParaRPr>
          </a:p>
          <a:p>
            <a:pPr algn="just"/>
            <a:r>
              <a:rPr lang="en-US" sz="1200" dirty="0">
                <a:solidFill>
                  <a:schemeClr val="accent5">
                    <a:lumMod val="50000"/>
                  </a:schemeClr>
                </a:solidFill>
              </a:rPr>
              <a:t>Polar molecules also dissolve easily in water. </a:t>
            </a:r>
          </a:p>
          <a:p>
            <a:pPr algn="just"/>
            <a:r>
              <a:rPr lang="en-US" sz="1200" dirty="0">
                <a:solidFill>
                  <a:schemeClr val="accent5">
                    <a:lumMod val="50000"/>
                  </a:schemeClr>
                </a:solidFill>
              </a:rPr>
              <a:t>Their polar groups, for example the –OH group in sugars or the amine group, –NH2, in amino acids, become surrounded by water and go into solution. </a:t>
            </a:r>
          </a:p>
          <a:p>
            <a:pPr algn="just"/>
            <a:r>
              <a:rPr lang="en-US" sz="1200" dirty="0">
                <a:solidFill>
                  <a:schemeClr val="accent5">
                    <a:lumMod val="50000"/>
                  </a:schemeClr>
                </a:solidFill>
              </a:rPr>
              <a:t>Such polar substances are said to be </a:t>
            </a:r>
            <a:r>
              <a:rPr lang="en-US" sz="1200" b="1" dirty="0">
                <a:solidFill>
                  <a:srgbClr val="FF0000"/>
                </a:solidFill>
              </a:rPr>
              <a:t>hydrophilic</a:t>
            </a:r>
            <a:r>
              <a:rPr lang="en-US" sz="1200" dirty="0">
                <a:solidFill>
                  <a:schemeClr val="accent5">
                    <a:lumMod val="50000"/>
                  </a:schemeClr>
                </a:solidFill>
              </a:rPr>
              <a:t> – ‘water-loving’. </a:t>
            </a:r>
          </a:p>
          <a:p>
            <a:pPr algn="just"/>
            <a:r>
              <a:rPr lang="en-US" sz="1200" dirty="0">
                <a:solidFill>
                  <a:schemeClr val="accent5">
                    <a:lumMod val="50000"/>
                  </a:schemeClr>
                </a:solidFill>
              </a:rPr>
              <a:t>Non-polar, </a:t>
            </a:r>
            <a:r>
              <a:rPr lang="en-US" sz="1200" b="1" dirty="0">
                <a:solidFill>
                  <a:srgbClr val="FF0000"/>
                </a:solidFill>
              </a:rPr>
              <a:t>hydrophobic</a:t>
            </a:r>
            <a:r>
              <a:rPr lang="en-US" sz="1200" dirty="0">
                <a:solidFill>
                  <a:schemeClr val="accent5">
                    <a:lumMod val="50000"/>
                  </a:schemeClr>
                </a:solidFill>
              </a:rPr>
              <a:t> substances, such as lipids, do not dissolve in water. To enable transport in blood, lipids combine with proteins to form lipoproteins.</a:t>
            </a:r>
          </a:p>
          <a:p>
            <a:endParaRPr lang="en-MY"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27F0163-36E5-4E5E-AF9B-A034E52030B0}" type="slidenum">
              <a:rPr kumimoji="0" lang="en-MY"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MY"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546128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dirty="0">
                <a:solidFill>
                  <a:schemeClr val="dk1"/>
                </a:solidFill>
                <a:latin typeface="Calibri"/>
                <a:ea typeface="Calibri"/>
                <a:cs typeface="Calibri"/>
                <a:sym typeface="Calibri"/>
              </a:rPr>
              <a:t>Water is regarded as the ‘general solvent’ or ‘universal solvent’ due to the polarity of its molecules.</a:t>
            </a:r>
            <a:br>
              <a:rPr lang="en-US" sz="1200" b="0" i="0" dirty="0">
                <a:solidFill>
                  <a:schemeClr val="dk1"/>
                </a:solidFill>
                <a:latin typeface="Calibri"/>
                <a:ea typeface="Calibri"/>
                <a:cs typeface="Calibri"/>
                <a:sym typeface="Calibri"/>
              </a:rPr>
            </a:br>
            <a:r>
              <a:rPr lang="en-US" sz="1200" b="0" i="0" dirty="0">
                <a:solidFill>
                  <a:schemeClr val="dk1"/>
                </a:solidFill>
                <a:latin typeface="Calibri"/>
                <a:ea typeface="Calibri"/>
                <a:cs typeface="Calibri"/>
                <a:sym typeface="Calibri"/>
              </a:rPr>
              <a:t>All the essential substances for living organisms (vitamins, salts, amino acids, gases, and glucose) transport inside their bodies in the form of solutes dissolved in water. These substances take part in metabolic reactions inside the cells.</a:t>
            </a:r>
            <a:endParaRPr dirty="0"/>
          </a:p>
          <a:p>
            <a:pPr marL="0" marR="0" lvl="0" indent="0" algn="l" rtl="0">
              <a:lnSpc>
                <a:spcPct val="100000"/>
              </a:lnSpc>
              <a:spcBef>
                <a:spcPts val="0"/>
              </a:spcBef>
              <a:spcAft>
                <a:spcPts val="0"/>
              </a:spcAft>
              <a:buClr>
                <a:schemeClr val="dk1"/>
              </a:buClr>
              <a:buSzPts val="1200"/>
              <a:buFont typeface="Calibri"/>
              <a:buNone/>
            </a:pPr>
            <a:r>
              <a:rPr lang="en-US" sz="1200" dirty="0"/>
              <a:t>Water also carries substances such as starch  as a result, most of the chemical reaction within cells occur in water (in aqueous solution). Water is an excellent transport medium because the dipole nature of water enables many different substances to dissolve in it.</a:t>
            </a:r>
            <a:endParaRPr sz="1200" dirty="0"/>
          </a:p>
          <a:p>
            <a:pPr marL="0" marR="0" lvl="0" indent="0" algn="l" rtl="0">
              <a:lnSpc>
                <a:spcPct val="100000"/>
              </a:lnSpc>
              <a:spcBef>
                <a:spcPts val="0"/>
              </a:spcBef>
              <a:spcAft>
                <a:spcPts val="0"/>
              </a:spcAft>
              <a:buClr>
                <a:schemeClr val="dk1"/>
              </a:buClr>
              <a:buSzPts val="1200"/>
              <a:buFont typeface="Calibri"/>
              <a:buNone/>
            </a:pPr>
            <a:r>
              <a:rPr lang="en-US" sz="1100" dirty="0">
                <a:highlight>
                  <a:srgbClr val="FFFFFF"/>
                </a:highlight>
                <a:latin typeface="Verdana"/>
                <a:ea typeface="Verdana"/>
                <a:cs typeface="Verdana"/>
                <a:sym typeface="Verdana"/>
              </a:rPr>
              <a:t>Water is </a:t>
            </a:r>
            <a:r>
              <a:rPr lang="en-US" sz="1100" b="1" dirty="0">
                <a:highlight>
                  <a:srgbClr val="FFFFFF"/>
                </a:highlight>
                <a:latin typeface="Verdana"/>
                <a:ea typeface="Verdana"/>
                <a:cs typeface="Verdana"/>
                <a:sym typeface="Verdana"/>
              </a:rPr>
              <a:t>good solvent</a:t>
            </a:r>
            <a:r>
              <a:rPr lang="en-US" sz="1100" dirty="0">
                <a:highlight>
                  <a:srgbClr val="FFFFFF"/>
                </a:highlight>
                <a:latin typeface="Verdana"/>
                <a:ea typeface="Verdana"/>
                <a:cs typeface="Verdana"/>
                <a:sym typeface="Verdana"/>
              </a:rPr>
              <a:t> for other </a:t>
            </a:r>
            <a:r>
              <a:rPr lang="en-US" sz="1100" b="1" dirty="0">
                <a:highlight>
                  <a:srgbClr val="FFFFFF"/>
                </a:highlight>
                <a:latin typeface="Verdana"/>
                <a:ea typeface="Verdana"/>
                <a:cs typeface="Verdana"/>
                <a:sym typeface="Verdana"/>
              </a:rPr>
              <a:t>polar</a:t>
            </a:r>
            <a:r>
              <a:rPr lang="en-US" sz="1100" dirty="0">
                <a:highlight>
                  <a:srgbClr val="FFFFFF"/>
                </a:highlight>
                <a:latin typeface="Verdana"/>
                <a:ea typeface="Verdana"/>
                <a:cs typeface="Verdana"/>
                <a:sym typeface="Verdana"/>
              </a:rPr>
              <a:t> molecules since it can interact with the </a:t>
            </a:r>
            <a:r>
              <a:rPr lang="en-US" sz="1100" b="1" dirty="0">
                <a:highlight>
                  <a:srgbClr val="FFFFFF"/>
                </a:highlight>
                <a:latin typeface="Verdana"/>
                <a:ea typeface="Verdana"/>
                <a:cs typeface="Verdana"/>
                <a:sym typeface="Verdana"/>
              </a:rPr>
              <a:t>charged regions</a:t>
            </a:r>
            <a:r>
              <a:rPr lang="en-US" sz="1100" dirty="0">
                <a:highlight>
                  <a:srgbClr val="FFFFFF"/>
                </a:highlight>
                <a:latin typeface="Verdana"/>
                <a:ea typeface="Verdana"/>
                <a:cs typeface="Verdana"/>
                <a:sym typeface="Verdana"/>
              </a:rPr>
              <a:t> and </a:t>
            </a:r>
            <a:r>
              <a:rPr lang="en-US" sz="1100" b="1" dirty="0">
                <a:highlight>
                  <a:srgbClr val="FFFFFF"/>
                </a:highlight>
                <a:latin typeface="Verdana"/>
                <a:ea typeface="Verdana"/>
                <a:cs typeface="Verdana"/>
                <a:sym typeface="Verdana"/>
              </a:rPr>
              <a:t>dissolve</a:t>
            </a:r>
            <a:r>
              <a:rPr lang="en-US" sz="1100" dirty="0">
                <a:highlight>
                  <a:srgbClr val="FFFFFF"/>
                </a:highlight>
                <a:latin typeface="Verdana"/>
                <a:ea typeface="Verdana"/>
                <a:cs typeface="Verdana"/>
                <a:sym typeface="Verdana"/>
              </a:rPr>
              <a:t> the substance. It is also a good solvent for </a:t>
            </a:r>
            <a:r>
              <a:rPr lang="en-US" sz="1100" b="1" dirty="0">
                <a:highlight>
                  <a:srgbClr val="FFFFFF"/>
                </a:highlight>
                <a:latin typeface="Verdana"/>
                <a:ea typeface="Verdana"/>
                <a:cs typeface="Verdana"/>
                <a:sym typeface="Verdana"/>
              </a:rPr>
              <a:t>ionic substances</a:t>
            </a:r>
            <a:r>
              <a:rPr lang="en-US" sz="1100" dirty="0">
                <a:highlight>
                  <a:srgbClr val="FFFFFF"/>
                </a:highlight>
                <a:latin typeface="Verdana"/>
                <a:ea typeface="Verdana"/>
                <a:cs typeface="Verdana"/>
                <a:sym typeface="Verdana"/>
              </a:rPr>
              <a:t>, since the water molecules </a:t>
            </a:r>
            <a:r>
              <a:rPr lang="en-US" sz="1100" b="1" dirty="0">
                <a:highlight>
                  <a:srgbClr val="FFFFFF"/>
                </a:highlight>
                <a:latin typeface="Verdana"/>
                <a:ea typeface="Verdana"/>
                <a:cs typeface="Verdana"/>
                <a:sym typeface="Verdana"/>
              </a:rPr>
              <a:t>cluster around the ions</a:t>
            </a:r>
            <a:r>
              <a:rPr lang="en-US" sz="1100" dirty="0">
                <a:highlight>
                  <a:srgbClr val="FFFFFF"/>
                </a:highlight>
                <a:latin typeface="Verdana"/>
                <a:ea typeface="Verdana"/>
                <a:cs typeface="Verdana"/>
                <a:sym typeface="Verdana"/>
              </a:rPr>
              <a:t> and </a:t>
            </a:r>
            <a:r>
              <a:rPr lang="en-US" sz="1100" b="1" dirty="0">
                <a:highlight>
                  <a:srgbClr val="FFFFFF"/>
                </a:highlight>
                <a:latin typeface="Verdana"/>
                <a:ea typeface="Verdana"/>
                <a:cs typeface="Verdana"/>
                <a:sym typeface="Verdana"/>
              </a:rPr>
              <a:t>separate</a:t>
            </a:r>
            <a:r>
              <a:rPr lang="en-US" sz="1100" dirty="0">
                <a:highlight>
                  <a:srgbClr val="FFFFFF"/>
                </a:highlight>
                <a:latin typeface="Verdana"/>
                <a:ea typeface="Verdana"/>
                <a:cs typeface="Verdana"/>
                <a:sym typeface="Verdana"/>
              </a:rPr>
              <a:t> them, thus </a:t>
            </a:r>
            <a:r>
              <a:rPr lang="en-US" sz="1100" b="1" dirty="0">
                <a:highlight>
                  <a:srgbClr val="FFFFFF"/>
                </a:highlight>
                <a:latin typeface="Verdana"/>
                <a:ea typeface="Verdana"/>
                <a:cs typeface="Verdana"/>
                <a:sym typeface="Verdana"/>
              </a:rPr>
              <a:t>dissolving</a:t>
            </a:r>
            <a:r>
              <a:rPr lang="en-US" sz="1100" dirty="0">
                <a:highlight>
                  <a:srgbClr val="FFFFFF"/>
                </a:highlight>
                <a:latin typeface="Verdana"/>
                <a:ea typeface="Verdana"/>
                <a:cs typeface="Verdana"/>
                <a:sym typeface="Verdana"/>
              </a:rPr>
              <a:t> the substance. This property, along with the fact that water is </a:t>
            </a:r>
            <a:r>
              <a:rPr lang="en-US" sz="1100" b="1" dirty="0">
                <a:highlight>
                  <a:srgbClr val="FFFFFF"/>
                </a:highlight>
                <a:latin typeface="Verdana"/>
                <a:ea typeface="Verdana"/>
                <a:cs typeface="Verdana"/>
                <a:sym typeface="Verdana"/>
              </a:rPr>
              <a:t>liquid over a wide range of temperatures</a:t>
            </a:r>
            <a:r>
              <a:rPr lang="en-US" sz="1100" dirty="0">
                <a:highlight>
                  <a:srgbClr val="FFFFFF"/>
                </a:highlight>
                <a:latin typeface="Verdana"/>
                <a:ea typeface="Verdana"/>
                <a:cs typeface="Verdana"/>
                <a:sym typeface="Verdana"/>
              </a:rPr>
              <a:t>, makes it ideal for acting as a medium in which </a:t>
            </a:r>
            <a:r>
              <a:rPr lang="en-US" sz="1100" b="1" dirty="0">
                <a:highlight>
                  <a:srgbClr val="FFFFFF"/>
                </a:highlight>
                <a:latin typeface="Verdana"/>
                <a:ea typeface="Verdana"/>
                <a:cs typeface="Verdana"/>
                <a:sym typeface="Verdana"/>
              </a:rPr>
              <a:t>metabolic reactions</a:t>
            </a:r>
            <a:r>
              <a:rPr lang="en-US" sz="1100" dirty="0">
                <a:highlight>
                  <a:srgbClr val="FFFFFF"/>
                </a:highlight>
                <a:latin typeface="Verdana"/>
                <a:ea typeface="Verdana"/>
                <a:cs typeface="Verdana"/>
                <a:sym typeface="Verdana"/>
              </a:rPr>
              <a:t> can occur, and also as a </a:t>
            </a:r>
            <a:r>
              <a:rPr lang="en-US" sz="1100" b="1" dirty="0">
                <a:highlight>
                  <a:srgbClr val="FFFFFF"/>
                </a:highlight>
                <a:latin typeface="Verdana"/>
                <a:ea typeface="Verdana"/>
                <a:cs typeface="Verdana"/>
                <a:sym typeface="Verdana"/>
              </a:rPr>
              <a:t>transport</a:t>
            </a:r>
            <a:r>
              <a:rPr lang="en-US" sz="1100" dirty="0">
                <a:highlight>
                  <a:srgbClr val="FFFFFF"/>
                </a:highlight>
                <a:latin typeface="Verdana"/>
                <a:ea typeface="Verdana"/>
                <a:cs typeface="Verdana"/>
                <a:sym typeface="Verdana"/>
              </a:rPr>
              <a:t> vehicle.</a:t>
            </a:r>
            <a:endParaRPr sz="1100" dirty="0">
              <a:highlight>
                <a:srgbClr val="FFFFFF"/>
              </a:highlight>
              <a:latin typeface="Verdana"/>
              <a:ea typeface="Verdana"/>
              <a:cs typeface="Verdana"/>
              <a:sym typeface="Verdana"/>
            </a:endParaRPr>
          </a:p>
          <a:p>
            <a:pPr marL="0" marR="0" lvl="0" indent="0" algn="l" rtl="0">
              <a:lnSpc>
                <a:spcPct val="100000"/>
              </a:lnSpc>
              <a:spcBef>
                <a:spcPts val="0"/>
              </a:spcBef>
              <a:spcAft>
                <a:spcPts val="0"/>
              </a:spcAft>
              <a:buClr>
                <a:schemeClr val="dk1"/>
              </a:buClr>
              <a:buSzPts val="1200"/>
              <a:buFont typeface="Calibri"/>
              <a:buNone/>
            </a:pPr>
            <a:r>
              <a:rPr lang="en-US" sz="1100" dirty="0">
                <a:highlight>
                  <a:srgbClr val="FFFFFF"/>
                </a:highlight>
                <a:latin typeface="Verdana"/>
                <a:ea typeface="Verdana"/>
                <a:cs typeface="Verdana"/>
                <a:sym typeface="Verdana"/>
              </a:rPr>
              <a:t>Water also takes part in some </a:t>
            </a:r>
            <a:r>
              <a:rPr lang="en-US" sz="1100" b="1" dirty="0">
                <a:highlight>
                  <a:srgbClr val="FFFFFF"/>
                </a:highlight>
                <a:latin typeface="Verdana"/>
                <a:ea typeface="Verdana"/>
                <a:cs typeface="Verdana"/>
                <a:sym typeface="Verdana"/>
              </a:rPr>
              <a:t>metabolic reactions</a:t>
            </a:r>
            <a:r>
              <a:rPr lang="en-US" sz="1100" dirty="0">
                <a:highlight>
                  <a:srgbClr val="FFFFFF"/>
                </a:highlight>
                <a:latin typeface="Verdana"/>
                <a:ea typeface="Verdana"/>
                <a:cs typeface="Verdana"/>
                <a:sym typeface="Verdana"/>
              </a:rPr>
              <a:t>, </a:t>
            </a:r>
            <a:r>
              <a:rPr lang="en-US" sz="1100" i="1" dirty="0">
                <a:highlight>
                  <a:srgbClr val="FFFFFF"/>
                </a:highlight>
                <a:latin typeface="Verdana"/>
                <a:ea typeface="Verdana"/>
                <a:cs typeface="Verdana"/>
                <a:sym typeface="Verdana"/>
              </a:rPr>
              <a:t>for example, in</a:t>
            </a:r>
            <a:r>
              <a:rPr lang="en-US" sz="1100" dirty="0">
                <a:highlight>
                  <a:srgbClr val="FFFFFF"/>
                </a:highlight>
                <a:latin typeface="Verdana"/>
                <a:ea typeface="Verdana"/>
                <a:cs typeface="Verdana"/>
                <a:sym typeface="Verdana"/>
              </a:rPr>
              <a:t> </a:t>
            </a:r>
            <a:r>
              <a:rPr lang="en-US" sz="1100" b="1" i="1" dirty="0">
                <a:highlight>
                  <a:srgbClr val="FFFFFF"/>
                </a:highlight>
                <a:latin typeface="Verdana"/>
                <a:ea typeface="Verdana"/>
                <a:cs typeface="Verdana"/>
                <a:sym typeface="Verdana"/>
              </a:rPr>
              <a:t>Hydrolysis</a:t>
            </a:r>
            <a:r>
              <a:rPr lang="en-US" sz="1100" dirty="0">
                <a:highlight>
                  <a:srgbClr val="FFFFFF"/>
                </a:highlight>
                <a:latin typeface="Verdana"/>
                <a:ea typeface="Verdana"/>
                <a:cs typeface="Verdana"/>
                <a:sym typeface="Verdana"/>
              </a:rPr>
              <a:t> </a:t>
            </a:r>
            <a:r>
              <a:rPr lang="en-US" sz="1100" i="1" dirty="0">
                <a:highlight>
                  <a:srgbClr val="FFFFFF"/>
                </a:highlight>
                <a:latin typeface="Verdana"/>
                <a:ea typeface="Verdana"/>
                <a:cs typeface="Verdana"/>
                <a:sym typeface="Verdana"/>
              </a:rPr>
              <a:t>and</a:t>
            </a:r>
            <a:r>
              <a:rPr lang="en-US" sz="1100" dirty="0">
                <a:highlight>
                  <a:srgbClr val="FFFFFF"/>
                </a:highlight>
                <a:latin typeface="Verdana"/>
                <a:ea typeface="Verdana"/>
                <a:cs typeface="Verdana"/>
                <a:sym typeface="Verdana"/>
              </a:rPr>
              <a:t> </a:t>
            </a:r>
            <a:r>
              <a:rPr lang="en-US" sz="1100" b="1" i="1" dirty="0">
                <a:highlight>
                  <a:srgbClr val="FFFFFF"/>
                </a:highlight>
                <a:latin typeface="Verdana"/>
                <a:ea typeface="Verdana"/>
                <a:cs typeface="Verdana"/>
                <a:sym typeface="Verdana"/>
              </a:rPr>
              <a:t>Condensation</a:t>
            </a:r>
            <a:r>
              <a:rPr lang="en-US" sz="1100" dirty="0">
                <a:highlight>
                  <a:srgbClr val="FFFFFF"/>
                </a:highlight>
                <a:latin typeface="Verdana"/>
                <a:ea typeface="Verdana"/>
                <a:cs typeface="Verdana"/>
                <a:sym typeface="Verdana"/>
              </a:rPr>
              <a:t> </a:t>
            </a:r>
            <a:r>
              <a:rPr lang="en-US" sz="1100" i="1" dirty="0">
                <a:highlight>
                  <a:srgbClr val="FFFFFF"/>
                </a:highlight>
                <a:latin typeface="Verdana"/>
                <a:ea typeface="Verdana"/>
                <a:cs typeface="Verdana"/>
                <a:sym typeface="Verdana"/>
              </a:rPr>
              <a:t>reactions.</a:t>
            </a:r>
            <a:endParaRPr sz="1100" dirty="0">
              <a:highlight>
                <a:srgbClr val="FFFFFF"/>
              </a:highlight>
              <a:latin typeface="Verdana"/>
              <a:ea typeface="Verdana"/>
              <a:cs typeface="Verdana"/>
              <a:sym typeface="Verdana"/>
            </a:endParaRPr>
          </a:p>
          <a:p>
            <a:pPr marL="0" lvl="0" indent="0" algn="l" rtl="0">
              <a:spcBef>
                <a:spcPts val="0"/>
              </a:spcBef>
              <a:spcAft>
                <a:spcPts val="0"/>
              </a:spcAft>
              <a:buNone/>
            </a:pPr>
            <a:endParaRPr dirty="0"/>
          </a:p>
        </p:txBody>
      </p:sp>
      <p:sp>
        <p:nvSpPr>
          <p:cNvPr id="183" name="Google Shape;183;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29281261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a:extLst>
            <a:ext uri="{FF2B5EF4-FFF2-40B4-BE49-F238E27FC236}">
              <a16:creationId xmlns:a16="http://schemas.microsoft.com/office/drawing/2014/main" id="{2E3DD8F4-5660-E228-B8FE-6FBED65442F3}"/>
            </a:ext>
          </a:extLst>
        </p:cNvPr>
        <p:cNvGrpSpPr/>
        <p:nvPr/>
      </p:nvGrpSpPr>
      <p:grpSpPr>
        <a:xfrm>
          <a:off x="0" y="0"/>
          <a:ext cx="0" cy="0"/>
          <a:chOff x="0" y="0"/>
          <a:chExt cx="0" cy="0"/>
        </a:xfrm>
      </p:grpSpPr>
      <p:sp>
        <p:nvSpPr>
          <p:cNvPr id="181" name="Google Shape;181;p11:notes">
            <a:extLst>
              <a:ext uri="{FF2B5EF4-FFF2-40B4-BE49-F238E27FC236}">
                <a16:creationId xmlns:a16="http://schemas.microsoft.com/office/drawing/2014/main" id="{5B240926-2004-8F36-AC87-AC5EAC356C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11:notes">
            <a:extLst>
              <a:ext uri="{FF2B5EF4-FFF2-40B4-BE49-F238E27FC236}">
                <a16:creationId xmlns:a16="http://schemas.microsoft.com/office/drawing/2014/main" id="{E27325AC-9BAB-8B63-80D7-3DC2A58CDA9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dirty="0">
                <a:solidFill>
                  <a:schemeClr val="dk1"/>
                </a:solidFill>
                <a:latin typeface="Calibri"/>
                <a:ea typeface="Calibri"/>
                <a:cs typeface="Calibri"/>
                <a:sym typeface="Calibri"/>
              </a:rPr>
              <a:t>Water is regarded as the ‘general solvent’ or ‘universal solvent’ due to the polarity of its molecules.</a:t>
            </a:r>
            <a:br>
              <a:rPr lang="en-US" sz="1200" b="0" i="0" dirty="0">
                <a:solidFill>
                  <a:schemeClr val="dk1"/>
                </a:solidFill>
                <a:latin typeface="Calibri"/>
                <a:ea typeface="Calibri"/>
                <a:cs typeface="Calibri"/>
                <a:sym typeface="Calibri"/>
              </a:rPr>
            </a:br>
            <a:r>
              <a:rPr lang="en-US" sz="1200" b="0" i="0" dirty="0">
                <a:solidFill>
                  <a:schemeClr val="dk1"/>
                </a:solidFill>
                <a:latin typeface="Calibri"/>
                <a:ea typeface="Calibri"/>
                <a:cs typeface="Calibri"/>
                <a:sym typeface="Calibri"/>
              </a:rPr>
              <a:t>All the essential substances for living organisms (vitamins, salts, amino acids, gases, and glucose) transport inside their bodies in the form of solutes dissolved in water. These substances take part in metabolic reactions inside the cells.</a:t>
            </a:r>
            <a:endParaRPr dirty="0"/>
          </a:p>
          <a:p>
            <a:pPr marL="0" marR="0" lvl="0" indent="0" algn="l" rtl="0">
              <a:lnSpc>
                <a:spcPct val="100000"/>
              </a:lnSpc>
              <a:spcBef>
                <a:spcPts val="0"/>
              </a:spcBef>
              <a:spcAft>
                <a:spcPts val="0"/>
              </a:spcAft>
              <a:buClr>
                <a:schemeClr val="dk1"/>
              </a:buClr>
              <a:buSzPts val="1200"/>
              <a:buFont typeface="Calibri"/>
              <a:buNone/>
            </a:pPr>
            <a:r>
              <a:rPr lang="en-US" sz="1200" dirty="0"/>
              <a:t>Water also carries substances such as starch  as a result, most of the chemical reaction within cells occur in water (in aqueous solution). Water is an excellent transport medium because the dipole nature of water enables many different substances to dissolve in it.</a:t>
            </a:r>
            <a:endParaRPr sz="1200" dirty="0"/>
          </a:p>
          <a:p>
            <a:pPr marL="0" marR="0" lvl="0" indent="0" algn="l" rtl="0">
              <a:lnSpc>
                <a:spcPct val="100000"/>
              </a:lnSpc>
              <a:spcBef>
                <a:spcPts val="0"/>
              </a:spcBef>
              <a:spcAft>
                <a:spcPts val="0"/>
              </a:spcAft>
              <a:buClr>
                <a:schemeClr val="dk1"/>
              </a:buClr>
              <a:buSzPts val="1200"/>
              <a:buFont typeface="Calibri"/>
              <a:buNone/>
            </a:pPr>
            <a:r>
              <a:rPr lang="en-US" sz="1100" dirty="0">
                <a:highlight>
                  <a:srgbClr val="FFFFFF"/>
                </a:highlight>
                <a:latin typeface="Verdana"/>
                <a:ea typeface="Verdana"/>
                <a:cs typeface="Verdana"/>
                <a:sym typeface="Verdana"/>
              </a:rPr>
              <a:t>Water is </a:t>
            </a:r>
            <a:r>
              <a:rPr lang="en-US" sz="1100" b="1" dirty="0">
                <a:highlight>
                  <a:srgbClr val="FFFFFF"/>
                </a:highlight>
                <a:latin typeface="Verdana"/>
                <a:ea typeface="Verdana"/>
                <a:cs typeface="Verdana"/>
                <a:sym typeface="Verdana"/>
              </a:rPr>
              <a:t>good solvent</a:t>
            </a:r>
            <a:r>
              <a:rPr lang="en-US" sz="1100" dirty="0">
                <a:highlight>
                  <a:srgbClr val="FFFFFF"/>
                </a:highlight>
                <a:latin typeface="Verdana"/>
                <a:ea typeface="Verdana"/>
                <a:cs typeface="Verdana"/>
                <a:sym typeface="Verdana"/>
              </a:rPr>
              <a:t> for other </a:t>
            </a:r>
            <a:r>
              <a:rPr lang="en-US" sz="1100" b="1" dirty="0">
                <a:highlight>
                  <a:srgbClr val="FFFFFF"/>
                </a:highlight>
                <a:latin typeface="Verdana"/>
                <a:ea typeface="Verdana"/>
                <a:cs typeface="Verdana"/>
                <a:sym typeface="Verdana"/>
              </a:rPr>
              <a:t>polar</a:t>
            </a:r>
            <a:r>
              <a:rPr lang="en-US" sz="1100" dirty="0">
                <a:highlight>
                  <a:srgbClr val="FFFFFF"/>
                </a:highlight>
                <a:latin typeface="Verdana"/>
                <a:ea typeface="Verdana"/>
                <a:cs typeface="Verdana"/>
                <a:sym typeface="Verdana"/>
              </a:rPr>
              <a:t> molecules since it can interact with the </a:t>
            </a:r>
            <a:r>
              <a:rPr lang="en-US" sz="1100" b="1" dirty="0">
                <a:highlight>
                  <a:srgbClr val="FFFFFF"/>
                </a:highlight>
                <a:latin typeface="Verdana"/>
                <a:ea typeface="Verdana"/>
                <a:cs typeface="Verdana"/>
                <a:sym typeface="Verdana"/>
              </a:rPr>
              <a:t>charged regions</a:t>
            </a:r>
            <a:r>
              <a:rPr lang="en-US" sz="1100" dirty="0">
                <a:highlight>
                  <a:srgbClr val="FFFFFF"/>
                </a:highlight>
                <a:latin typeface="Verdana"/>
                <a:ea typeface="Verdana"/>
                <a:cs typeface="Verdana"/>
                <a:sym typeface="Verdana"/>
              </a:rPr>
              <a:t> and </a:t>
            </a:r>
            <a:r>
              <a:rPr lang="en-US" sz="1100" b="1" dirty="0">
                <a:highlight>
                  <a:srgbClr val="FFFFFF"/>
                </a:highlight>
                <a:latin typeface="Verdana"/>
                <a:ea typeface="Verdana"/>
                <a:cs typeface="Verdana"/>
                <a:sym typeface="Verdana"/>
              </a:rPr>
              <a:t>dissolve</a:t>
            </a:r>
            <a:r>
              <a:rPr lang="en-US" sz="1100" dirty="0">
                <a:highlight>
                  <a:srgbClr val="FFFFFF"/>
                </a:highlight>
                <a:latin typeface="Verdana"/>
                <a:ea typeface="Verdana"/>
                <a:cs typeface="Verdana"/>
                <a:sym typeface="Verdana"/>
              </a:rPr>
              <a:t> the substance. It is also a good solvent for </a:t>
            </a:r>
            <a:r>
              <a:rPr lang="en-US" sz="1100" b="1" dirty="0">
                <a:highlight>
                  <a:srgbClr val="FFFFFF"/>
                </a:highlight>
                <a:latin typeface="Verdana"/>
                <a:ea typeface="Verdana"/>
                <a:cs typeface="Verdana"/>
                <a:sym typeface="Verdana"/>
              </a:rPr>
              <a:t>ionic substances</a:t>
            </a:r>
            <a:r>
              <a:rPr lang="en-US" sz="1100" dirty="0">
                <a:highlight>
                  <a:srgbClr val="FFFFFF"/>
                </a:highlight>
                <a:latin typeface="Verdana"/>
                <a:ea typeface="Verdana"/>
                <a:cs typeface="Verdana"/>
                <a:sym typeface="Verdana"/>
              </a:rPr>
              <a:t>, since the water molecules </a:t>
            </a:r>
            <a:r>
              <a:rPr lang="en-US" sz="1100" b="1" dirty="0">
                <a:highlight>
                  <a:srgbClr val="FFFFFF"/>
                </a:highlight>
                <a:latin typeface="Verdana"/>
                <a:ea typeface="Verdana"/>
                <a:cs typeface="Verdana"/>
                <a:sym typeface="Verdana"/>
              </a:rPr>
              <a:t>cluster around the ions</a:t>
            </a:r>
            <a:r>
              <a:rPr lang="en-US" sz="1100" dirty="0">
                <a:highlight>
                  <a:srgbClr val="FFFFFF"/>
                </a:highlight>
                <a:latin typeface="Verdana"/>
                <a:ea typeface="Verdana"/>
                <a:cs typeface="Verdana"/>
                <a:sym typeface="Verdana"/>
              </a:rPr>
              <a:t> and </a:t>
            </a:r>
            <a:r>
              <a:rPr lang="en-US" sz="1100" b="1" dirty="0">
                <a:highlight>
                  <a:srgbClr val="FFFFFF"/>
                </a:highlight>
                <a:latin typeface="Verdana"/>
                <a:ea typeface="Verdana"/>
                <a:cs typeface="Verdana"/>
                <a:sym typeface="Verdana"/>
              </a:rPr>
              <a:t>separate</a:t>
            </a:r>
            <a:r>
              <a:rPr lang="en-US" sz="1100" dirty="0">
                <a:highlight>
                  <a:srgbClr val="FFFFFF"/>
                </a:highlight>
                <a:latin typeface="Verdana"/>
                <a:ea typeface="Verdana"/>
                <a:cs typeface="Verdana"/>
                <a:sym typeface="Verdana"/>
              </a:rPr>
              <a:t> them, thus </a:t>
            </a:r>
            <a:r>
              <a:rPr lang="en-US" sz="1100" b="1" dirty="0">
                <a:highlight>
                  <a:srgbClr val="FFFFFF"/>
                </a:highlight>
                <a:latin typeface="Verdana"/>
                <a:ea typeface="Verdana"/>
                <a:cs typeface="Verdana"/>
                <a:sym typeface="Verdana"/>
              </a:rPr>
              <a:t>dissolving</a:t>
            </a:r>
            <a:r>
              <a:rPr lang="en-US" sz="1100" dirty="0">
                <a:highlight>
                  <a:srgbClr val="FFFFFF"/>
                </a:highlight>
                <a:latin typeface="Verdana"/>
                <a:ea typeface="Verdana"/>
                <a:cs typeface="Verdana"/>
                <a:sym typeface="Verdana"/>
              </a:rPr>
              <a:t> the substance. This property, along with the fact that water is </a:t>
            </a:r>
            <a:r>
              <a:rPr lang="en-US" sz="1100" b="1" dirty="0">
                <a:highlight>
                  <a:srgbClr val="FFFFFF"/>
                </a:highlight>
                <a:latin typeface="Verdana"/>
                <a:ea typeface="Verdana"/>
                <a:cs typeface="Verdana"/>
                <a:sym typeface="Verdana"/>
              </a:rPr>
              <a:t>liquid over a wide range of temperatures</a:t>
            </a:r>
            <a:r>
              <a:rPr lang="en-US" sz="1100" dirty="0">
                <a:highlight>
                  <a:srgbClr val="FFFFFF"/>
                </a:highlight>
                <a:latin typeface="Verdana"/>
                <a:ea typeface="Verdana"/>
                <a:cs typeface="Verdana"/>
                <a:sym typeface="Verdana"/>
              </a:rPr>
              <a:t>, makes it ideal for acting as a medium in which </a:t>
            </a:r>
            <a:r>
              <a:rPr lang="en-US" sz="1100" b="1" dirty="0">
                <a:highlight>
                  <a:srgbClr val="FFFFFF"/>
                </a:highlight>
                <a:latin typeface="Verdana"/>
                <a:ea typeface="Verdana"/>
                <a:cs typeface="Verdana"/>
                <a:sym typeface="Verdana"/>
              </a:rPr>
              <a:t>metabolic reactions</a:t>
            </a:r>
            <a:r>
              <a:rPr lang="en-US" sz="1100" dirty="0">
                <a:highlight>
                  <a:srgbClr val="FFFFFF"/>
                </a:highlight>
                <a:latin typeface="Verdana"/>
                <a:ea typeface="Verdana"/>
                <a:cs typeface="Verdana"/>
                <a:sym typeface="Verdana"/>
              </a:rPr>
              <a:t> can occur, and also as a </a:t>
            </a:r>
            <a:r>
              <a:rPr lang="en-US" sz="1100" b="1" dirty="0">
                <a:highlight>
                  <a:srgbClr val="FFFFFF"/>
                </a:highlight>
                <a:latin typeface="Verdana"/>
                <a:ea typeface="Verdana"/>
                <a:cs typeface="Verdana"/>
                <a:sym typeface="Verdana"/>
              </a:rPr>
              <a:t>transport</a:t>
            </a:r>
            <a:r>
              <a:rPr lang="en-US" sz="1100" dirty="0">
                <a:highlight>
                  <a:srgbClr val="FFFFFF"/>
                </a:highlight>
                <a:latin typeface="Verdana"/>
                <a:ea typeface="Verdana"/>
                <a:cs typeface="Verdana"/>
                <a:sym typeface="Verdana"/>
              </a:rPr>
              <a:t> vehicle.</a:t>
            </a:r>
            <a:endParaRPr sz="1100" dirty="0">
              <a:highlight>
                <a:srgbClr val="FFFFFF"/>
              </a:highlight>
              <a:latin typeface="Verdana"/>
              <a:ea typeface="Verdana"/>
              <a:cs typeface="Verdana"/>
              <a:sym typeface="Verdana"/>
            </a:endParaRPr>
          </a:p>
          <a:p>
            <a:pPr marL="0" marR="0" lvl="0" indent="0" algn="l" rtl="0">
              <a:lnSpc>
                <a:spcPct val="100000"/>
              </a:lnSpc>
              <a:spcBef>
                <a:spcPts val="0"/>
              </a:spcBef>
              <a:spcAft>
                <a:spcPts val="0"/>
              </a:spcAft>
              <a:buClr>
                <a:schemeClr val="dk1"/>
              </a:buClr>
              <a:buSzPts val="1200"/>
              <a:buFont typeface="Calibri"/>
              <a:buNone/>
            </a:pPr>
            <a:r>
              <a:rPr lang="en-US" sz="1100" dirty="0">
                <a:highlight>
                  <a:srgbClr val="FFFFFF"/>
                </a:highlight>
                <a:latin typeface="Verdana"/>
                <a:ea typeface="Verdana"/>
                <a:cs typeface="Verdana"/>
                <a:sym typeface="Verdana"/>
              </a:rPr>
              <a:t>Water also takes part in some </a:t>
            </a:r>
            <a:r>
              <a:rPr lang="en-US" sz="1100" b="1" dirty="0">
                <a:highlight>
                  <a:srgbClr val="FFFFFF"/>
                </a:highlight>
                <a:latin typeface="Verdana"/>
                <a:ea typeface="Verdana"/>
                <a:cs typeface="Verdana"/>
                <a:sym typeface="Verdana"/>
              </a:rPr>
              <a:t>metabolic reactions</a:t>
            </a:r>
            <a:r>
              <a:rPr lang="en-US" sz="1100" dirty="0">
                <a:highlight>
                  <a:srgbClr val="FFFFFF"/>
                </a:highlight>
                <a:latin typeface="Verdana"/>
                <a:ea typeface="Verdana"/>
                <a:cs typeface="Verdana"/>
                <a:sym typeface="Verdana"/>
              </a:rPr>
              <a:t>, </a:t>
            </a:r>
            <a:r>
              <a:rPr lang="en-US" sz="1100" i="1" dirty="0">
                <a:highlight>
                  <a:srgbClr val="FFFFFF"/>
                </a:highlight>
                <a:latin typeface="Verdana"/>
                <a:ea typeface="Verdana"/>
                <a:cs typeface="Verdana"/>
                <a:sym typeface="Verdana"/>
              </a:rPr>
              <a:t>for example, in</a:t>
            </a:r>
            <a:r>
              <a:rPr lang="en-US" sz="1100" dirty="0">
                <a:highlight>
                  <a:srgbClr val="FFFFFF"/>
                </a:highlight>
                <a:latin typeface="Verdana"/>
                <a:ea typeface="Verdana"/>
                <a:cs typeface="Verdana"/>
                <a:sym typeface="Verdana"/>
              </a:rPr>
              <a:t> </a:t>
            </a:r>
            <a:r>
              <a:rPr lang="en-US" sz="1100" b="1" i="1" dirty="0">
                <a:highlight>
                  <a:srgbClr val="FFFFFF"/>
                </a:highlight>
                <a:latin typeface="Verdana"/>
                <a:ea typeface="Verdana"/>
                <a:cs typeface="Verdana"/>
                <a:sym typeface="Verdana"/>
              </a:rPr>
              <a:t>Hydrolysis</a:t>
            </a:r>
            <a:r>
              <a:rPr lang="en-US" sz="1100" dirty="0">
                <a:highlight>
                  <a:srgbClr val="FFFFFF"/>
                </a:highlight>
                <a:latin typeface="Verdana"/>
                <a:ea typeface="Verdana"/>
                <a:cs typeface="Verdana"/>
                <a:sym typeface="Verdana"/>
              </a:rPr>
              <a:t> </a:t>
            </a:r>
            <a:r>
              <a:rPr lang="en-US" sz="1100" i="1" dirty="0">
                <a:highlight>
                  <a:srgbClr val="FFFFFF"/>
                </a:highlight>
                <a:latin typeface="Verdana"/>
                <a:ea typeface="Verdana"/>
                <a:cs typeface="Verdana"/>
                <a:sym typeface="Verdana"/>
              </a:rPr>
              <a:t>and</a:t>
            </a:r>
            <a:r>
              <a:rPr lang="en-US" sz="1100" dirty="0">
                <a:highlight>
                  <a:srgbClr val="FFFFFF"/>
                </a:highlight>
                <a:latin typeface="Verdana"/>
                <a:ea typeface="Verdana"/>
                <a:cs typeface="Verdana"/>
                <a:sym typeface="Verdana"/>
              </a:rPr>
              <a:t> </a:t>
            </a:r>
            <a:r>
              <a:rPr lang="en-US" sz="1100" b="1" i="1" dirty="0">
                <a:highlight>
                  <a:srgbClr val="FFFFFF"/>
                </a:highlight>
                <a:latin typeface="Verdana"/>
                <a:ea typeface="Verdana"/>
                <a:cs typeface="Verdana"/>
                <a:sym typeface="Verdana"/>
              </a:rPr>
              <a:t>Condensation</a:t>
            </a:r>
            <a:r>
              <a:rPr lang="en-US" sz="1100" dirty="0">
                <a:highlight>
                  <a:srgbClr val="FFFFFF"/>
                </a:highlight>
                <a:latin typeface="Verdana"/>
                <a:ea typeface="Verdana"/>
                <a:cs typeface="Verdana"/>
                <a:sym typeface="Verdana"/>
              </a:rPr>
              <a:t> </a:t>
            </a:r>
            <a:r>
              <a:rPr lang="en-US" sz="1100" i="1" dirty="0">
                <a:highlight>
                  <a:srgbClr val="FFFFFF"/>
                </a:highlight>
                <a:latin typeface="Verdana"/>
                <a:ea typeface="Verdana"/>
                <a:cs typeface="Verdana"/>
                <a:sym typeface="Verdana"/>
              </a:rPr>
              <a:t>reactions.</a:t>
            </a:r>
            <a:endParaRPr sz="1100" dirty="0">
              <a:highlight>
                <a:srgbClr val="FFFFFF"/>
              </a:highlight>
              <a:latin typeface="Verdana"/>
              <a:ea typeface="Verdana"/>
              <a:cs typeface="Verdana"/>
              <a:sym typeface="Verdana"/>
            </a:endParaRPr>
          </a:p>
          <a:p>
            <a:pPr marL="0" lvl="0" indent="0" algn="l" rtl="0">
              <a:spcBef>
                <a:spcPts val="0"/>
              </a:spcBef>
              <a:spcAft>
                <a:spcPts val="0"/>
              </a:spcAft>
              <a:buNone/>
            </a:pPr>
            <a:endParaRPr dirty="0"/>
          </a:p>
        </p:txBody>
      </p:sp>
      <p:sp>
        <p:nvSpPr>
          <p:cNvPr id="183" name="Google Shape;183;p11:notes">
            <a:extLst>
              <a:ext uri="{FF2B5EF4-FFF2-40B4-BE49-F238E27FC236}">
                <a16:creationId xmlns:a16="http://schemas.microsoft.com/office/drawing/2014/main" id="{A60C4748-66A6-2283-5AE3-B6B284D24B13}"/>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26607077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GB" sz="1200" b="0" i="0" dirty="0">
                <a:solidFill>
                  <a:schemeClr val="dk1"/>
                </a:solidFill>
                <a:latin typeface="Calibri"/>
                <a:ea typeface="Calibri"/>
                <a:cs typeface="Calibri"/>
                <a:sym typeface="Calibri"/>
              </a:rPr>
              <a:t>Water is regarded as the ‘general solvent’ or ‘universal solvent’ due to the polarity of its molecules.</a:t>
            </a:r>
            <a:br>
              <a:rPr lang="en-GB" sz="1200" b="0" i="0" dirty="0">
                <a:solidFill>
                  <a:schemeClr val="dk1"/>
                </a:solidFill>
                <a:latin typeface="Calibri"/>
                <a:ea typeface="Calibri"/>
                <a:cs typeface="Calibri"/>
                <a:sym typeface="Calibri"/>
              </a:rPr>
            </a:br>
            <a:r>
              <a:rPr lang="en-GB" sz="1200" b="0" i="0" dirty="0">
                <a:solidFill>
                  <a:schemeClr val="dk1"/>
                </a:solidFill>
                <a:latin typeface="Calibri"/>
                <a:ea typeface="Calibri"/>
                <a:cs typeface="Calibri"/>
                <a:sym typeface="Calibri"/>
              </a:rPr>
              <a:t>All the essential substances for living organisms (vitamins, salts, amino acids, gases, and glucose) transport inside their bodies in the form of solutes dissolved in water. These substances take part in metabolic reactions inside the cells.</a:t>
            </a:r>
            <a:endParaRPr lang="en-GB" dirty="0"/>
          </a:p>
          <a:p>
            <a:pPr marL="0" marR="0" lvl="0" indent="0" algn="l" rtl="0">
              <a:lnSpc>
                <a:spcPct val="100000"/>
              </a:lnSpc>
              <a:spcBef>
                <a:spcPts val="0"/>
              </a:spcBef>
              <a:spcAft>
                <a:spcPts val="0"/>
              </a:spcAft>
              <a:buClr>
                <a:schemeClr val="dk1"/>
              </a:buClr>
              <a:buSzPts val="1200"/>
              <a:buFont typeface="Calibri"/>
              <a:buNone/>
            </a:pPr>
            <a:r>
              <a:rPr lang="en-GB" sz="1200" dirty="0"/>
              <a:t>Water also carries substances such as starch  as a result, most of the chemical reaction within cells occur in water (in aqueous solution). Water is an excellent transport medium because the dipole nature of water enables many different substances to dissolve in it.</a:t>
            </a:r>
          </a:p>
          <a:p>
            <a:pPr marL="0" marR="0" lvl="0" indent="0" algn="l" rtl="0">
              <a:lnSpc>
                <a:spcPct val="100000"/>
              </a:lnSpc>
              <a:spcBef>
                <a:spcPts val="0"/>
              </a:spcBef>
              <a:spcAft>
                <a:spcPts val="0"/>
              </a:spcAft>
              <a:buClr>
                <a:schemeClr val="dk1"/>
              </a:buClr>
              <a:buSzPts val="1200"/>
              <a:buFont typeface="Calibri"/>
              <a:buNone/>
            </a:pPr>
            <a:r>
              <a:rPr lang="en-GB" sz="1100" dirty="0">
                <a:highlight>
                  <a:srgbClr val="FFFFFF"/>
                </a:highlight>
                <a:latin typeface="Verdana"/>
                <a:ea typeface="Verdana"/>
                <a:cs typeface="Verdana"/>
                <a:sym typeface="Verdana"/>
              </a:rPr>
              <a:t>Water is </a:t>
            </a:r>
            <a:r>
              <a:rPr lang="en-GB" sz="1100" b="1" dirty="0">
                <a:highlight>
                  <a:srgbClr val="FFFFFF"/>
                </a:highlight>
                <a:latin typeface="Verdana"/>
                <a:ea typeface="Verdana"/>
                <a:cs typeface="Verdana"/>
                <a:sym typeface="Verdana"/>
              </a:rPr>
              <a:t>good solvent</a:t>
            </a:r>
            <a:r>
              <a:rPr lang="en-GB" sz="1100" dirty="0">
                <a:highlight>
                  <a:srgbClr val="FFFFFF"/>
                </a:highlight>
                <a:latin typeface="Verdana"/>
                <a:ea typeface="Verdana"/>
                <a:cs typeface="Verdana"/>
                <a:sym typeface="Verdana"/>
              </a:rPr>
              <a:t> for other </a:t>
            </a:r>
            <a:r>
              <a:rPr lang="en-GB" sz="1100" b="1" dirty="0">
                <a:highlight>
                  <a:srgbClr val="FFFFFF"/>
                </a:highlight>
                <a:latin typeface="Verdana"/>
                <a:ea typeface="Verdana"/>
                <a:cs typeface="Verdana"/>
                <a:sym typeface="Verdana"/>
              </a:rPr>
              <a:t>polar</a:t>
            </a:r>
            <a:r>
              <a:rPr lang="en-GB" sz="1100" dirty="0">
                <a:highlight>
                  <a:srgbClr val="FFFFFF"/>
                </a:highlight>
                <a:latin typeface="Verdana"/>
                <a:ea typeface="Verdana"/>
                <a:cs typeface="Verdana"/>
                <a:sym typeface="Verdana"/>
              </a:rPr>
              <a:t> molecules since it can interact with the </a:t>
            </a:r>
            <a:r>
              <a:rPr lang="en-GB" sz="1100" b="1" dirty="0">
                <a:highlight>
                  <a:srgbClr val="FFFFFF"/>
                </a:highlight>
                <a:latin typeface="Verdana"/>
                <a:ea typeface="Verdana"/>
                <a:cs typeface="Verdana"/>
                <a:sym typeface="Verdana"/>
              </a:rPr>
              <a:t>charged regions</a:t>
            </a:r>
            <a:r>
              <a:rPr lang="en-GB" sz="1100" dirty="0">
                <a:highlight>
                  <a:srgbClr val="FFFFFF"/>
                </a:highlight>
                <a:latin typeface="Verdana"/>
                <a:ea typeface="Verdana"/>
                <a:cs typeface="Verdana"/>
                <a:sym typeface="Verdana"/>
              </a:rPr>
              <a:t> and </a:t>
            </a:r>
            <a:r>
              <a:rPr lang="en-GB" sz="1100" b="1" dirty="0">
                <a:highlight>
                  <a:srgbClr val="FFFFFF"/>
                </a:highlight>
                <a:latin typeface="Verdana"/>
                <a:ea typeface="Verdana"/>
                <a:cs typeface="Verdana"/>
                <a:sym typeface="Verdana"/>
              </a:rPr>
              <a:t>dissolve</a:t>
            </a:r>
            <a:r>
              <a:rPr lang="en-GB" sz="1100" dirty="0">
                <a:highlight>
                  <a:srgbClr val="FFFFFF"/>
                </a:highlight>
                <a:latin typeface="Verdana"/>
                <a:ea typeface="Verdana"/>
                <a:cs typeface="Verdana"/>
                <a:sym typeface="Verdana"/>
              </a:rPr>
              <a:t> the substance. It is also a good solvent for </a:t>
            </a:r>
            <a:r>
              <a:rPr lang="en-GB" sz="1100" b="1" dirty="0">
                <a:highlight>
                  <a:srgbClr val="FFFFFF"/>
                </a:highlight>
                <a:latin typeface="Verdana"/>
                <a:ea typeface="Verdana"/>
                <a:cs typeface="Verdana"/>
                <a:sym typeface="Verdana"/>
              </a:rPr>
              <a:t>ionic substances</a:t>
            </a:r>
            <a:r>
              <a:rPr lang="en-GB" sz="1100" dirty="0">
                <a:highlight>
                  <a:srgbClr val="FFFFFF"/>
                </a:highlight>
                <a:latin typeface="Verdana"/>
                <a:ea typeface="Verdana"/>
                <a:cs typeface="Verdana"/>
                <a:sym typeface="Verdana"/>
              </a:rPr>
              <a:t>, since the water molecules </a:t>
            </a:r>
            <a:r>
              <a:rPr lang="en-GB" sz="1100" b="1" dirty="0">
                <a:highlight>
                  <a:srgbClr val="FFFFFF"/>
                </a:highlight>
                <a:latin typeface="Verdana"/>
                <a:ea typeface="Verdana"/>
                <a:cs typeface="Verdana"/>
                <a:sym typeface="Verdana"/>
              </a:rPr>
              <a:t>cluster around the ions</a:t>
            </a:r>
            <a:r>
              <a:rPr lang="en-GB" sz="1100" dirty="0">
                <a:highlight>
                  <a:srgbClr val="FFFFFF"/>
                </a:highlight>
                <a:latin typeface="Verdana"/>
                <a:ea typeface="Verdana"/>
                <a:cs typeface="Verdana"/>
                <a:sym typeface="Verdana"/>
              </a:rPr>
              <a:t> and </a:t>
            </a:r>
            <a:r>
              <a:rPr lang="en-GB" sz="1100" b="1" dirty="0">
                <a:highlight>
                  <a:srgbClr val="FFFFFF"/>
                </a:highlight>
                <a:latin typeface="Verdana"/>
                <a:ea typeface="Verdana"/>
                <a:cs typeface="Verdana"/>
                <a:sym typeface="Verdana"/>
              </a:rPr>
              <a:t>separate</a:t>
            </a:r>
            <a:r>
              <a:rPr lang="en-GB" sz="1100" dirty="0">
                <a:highlight>
                  <a:srgbClr val="FFFFFF"/>
                </a:highlight>
                <a:latin typeface="Verdana"/>
                <a:ea typeface="Verdana"/>
                <a:cs typeface="Verdana"/>
                <a:sym typeface="Verdana"/>
              </a:rPr>
              <a:t> them, thus </a:t>
            </a:r>
            <a:r>
              <a:rPr lang="en-GB" sz="1100" b="1" dirty="0">
                <a:highlight>
                  <a:srgbClr val="FFFFFF"/>
                </a:highlight>
                <a:latin typeface="Verdana"/>
                <a:ea typeface="Verdana"/>
                <a:cs typeface="Verdana"/>
                <a:sym typeface="Verdana"/>
              </a:rPr>
              <a:t>dissolving</a:t>
            </a:r>
            <a:r>
              <a:rPr lang="en-GB" sz="1100" dirty="0">
                <a:highlight>
                  <a:srgbClr val="FFFFFF"/>
                </a:highlight>
                <a:latin typeface="Verdana"/>
                <a:ea typeface="Verdana"/>
                <a:cs typeface="Verdana"/>
                <a:sym typeface="Verdana"/>
              </a:rPr>
              <a:t> the substance. This property, along with the fact that water is </a:t>
            </a:r>
            <a:r>
              <a:rPr lang="en-GB" sz="1100" b="1" dirty="0">
                <a:highlight>
                  <a:srgbClr val="FFFFFF"/>
                </a:highlight>
                <a:latin typeface="Verdana"/>
                <a:ea typeface="Verdana"/>
                <a:cs typeface="Verdana"/>
                <a:sym typeface="Verdana"/>
              </a:rPr>
              <a:t>liquid over a wide range of temperatures</a:t>
            </a:r>
            <a:r>
              <a:rPr lang="en-GB" sz="1100" dirty="0">
                <a:highlight>
                  <a:srgbClr val="FFFFFF"/>
                </a:highlight>
                <a:latin typeface="Verdana"/>
                <a:ea typeface="Verdana"/>
                <a:cs typeface="Verdana"/>
                <a:sym typeface="Verdana"/>
              </a:rPr>
              <a:t>, makes it ideal for acting as a medium in which </a:t>
            </a:r>
            <a:r>
              <a:rPr lang="en-GB" sz="1100" b="1" dirty="0">
                <a:highlight>
                  <a:srgbClr val="FFFFFF"/>
                </a:highlight>
                <a:latin typeface="Verdana"/>
                <a:ea typeface="Verdana"/>
                <a:cs typeface="Verdana"/>
                <a:sym typeface="Verdana"/>
              </a:rPr>
              <a:t>metabolic reactions</a:t>
            </a:r>
            <a:r>
              <a:rPr lang="en-GB" sz="1100" dirty="0">
                <a:highlight>
                  <a:srgbClr val="FFFFFF"/>
                </a:highlight>
                <a:latin typeface="Verdana"/>
                <a:ea typeface="Verdana"/>
                <a:cs typeface="Verdana"/>
                <a:sym typeface="Verdana"/>
              </a:rPr>
              <a:t> can occur, and also as a </a:t>
            </a:r>
            <a:r>
              <a:rPr lang="en-GB" sz="1100" b="1" dirty="0">
                <a:highlight>
                  <a:srgbClr val="FFFFFF"/>
                </a:highlight>
                <a:latin typeface="Verdana"/>
                <a:ea typeface="Verdana"/>
                <a:cs typeface="Verdana"/>
                <a:sym typeface="Verdana"/>
              </a:rPr>
              <a:t>transport</a:t>
            </a:r>
            <a:r>
              <a:rPr lang="en-GB" sz="1100" dirty="0">
                <a:highlight>
                  <a:srgbClr val="FFFFFF"/>
                </a:highlight>
                <a:latin typeface="Verdana"/>
                <a:ea typeface="Verdana"/>
                <a:cs typeface="Verdana"/>
                <a:sym typeface="Verdana"/>
              </a:rPr>
              <a:t> vehicle.</a:t>
            </a:r>
          </a:p>
          <a:p>
            <a:pPr marL="0" marR="0" lvl="0" indent="0" algn="l" rtl="0">
              <a:lnSpc>
                <a:spcPct val="100000"/>
              </a:lnSpc>
              <a:spcBef>
                <a:spcPts val="0"/>
              </a:spcBef>
              <a:spcAft>
                <a:spcPts val="0"/>
              </a:spcAft>
              <a:buClr>
                <a:schemeClr val="dk1"/>
              </a:buClr>
              <a:buSzPts val="1200"/>
              <a:buFont typeface="Calibri"/>
              <a:buNone/>
            </a:pPr>
            <a:r>
              <a:rPr lang="en-GB" sz="1100" dirty="0">
                <a:highlight>
                  <a:srgbClr val="FFFFFF"/>
                </a:highlight>
                <a:latin typeface="Verdana"/>
                <a:ea typeface="Verdana"/>
                <a:cs typeface="Verdana"/>
                <a:sym typeface="Verdana"/>
              </a:rPr>
              <a:t>Water also takes part in some </a:t>
            </a:r>
            <a:r>
              <a:rPr lang="en-GB" sz="1100" b="1" dirty="0">
                <a:highlight>
                  <a:srgbClr val="FFFFFF"/>
                </a:highlight>
                <a:latin typeface="Verdana"/>
                <a:ea typeface="Verdana"/>
                <a:cs typeface="Verdana"/>
                <a:sym typeface="Verdana"/>
              </a:rPr>
              <a:t>metabolic reactions</a:t>
            </a:r>
            <a:r>
              <a:rPr lang="en-GB" sz="1100" dirty="0">
                <a:highlight>
                  <a:srgbClr val="FFFFFF"/>
                </a:highlight>
                <a:latin typeface="Verdana"/>
                <a:ea typeface="Verdana"/>
                <a:cs typeface="Verdana"/>
                <a:sym typeface="Verdana"/>
              </a:rPr>
              <a:t>, </a:t>
            </a:r>
            <a:r>
              <a:rPr lang="en-GB" sz="1100" i="1" dirty="0">
                <a:highlight>
                  <a:srgbClr val="FFFFFF"/>
                </a:highlight>
                <a:latin typeface="Verdana"/>
                <a:ea typeface="Verdana"/>
                <a:cs typeface="Verdana"/>
                <a:sym typeface="Verdana"/>
              </a:rPr>
              <a:t>for example, in</a:t>
            </a:r>
            <a:r>
              <a:rPr lang="en-GB" sz="1100" dirty="0">
                <a:highlight>
                  <a:srgbClr val="FFFFFF"/>
                </a:highlight>
                <a:latin typeface="Verdana"/>
                <a:ea typeface="Verdana"/>
                <a:cs typeface="Verdana"/>
                <a:sym typeface="Verdana"/>
              </a:rPr>
              <a:t> </a:t>
            </a:r>
            <a:r>
              <a:rPr lang="en-GB" sz="1100" b="1" i="1" dirty="0">
                <a:highlight>
                  <a:srgbClr val="FFFFFF"/>
                </a:highlight>
                <a:latin typeface="Verdana"/>
                <a:ea typeface="Verdana"/>
                <a:cs typeface="Verdana"/>
                <a:sym typeface="Verdana"/>
              </a:rPr>
              <a:t>Hydrolysis</a:t>
            </a:r>
            <a:r>
              <a:rPr lang="en-GB" sz="1100" dirty="0">
                <a:highlight>
                  <a:srgbClr val="FFFFFF"/>
                </a:highlight>
                <a:latin typeface="Verdana"/>
                <a:ea typeface="Verdana"/>
                <a:cs typeface="Verdana"/>
                <a:sym typeface="Verdana"/>
              </a:rPr>
              <a:t> </a:t>
            </a:r>
            <a:r>
              <a:rPr lang="en-GB" sz="1100" i="1" dirty="0">
                <a:highlight>
                  <a:srgbClr val="FFFFFF"/>
                </a:highlight>
                <a:latin typeface="Verdana"/>
                <a:ea typeface="Verdana"/>
                <a:cs typeface="Verdana"/>
                <a:sym typeface="Verdana"/>
              </a:rPr>
              <a:t>and</a:t>
            </a:r>
            <a:r>
              <a:rPr lang="en-GB" sz="1100" dirty="0">
                <a:highlight>
                  <a:srgbClr val="FFFFFF"/>
                </a:highlight>
                <a:latin typeface="Verdana"/>
                <a:ea typeface="Verdana"/>
                <a:cs typeface="Verdana"/>
                <a:sym typeface="Verdana"/>
              </a:rPr>
              <a:t> </a:t>
            </a:r>
            <a:r>
              <a:rPr lang="en-GB" sz="1100" b="1" i="1" dirty="0">
                <a:highlight>
                  <a:srgbClr val="FFFFFF"/>
                </a:highlight>
                <a:latin typeface="Verdana"/>
                <a:ea typeface="Verdana"/>
                <a:cs typeface="Verdana"/>
                <a:sym typeface="Verdana"/>
              </a:rPr>
              <a:t>Condensation</a:t>
            </a:r>
            <a:r>
              <a:rPr lang="en-GB" sz="1100" dirty="0">
                <a:highlight>
                  <a:srgbClr val="FFFFFF"/>
                </a:highlight>
                <a:latin typeface="Verdana"/>
                <a:ea typeface="Verdana"/>
                <a:cs typeface="Verdana"/>
                <a:sym typeface="Verdana"/>
              </a:rPr>
              <a:t> </a:t>
            </a:r>
            <a:r>
              <a:rPr lang="en-GB" sz="1100" i="1" dirty="0">
                <a:highlight>
                  <a:srgbClr val="FFFFFF"/>
                </a:highlight>
                <a:latin typeface="Verdana"/>
                <a:ea typeface="Verdana"/>
                <a:cs typeface="Verdana"/>
                <a:sym typeface="Verdana"/>
              </a:rPr>
              <a:t>reactions.</a:t>
            </a:r>
            <a:endParaRPr lang="en-GB" sz="1100" dirty="0">
              <a:highlight>
                <a:srgbClr val="FFFFFF"/>
              </a:highlight>
              <a:latin typeface="Verdana"/>
              <a:ea typeface="Verdana"/>
              <a:cs typeface="Verdana"/>
              <a:sym typeface="Verdana"/>
            </a:endParaRPr>
          </a:p>
          <a:p>
            <a:pPr algn="just"/>
            <a:r>
              <a:rPr lang="en-US" sz="1200" dirty="0">
                <a:solidFill>
                  <a:schemeClr val="accent5">
                    <a:lumMod val="50000"/>
                  </a:schemeClr>
                </a:solidFill>
              </a:rPr>
              <a:t>Polar molecules also dissolve easily in water. </a:t>
            </a:r>
          </a:p>
          <a:p>
            <a:pPr algn="just"/>
            <a:r>
              <a:rPr lang="en-US" sz="1200" dirty="0">
                <a:solidFill>
                  <a:schemeClr val="accent5">
                    <a:lumMod val="50000"/>
                  </a:schemeClr>
                </a:solidFill>
              </a:rPr>
              <a:t>Their polar groups, for example the –OH group in sugars or the amine group, –NH2, in amino acids, become surrounded by water and go into solution. </a:t>
            </a:r>
          </a:p>
          <a:p>
            <a:pPr algn="just"/>
            <a:r>
              <a:rPr lang="en-US" sz="1200" dirty="0">
                <a:solidFill>
                  <a:schemeClr val="accent5">
                    <a:lumMod val="50000"/>
                  </a:schemeClr>
                </a:solidFill>
              </a:rPr>
              <a:t>Such polar substances are said to be </a:t>
            </a:r>
            <a:r>
              <a:rPr lang="en-US" sz="1200" b="1" dirty="0">
                <a:solidFill>
                  <a:srgbClr val="FF0000"/>
                </a:solidFill>
              </a:rPr>
              <a:t>hydrophilic</a:t>
            </a:r>
            <a:r>
              <a:rPr lang="en-US" sz="1200" dirty="0">
                <a:solidFill>
                  <a:schemeClr val="accent5">
                    <a:lumMod val="50000"/>
                  </a:schemeClr>
                </a:solidFill>
              </a:rPr>
              <a:t> – ‘water-loving’. </a:t>
            </a:r>
          </a:p>
          <a:p>
            <a:pPr algn="just"/>
            <a:r>
              <a:rPr lang="en-US" sz="1200" dirty="0">
                <a:solidFill>
                  <a:schemeClr val="accent5">
                    <a:lumMod val="50000"/>
                  </a:schemeClr>
                </a:solidFill>
              </a:rPr>
              <a:t>Non-polar, </a:t>
            </a:r>
            <a:r>
              <a:rPr lang="en-US" sz="1200" b="1" dirty="0">
                <a:solidFill>
                  <a:srgbClr val="FF0000"/>
                </a:solidFill>
              </a:rPr>
              <a:t>hydrophobic</a:t>
            </a:r>
            <a:r>
              <a:rPr lang="en-US" sz="1200" dirty="0">
                <a:solidFill>
                  <a:schemeClr val="accent5">
                    <a:lumMod val="50000"/>
                  </a:schemeClr>
                </a:solidFill>
              </a:rPr>
              <a:t> substances, such as lipids, do not dissolve in water. To enable transport in blood, lipids combine with proteins to form lipoproteins.</a:t>
            </a:r>
          </a:p>
          <a:p>
            <a:endParaRPr lang="en-MY"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27F0163-36E5-4E5E-AF9B-A034E52030B0}" type="slidenum">
              <a:rPr kumimoji="0" lang="en-MY"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MY"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44940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Verdana"/>
                <a:ea typeface="Verdana"/>
                <a:cs typeface="Verdana"/>
                <a:sym typeface="Verdana"/>
              </a:rPr>
              <a:t>Hydrogen bonds within water give it a </a:t>
            </a:r>
            <a:r>
              <a:rPr lang="en-GB" sz="1200" b="1" dirty="0">
                <a:latin typeface="Verdana"/>
                <a:ea typeface="Verdana"/>
                <a:cs typeface="Verdana"/>
                <a:sym typeface="Verdana"/>
              </a:rPr>
              <a:t>high stabilit</a:t>
            </a:r>
            <a:r>
              <a:rPr lang="en-GB" sz="1200" dirty="0">
                <a:latin typeface="Verdana"/>
                <a:ea typeface="Verdana"/>
                <a:cs typeface="Verdana"/>
                <a:sym typeface="Verdana"/>
              </a:rPr>
              <a:t>y, which means that a </a:t>
            </a:r>
            <a:r>
              <a:rPr lang="en-GB" sz="1200" b="1" dirty="0">
                <a:latin typeface="Verdana"/>
                <a:ea typeface="Verdana"/>
                <a:cs typeface="Verdana"/>
                <a:sym typeface="Verdana"/>
              </a:rPr>
              <a:t>large amount of energy</a:t>
            </a:r>
            <a:r>
              <a:rPr lang="en-GB" sz="1200" dirty="0">
                <a:latin typeface="Verdana"/>
                <a:ea typeface="Verdana"/>
                <a:cs typeface="Verdana"/>
                <a:sym typeface="Verdana"/>
              </a:rPr>
              <a:t> is required to raise the temperature of water. This property means that </a:t>
            </a:r>
            <a:r>
              <a:rPr lang="en-GB" sz="1200" b="1" dirty="0">
                <a:latin typeface="Verdana"/>
                <a:ea typeface="Verdana"/>
                <a:cs typeface="Verdana"/>
                <a:sym typeface="Verdana"/>
              </a:rPr>
              <a:t>oceans</a:t>
            </a:r>
            <a:r>
              <a:rPr lang="en-GB" sz="1200" dirty="0">
                <a:latin typeface="Verdana"/>
                <a:ea typeface="Verdana"/>
                <a:cs typeface="Verdana"/>
                <a:sym typeface="Verdana"/>
              </a:rPr>
              <a:t> and </a:t>
            </a:r>
            <a:r>
              <a:rPr lang="en-GB" sz="1200" b="1" dirty="0">
                <a:latin typeface="Verdana"/>
                <a:ea typeface="Verdana"/>
                <a:cs typeface="Verdana"/>
                <a:sym typeface="Verdana"/>
              </a:rPr>
              <a:t>lakes</a:t>
            </a:r>
            <a:r>
              <a:rPr lang="en-GB" sz="1200" dirty="0">
                <a:latin typeface="Verdana"/>
                <a:ea typeface="Verdana"/>
                <a:cs typeface="Verdana"/>
                <a:sym typeface="Verdana"/>
              </a:rPr>
              <a:t> provide a </a:t>
            </a:r>
            <a:r>
              <a:rPr lang="en-GB" sz="1200" b="1" dirty="0">
                <a:latin typeface="Verdana"/>
                <a:ea typeface="Verdana"/>
                <a:cs typeface="Verdana"/>
                <a:sym typeface="Verdana"/>
              </a:rPr>
              <a:t>stable environment</a:t>
            </a:r>
            <a:r>
              <a:rPr lang="en-GB" sz="1200" dirty="0">
                <a:latin typeface="Verdana"/>
                <a:ea typeface="Verdana"/>
                <a:cs typeface="Verdana"/>
                <a:sym typeface="Verdana"/>
              </a:rPr>
              <a:t> in which organisms can live. This also means that a large amount of heat is required to </a:t>
            </a:r>
            <a:r>
              <a:rPr lang="en-GB" sz="1200" b="1" dirty="0">
                <a:latin typeface="Verdana"/>
                <a:ea typeface="Verdana"/>
                <a:cs typeface="Verdana"/>
                <a:sym typeface="Verdana"/>
              </a:rPr>
              <a:t>evaporate water</a:t>
            </a:r>
            <a:r>
              <a:rPr lang="en-GB" sz="1200" dirty="0">
                <a:latin typeface="Verdana"/>
                <a:ea typeface="Verdana"/>
                <a:cs typeface="Verdana"/>
                <a:sym typeface="Verdana"/>
              </a:rPr>
              <a:t>, so it is very useful in </a:t>
            </a:r>
            <a:r>
              <a:rPr lang="en-GB" sz="1200" b="1" dirty="0">
                <a:latin typeface="Verdana"/>
                <a:ea typeface="Verdana"/>
                <a:cs typeface="Verdana"/>
                <a:sym typeface="Verdana"/>
              </a:rPr>
              <a:t>cooling</a:t>
            </a:r>
            <a:r>
              <a:rPr lang="en-GB" sz="1200" dirty="0">
                <a:latin typeface="Verdana"/>
                <a:ea typeface="Verdana"/>
                <a:cs typeface="Verdana"/>
                <a:sym typeface="Verdana"/>
              </a:rPr>
              <a:t>, </a:t>
            </a:r>
            <a:r>
              <a:rPr lang="en-GB" sz="1200" i="1" dirty="0">
                <a:latin typeface="Verdana"/>
                <a:ea typeface="Verdana"/>
                <a:cs typeface="Verdana"/>
                <a:sym typeface="Verdana"/>
              </a:rPr>
              <a:t>for example, some animals sweat to cool down.</a:t>
            </a:r>
          </a:p>
          <a:p>
            <a:endParaRPr lang="en-MY"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27F0163-36E5-4E5E-AF9B-A034E52030B0}" type="slidenum">
              <a:rPr kumimoji="0" lang="en-MY"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MY"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404671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highlight>
                  <a:srgbClr val="FFFFFF"/>
                </a:highlight>
                <a:latin typeface="Verdana"/>
                <a:ea typeface="Verdana"/>
                <a:cs typeface="Verdana"/>
                <a:sym typeface="Verdana"/>
              </a:rPr>
              <a:t>As water decreases in temperature, its molecules are </a:t>
            </a:r>
            <a:r>
              <a:rPr lang="en-GB" sz="1200" b="1" dirty="0">
                <a:highlight>
                  <a:srgbClr val="FFFFFF"/>
                </a:highlight>
                <a:latin typeface="Verdana"/>
                <a:ea typeface="Verdana"/>
                <a:cs typeface="Verdana"/>
                <a:sym typeface="Verdana"/>
              </a:rPr>
              <a:t>less able to break</a:t>
            </a:r>
            <a:r>
              <a:rPr lang="en-GB" sz="1200" dirty="0">
                <a:highlight>
                  <a:srgbClr val="FFFFFF"/>
                </a:highlight>
                <a:latin typeface="Verdana"/>
                <a:ea typeface="Verdana"/>
                <a:cs typeface="Verdana"/>
                <a:sym typeface="Verdana"/>
              </a:rPr>
              <a:t> the Hydrogen bonds, as they have </a:t>
            </a:r>
            <a:r>
              <a:rPr lang="en-GB" sz="1200" b="1" dirty="0">
                <a:highlight>
                  <a:srgbClr val="FFFFFF"/>
                </a:highlight>
                <a:latin typeface="Verdana"/>
                <a:ea typeface="Verdana"/>
                <a:cs typeface="Verdana"/>
                <a:sym typeface="Verdana"/>
              </a:rPr>
              <a:t>less kinetic energy</a:t>
            </a:r>
            <a:r>
              <a:rPr lang="en-GB" sz="1200" dirty="0">
                <a:highlight>
                  <a:srgbClr val="FFFFFF"/>
                </a:highlight>
                <a:latin typeface="Verdana"/>
                <a:ea typeface="Verdana"/>
                <a:cs typeface="Verdana"/>
                <a:sym typeface="Verdana"/>
              </a:rPr>
              <a:t>. This means that a </a:t>
            </a:r>
            <a:r>
              <a:rPr lang="en-GB" sz="1200" b="1" dirty="0">
                <a:highlight>
                  <a:srgbClr val="FFFFFF"/>
                </a:highlight>
                <a:latin typeface="Verdana"/>
                <a:ea typeface="Verdana"/>
                <a:cs typeface="Verdana"/>
                <a:sym typeface="Verdana"/>
              </a:rPr>
              <a:t>semi-crystalline structure</a:t>
            </a:r>
            <a:r>
              <a:rPr lang="en-GB" sz="1200" dirty="0">
                <a:highlight>
                  <a:srgbClr val="FFFFFF"/>
                </a:highlight>
                <a:latin typeface="Verdana"/>
                <a:ea typeface="Verdana"/>
                <a:cs typeface="Verdana"/>
                <a:sym typeface="Verdana"/>
              </a:rPr>
              <a:t> is formed, which holds the water molecules apart, making </a:t>
            </a:r>
            <a:r>
              <a:rPr lang="en-GB" sz="1200" b="1" dirty="0">
                <a:highlight>
                  <a:srgbClr val="FFFFFF"/>
                </a:highlight>
                <a:latin typeface="Verdana"/>
                <a:ea typeface="Verdana"/>
                <a:cs typeface="Verdana"/>
                <a:sym typeface="Verdana"/>
              </a:rPr>
              <a:t>ice less dense than liquid water</a:t>
            </a:r>
            <a:r>
              <a:rPr lang="en-GB" sz="1200" dirty="0">
                <a:highlight>
                  <a:srgbClr val="FFFFFF"/>
                </a:highlight>
                <a:latin typeface="Verdana"/>
                <a:ea typeface="Verdana"/>
                <a:cs typeface="Verdana"/>
                <a:sym typeface="Verdana"/>
              </a:rPr>
              <a:t>, such that it floats. This means that it </a:t>
            </a:r>
            <a:r>
              <a:rPr lang="en-GB" sz="1200" b="1" dirty="0">
                <a:highlight>
                  <a:srgbClr val="FFFFFF"/>
                </a:highlight>
                <a:latin typeface="Verdana"/>
                <a:ea typeface="Verdana"/>
                <a:cs typeface="Verdana"/>
                <a:sym typeface="Verdana"/>
              </a:rPr>
              <a:t>insulates</a:t>
            </a:r>
            <a:r>
              <a:rPr lang="en-GB" sz="1200" dirty="0">
                <a:highlight>
                  <a:srgbClr val="FFFFFF"/>
                </a:highlight>
                <a:latin typeface="Verdana"/>
                <a:ea typeface="Verdana"/>
                <a:cs typeface="Verdana"/>
                <a:sym typeface="Verdana"/>
              </a:rPr>
              <a:t> the water beneath, allowing organisms in the liquid water to </a:t>
            </a:r>
            <a:r>
              <a:rPr lang="en-GB" sz="1200" b="1" dirty="0">
                <a:highlight>
                  <a:srgbClr val="FFFFFF"/>
                </a:highlight>
                <a:latin typeface="Verdana"/>
                <a:ea typeface="Verdana"/>
                <a:cs typeface="Verdana"/>
                <a:sym typeface="Verdana"/>
              </a:rPr>
              <a:t>survive</a:t>
            </a:r>
            <a:r>
              <a:rPr lang="en-GB" sz="1200" dirty="0">
                <a:highlight>
                  <a:srgbClr val="FFFFFF"/>
                </a:highlight>
                <a:latin typeface="Verdana"/>
                <a:ea typeface="Verdana"/>
                <a:cs typeface="Verdana"/>
                <a:sym typeface="Verdana"/>
              </a:rPr>
              <a:t>.</a:t>
            </a:r>
            <a:endParaRPr lang="en-GB" sz="1400" dirty="0"/>
          </a:p>
          <a:p>
            <a:endParaRPr lang="en-MY"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27F0163-36E5-4E5E-AF9B-A034E52030B0}" type="slidenum">
              <a:rPr kumimoji="0" lang="en-MY"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MY"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70999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highlight>
                  <a:srgbClr val="FFFFFF"/>
                </a:highlight>
                <a:latin typeface="Verdana"/>
                <a:ea typeface="Verdana"/>
                <a:cs typeface="Verdana"/>
                <a:sym typeface="Verdana"/>
              </a:rPr>
              <a:t>As water decreases in temperature, its molecules are </a:t>
            </a:r>
            <a:r>
              <a:rPr lang="en-GB" sz="1200" b="1" dirty="0">
                <a:highlight>
                  <a:srgbClr val="FFFFFF"/>
                </a:highlight>
                <a:latin typeface="Verdana"/>
                <a:ea typeface="Verdana"/>
                <a:cs typeface="Verdana"/>
                <a:sym typeface="Verdana"/>
              </a:rPr>
              <a:t>less able to break</a:t>
            </a:r>
            <a:r>
              <a:rPr lang="en-GB" sz="1200" dirty="0">
                <a:highlight>
                  <a:srgbClr val="FFFFFF"/>
                </a:highlight>
                <a:latin typeface="Verdana"/>
                <a:ea typeface="Verdana"/>
                <a:cs typeface="Verdana"/>
                <a:sym typeface="Verdana"/>
              </a:rPr>
              <a:t> the Hydrogen bonds, as they have </a:t>
            </a:r>
            <a:r>
              <a:rPr lang="en-GB" sz="1200" b="1" dirty="0">
                <a:highlight>
                  <a:srgbClr val="FFFFFF"/>
                </a:highlight>
                <a:latin typeface="Verdana"/>
                <a:ea typeface="Verdana"/>
                <a:cs typeface="Verdana"/>
                <a:sym typeface="Verdana"/>
              </a:rPr>
              <a:t>less kinetic energy</a:t>
            </a:r>
            <a:r>
              <a:rPr lang="en-GB" sz="1200" dirty="0">
                <a:highlight>
                  <a:srgbClr val="FFFFFF"/>
                </a:highlight>
                <a:latin typeface="Verdana"/>
                <a:ea typeface="Verdana"/>
                <a:cs typeface="Verdana"/>
                <a:sym typeface="Verdana"/>
              </a:rPr>
              <a:t>. This means that a </a:t>
            </a:r>
            <a:r>
              <a:rPr lang="en-GB" sz="1200" b="1" dirty="0">
                <a:highlight>
                  <a:srgbClr val="FFFFFF"/>
                </a:highlight>
                <a:latin typeface="Verdana"/>
                <a:ea typeface="Verdana"/>
                <a:cs typeface="Verdana"/>
                <a:sym typeface="Verdana"/>
              </a:rPr>
              <a:t>semi-crystalline structure</a:t>
            </a:r>
            <a:r>
              <a:rPr lang="en-GB" sz="1200" dirty="0">
                <a:highlight>
                  <a:srgbClr val="FFFFFF"/>
                </a:highlight>
                <a:latin typeface="Verdana"/>
                <a:ea typeface="Verdana"/>
                <a:cs typeface="Verdana"/>
                <a:sym typeface="Verdana"/>
              </a:rPr>
              <a:t> is formed, which holds the water molecules apart, making </a:t>
            </a:r>
            <a:r>
              <a:rPr lang="en-GB" sz="1200" b="1" dirty="0">
                <a:highlight>
                  <a:srgbClr val="FFFFFF"/>
                </a:highlight>
                <a:latin typeface="Verdana"/>
                <a:ea typeface="Verdana"/>
                <a:cs typeface="Verdana"/>
                <a:sym typeface="Verdana"/>
              </a:rPr>
              <a:t>ice less dense than liquid water</a:t>
            </a:r>
            <a:r>
              <a:rPr lang="en-GB" sz="1200" dirty="0">
                <a:highlight>
                  <a:srgbClr val="FFFFFF"/>
                </a:highlight>
                <a:latin typeface="Verdana"/>
                <a:ea typeface="Verdana"/>
                <a:cs typeface="Verdana"/>
                <a:sym typeface="Verdana"/>
              </a:rPr>
              <a:t>, such that it floats. This means that it </a:t>
            </a:r>
            <a:r>
              <a:rPr lang="en-GB" sz="1200" b="1" dirty="0">
                <a:highlight>
                  <a:srgbClr val="FFFFFF"/>
                </a:highlight>
                <a:latin typeface="Verdana"/>
                <a:ea typeface="Verdana"/>
                <a:cs typeface="Verdana"/>
                <a:sym typeface="Verdana"/>
              </a:rPr>
              <a:t>insulates</a:t>
            </a:r>
            <a:r>
              <a:rPr lang="en-GB" sz="1200" dirty="0">
                <a:highlight>
                  <a:srgbClr val="FFFFFF"/>
                </a:highlight>
                <a:latin typeface="Verdana"/>
                <a:ea typeface="Verdana"/>
                <a:cs typeface="Verdana"/>
                <a:sym typeface="Verdana"/>
              </a:rPr>
              <a:t> the water beneath, allowing organisms in the liquid water to </a:t>
            </a:r>
            <a:r>
              <a:rPr lang="en-GB" sz="1200" b="1" dirty="0">
                <a:highlight>
                  <a:srgbClr val="FFFFFF"/>
                </a:highlight>
                <a:latin typeface="Verdana"/>
                <a:ea typeface="Verdana"/>
                <a:cs typeface="Verdana"/>
                <a:sym typeface="Verdana"/>
              </a:rPr>
              <a:t>survive</a:t>
            </a:r>
            <a:r>
              <a:rPr lang="en-GB" sz="1200" dirty="0">
                <a:highlight>
                  <a:srgbClr val="FFFFFF"/>
                </a:highlight>
                <a:latin typeface="Verdana"/>
                <a:ea typeface="Verdana"/>
                <a:cs typeface="Verdana"/>
                <a:sym typeface="Verdana"/>
              </a:rPr>
              <a:t>.</a:t>
            </a:r>
            <a:endParaRPr lang="en-GB" sz="1400" dirty="0"/>
          </a:p>
          <a:p>
            <a:endParaRPr lang="en-MY"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27F0163-36E5-4E5E-AF9B-A034E52030B0}" type="slidenum">
              <a:rPr kumimoji="0" lang="en-MY"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MY"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38437938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dirty="0">
                <a:highlight>
                  <a:srgbClr val="FFFFFF"/>
                </a:highlight>
                <a:latin typeface="Verdana"/>
                <a:ea typeface="Verdana"/>
                <a:cs typeface="Verdana"/>
                <a:sym typeface="Verdana"/>
              </a:rPr>
              <a:t>Cohesion</a:t>
            </a:r>
            <a:r>
              <a:rPr lang="en-GB" sz="1200" dirty="0">
                <a:highlight>
                  <a:srgbClr val="FFFFFF"/>
                </a:highlight>
                <a:latin typeface="Verdana"/>
                <a:ea typeface="Verdana"/>
                <a:cs typeface="Verdana"/>
                <a:sym typeface="Verdana"/>
              </a:rPr>
              <a:t> is the tendency of molecules within a substance to ‘</a:t>
            </a:r>
            <a:r>
              <a:rPr lang="en-GB" sz="1200" b="1" dirty="0">
                <a:highlight>
                  <a:srgbClr val="FFFFFF"/>
                </a:highlight>
                <a:latin typeface="Verdana"/>
                <a:ea typeface="Verdana"/>
                <a:cs typeface="Verdana"/>
                <a:sym typeface="Verdana"/>
              </a:rPr>
              <a:t>stick together</a:t>
            </a:r>
            <a:r>
              <a:rPr lang="en-GB" sz="1200" dirty="0">
                <a:highlight>
                  <a:srgbClr val="FFFFFF"/>
                </a:highlight>
                <a:latin typeface="Verdana"/>
                <a:ea typeface="Verdana"/>
                <a:cs typeface="Verdana"/>
                <a:sym typeface="Verdana"/>
              </a:rPr>
              <a:t>’. Water has a </a:t>
            </a:r>
            <a:r>
              <a:rPr lang="en-GB" sz="1200" b="1" dirty="0">
                <a:highlight>
                  <a:srgbClr val="FFFFFF"/>
                </a:highlight>
                <a:latin typeface="Verdana"/>
                <a:ea typeface="Verdana"/>
                <a:cs typeface="Verdana"/>
                <a:sym typeface="Verdana"/>
              </a:rPr>
              <a:t>high Cohesion</a:t>
            </a:r>
            <a:r>
              <a:rPr lang="en-GB" sz="1200" dirty="0">
                <a:highlight>
                  <a:srgbClr val="FFFFFF"/>
                </a:highlight>
                <a:latin typeface="Verdana"/>
                <a:ea typeface="Verdana"/>
                <a:cs typeface="Verdana"/>
                <a:sym typeface="Verdana"/>
              </a:rPr>
              <a:t> because of Hydrogen bonding. This is important as </a:t>
            </a:r>
            <a:r>
              <a:rPr lang="en-GB" sz="1200" b="1" dirty="0">
                <a:highlight>
                  <a:srgbClr val="FFFFFF"/>
                </a:highlight>
                <a:latin typeface="Verdana"/>
                <a:ea typeface="Verdana"/>
                <a:cs typeface="Verdana"/>
                <a:sym typeface="Verdana"/>
              </a:rPr>
              <a:t>transport of water</a:t>
            </a:r>
            <a:r>
              <a:rPr lang="en-GB" sz="1200" dirty="0">
                <a:highlight>
                  <a:srgbClr val="FFFFFF"/>
                </a:highlight>
                <a:latin typeface="Verdana"/>
                <a:ea typeface="Verdana"/>
                <a:cs typeface="Verdana"/>
                <a:sym typeface="Verdana"/>
              </a:rPr>
              <a:t> in the Xylem in plants relies on water being </a:t>
            </a:r>
            <a:r>
              <a:rPr lang="en-GB" sz="1200" b="1" dirty="0">
                <a:highlight>
                  <a:srgbClr val="FFFFFF"/>
                </a:highlight>
                <a:latin typeface="Verdana"/>
                <a:ea typeface="Verdana"/>
                <a:cs typeface="Verdana"/>
                <a:sym typeface="Verdana"/>
              </a:rPr>
              <a:t>pulled up</a:t>
            </a:r>
            <a:r>
              <a:rPr lang="en-GB" sz="1200" dirty="0">
                <a:highlight>
                  <a:srgbClr val="FFFFFF"/>
                </a:highlight>
                <a:latin typeface="Verdana"/>
                <a:ea typeface="Verdana"/>
                <a:cs typeface="Verdana"/>
                <a:sym typeface="Verdana"/>
              </a:rPr>
              <a:t>. Cohesion also gives the water a </a:t>
            </a:r>
            <a:r>
              <a:rPr lang="en-GB" sz="1200" b="1" dirty="0">
                <a:highlight>
                  <a:srgbClr val="FFFFFF"/>
                </a:highlight>
                <a:latin typeface="Verdana"/>
                <a:ea typeface="Verdana"/>
                <a:cs typeface="Verdana"/>
                <a:sym typeface="Verdana"/>
              </a:rPr>
              <a:t>high surface tension</a:t>
            </a:r>
            <a:r>
              <a:rPr lang="en-GB" sz="1200" dirty="0">
                <a:highlight>
                  <a:srgbClr val="FFFFFF"/>
                </a:highlight>
                <a:latin typeface="Verdana"/>
                <a:ea typeface="Verdana"/>
                <a:cs typeface="Verdana"/>
                <a:sym typeface="Verdana"/>
              </a:rPr>
              <a:t>, allowing small organisms, </a:t>
            </a:r>
            <a:r>
              <a:rPr lang="en-GB" sz="1200" i="1" dirty="0">
                <a:highlight>
                  <a:srgbClr val="FFFFFF"/>
                </a:highlight>
                <a:latin typeface="Verdana"/>
                <a:ea typeface="Verdana"/>
                <a:cs typeface="Verdana"/>
                <a:sym typeface="Verdana"/>
              </a:rPr>
              <a:t>such as Pond Skaters</a:t>
            </a:r>
            <a:r>
              <a:rPr lang="en-GB" sz="1200" dirty="0">
                <a:highlight>
                  <a:srgbClr val="FFFFFF"/>
                </a:highlight>
                <a:latin typeface="Verdana"/>
                <a:ea typeface="Verdana"/>
                <a:cs typeface="Verdana"/>
                <a:sym typeface="Verdana"/>
              </a:rPr>
              <a:t>, to </a:t>
            </a:r>
            <a:r>
              <a:rPr lang="en-GB" sz="1200" b="1" dirty="0">
                <a:highlight>
                  <a:srgbClr val="FFFFFF"/>
                </a:highlight>
                <a:latin typeface="Verdana"/>
                <a:ea typeface="Verdana"/>
                <a:cs typeface="Verdana"/>
                <a:sym typeface="Verdana"/>
              </a:rPr>
              <a:t>walk along it</a:t>
            </a:r>
            <a:r>
              <a:rPr lang="en-GB" sz="1200" dirty="0">
                <a:highlight>
                  <a:srgbClr val="FFFFFF"/>
                </a:highlight>
                <a:latin typeface="Verdana"/>
                <a:ea typeface="Verdana"/>
                <a:cs typeface="Verdana"/>
                <a:sym typeface="Verdana"/>
              </a:rPr>
              <a:t>.</a:t>
            </a:r>
            <a:endParaRPr lang="en-GB" sz="1400" dirty="0">
              <a:latin typeface="Arial Black"/>
              <a:ea typeface="Arial Black"/>
              <a:cs typeface="Arial Black"/>
              <a:sym typeface="Arial Black"/>
            </a:endParaRPr>
          </a:p>
          <a:p>
            <a:endParaRPr lang="en-MY"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27F0163-36E5-4E5E-AF9B-A034E52030B0}" type="slidenum">
              <a:rPr kumimoji="0" lang="en-MY"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MY"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431804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 name="Google Shape;205;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sz="1200" dirty="0">
              <a:latin typeface="Arial Black"/>
              <a:ea typeface="Arial Black"/>
              <a:cs typeface="Arial Black"/>
              <a:sym typeface="Arial Black"/>
            </a:endParaRPr>
          </a:p>
          <a:p>
            <a:pPr marL="0" lvl="0" indent="0" algn="l" rtl="0">
              <a:spcBef>
                <a:spcPts val="0"/>
              </a:spcBef>
              <a:spcAft>
                <a:spcPts val="0"/>
              </a:spcAft>
              <a:buNone/>
            </a:pPr>
            <a:endParaRPr dirty="0"/>
          </a:p>
        </p:txBody>
      </p:sp>
      <p:sp>
        <p:nvSpPr>
          <p:cNvPr id="206" name="Google Shape;206;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 name="Google Shape;213;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extLst>
      <p:ext uri="{BB962C8B-B14F-4D97-AF65-F5344CB8AC3E}">
        <p14:creationId xmlns:p14="http://schemas.microsoft.com/office/powerpoint/2010/main" val="6161608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27F0163-36E5-4E5E-AF9B-A034E52030B0}" type="slidenum">
              <a:rPr kumimoji="0" lang="en-MY"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MY"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16278077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89c27fe04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g89c27fe04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g89c27fe044_0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0" name="Google Shape;40;p2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2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2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400"/>
              <a:buNone/>
              <a:defRPr sz="2400" b="1"/>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7" name="Google Shape;47;p2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8" name="Google Shape;48;p2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400"/>
              <a:buNone/>
              <a:defRPr sz="2400" b="1"/>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9" name="Google Shape;49;p2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0" name="Google Shape;50;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lt1"/>
              </a:buClr>
              <a:buSzPts val="3200"/>
              <a:buChar char="•"/>
              <a:defRPr sz="3200"/>
            </a:lvl1pPr>
            <a:lvl2pPr marL="914400" lvl="1" indent="-406400" algn="l">
              <a:lnSpc>
                <a:spcPct val="90000"/>
              </a:lnSpc>
              <a:spcBef>
                <a:spcPts val="500"/>
              </a:spcBef>
              <a:spcAft>
                <a:spcPts val="0"/>
              </a:spcAft>
              <a:buClr>
                <a:schemeClr val="lt1"/>
              </a:buClr>
              <a:buSzPts val="2800"/>
              <a:buChar char="•"/>
              <a:defRPr sz="2800"/>
            </a:lvl2pPr>
            <a:lvl3pPr marL="1371600" lvl="2" indent="-381000" algn="l">
              <a:lnSpc>
                <a:spcPct val="90000"/>
              </a:lnSpc>
              <a:spcBef>
                <a:spcPts val="500"/>
              </a:spcBef>
              <a:spcAft>
                <a:spcPts val="0"/>
              </a:spcAft>
              <a:buClr>
                <a:schemeClr val="lt1"/>
              </a:buClr>
              <a:buSzPts val="2400"/>
              <a:buChar char="•"/>
              <a:defRPr sz="2400"/>
            </a:lvl3pPr>
            <a:lvl4pPr marL="1828800" lvl="3" indent="-355600" algn="l">
              <a:lnSpc>
                <a:spcPct val="90000"/>
              </a:lnSpc>
              <a:spcBef>
                <a:spcPts val="500"/>
              </a:spcBef>
              <a:spcAft>
                <a:spcPts val="0"/>
              </a:spcAft>
              <a:buClr>
                <a:schemeClr val="lt1"/>
              </a:buClr>
              <a:buSzPts val="2000"/>
              <a:buChar char="•"/>
              <a:defRPr sz="2000"/>
            </a:lvl4pPr>
            <a:lvl5pPr marL="2286000" lvl="4" indent="-355600" algn="l">
              <a:lnSpc>
                <a:spcPct val="90000"/>
              </a:lnSpc>
              <a:spcBef>
                <a:spcPts val="500"/>
              </a:spcBef>
              <a:spcAft>
                <a:spcPts val="0"/>
              </a:spcAft>
              <a:buClr>
                <a:schemeClr val="lt1"/>
              </a:buClr>
              <a:buSzPts val="2000"/>
              <a:buChar char="•"/>
              <a:defRPr sz="2000"/>
            </a:lvl5pPr>
            <a:lvl6pPr marL="2743200" lvl="5" indent="-355600" algn="l">
              <a:lnSpc>
                <a:spcPct val="90000"/>
              </a:lnSpc>
              <a:spcBef>
                <a:spcPts val="500"/>
              </a:spcBef>
              <a:spcAft>
                <a:spcPts val="0"/>
              </a:spcAft>
              <a:buClr>
                <a:schemeClr val="lt1"/>
              </a:buClr>
              <a:buSzPts val="2000"/>
              <a:buChar char="•"/>
              <a:defRPr sz="2000"/>
            </a:lvl6pPr>
            <a:lvl7pPr marL="3200400" lvl="6" indent="-355600" algn="l">
              <a:lnSpc>
                <a:spcPct val="90000"/>
              </a:lnSpc>
              <a:spcBef>
                <a:spcPts val="500"/>
              </a:spcBef>
              <a:spcAft>
                <a:spcPts val="0"/>
              </a:spcAft>
              <a:buClr>
                <a:schemeClr val="lt1"/>
              </a:buClr>
              <a:buSzPts val="2000"/>
              <a:buChar char="•"/>
              <a:defRPr sz="2000"/>
            </a:lvl7pPr>
            <a:lvl8pPr marL="3657600" lvl="7" indent="-355600" algn="l">
              <a:lnSpc>
                <a:spcPct val="90000"/>
              </a:lnSpc>
              <a:spcBef>
                <a:spcPts val="500"/>
              </a:spcBef>
              <a:spcAft>
                <a:spcPts val="0"/>
              </a:spcAft>
              <a:buClr>
                <a:schemeClr val="lt1"/>
              </a:buClr>
              <a:buSzPts val="2000"/>
              <a:buChar char="•"/>
              <a:defRPr sz="2000"/>
            </a:lvl8pPr>
            <a:lvl9pPr marL="4114800" lvl="8" indent="-355600" algn="l">
              <a:lnSpc>
                <a:spcPct val="90000"/>
              </a:lnSpc>
              <a:spcBef>
                <a:spcPts val="500"/>
              </a:spcBef>
              <a:spcAft>
                <a:spcPts val="0"/>
              </a:spcAft>
              <a:buClr>
                <a:schemeClr val="lt1"/>
              </a:buClr>
              <a:buSzPts val="2000"/>
              <a:buChar char="•"/>
              <a:defRPr sz="2000"/>
            </a:lvl9pPr>
          </a:lstStyle>
          <a:p>
            <a:endParaRPr/>
          </a:p>
        </p:txBody>
      </p:sp>
      <p:sp>
        <p:nvSpPr>
          <p:cNvPr id="61" name="Google Shape;61;p3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2" name="Google Shape;62;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1"/>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alibri"/>
                <a:ea typeface="Calibri"/>
                <a:cs typeface="Calibri"/>
                <a:sym typeface="Calibri"/>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alibri"/>
                <a:ea typeface="Calibri"/>
                <a:cs typeface="Calibri"/>
                <a:sym typeface="Calibri"/>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alibri"/>
                <a:ea typeface="Calibri"/>
                <a:cs typeface="Calibri"/>
                <a:sym typeface="Calibri"/>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alibri"/>
                <a:ea typeface="Calibri"/>
                <a:cs typeface="Calibri"/>
                <a:sym typeface="Calibri"/>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alibri"/>
                <a:ea typeface="Calibri"/>
                <a:cs typeface="Calibri"/>
                <a:sym typeface="Calibri"/>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alibri"/>
                <a:ea typeface="Calibri"/>
                <a:cs typeface="Calibri"/>
                <a:sym typeface="Calibri"/>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alibri"/>
                <a:ea typeface="Calibri"/>
                <a:cs typeface="Calibri"/>
                <a:sym typeface="Calibri"/>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alibri"/>
                <a:ea typeface="Calibri"/>
                <a:cs typeface="Calibri"/>
                <a:sym typeface="Calibri"/>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alibri"/>
                <a:ea typeface="Calibri"/>
                <a:cs typeface="Calibri"/>
                <a:sym typeface="Calibri"/>
              </a:defRPr>
            </a:lvl9pPr>
          </a:lstStyle>
          <a:p>
            <a:endParaRPr/>
          </a:p>
        </p:txBody>
      </p:sp>
      <p:sp>
        <p:nvSpPr>
          <p:cNvPr id="68" name="Google Shape;68;p3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9" name="Google Shape;69;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5" name="Google Shape;75;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81" name="Google Shape;81;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a:extLst>
              <a:ext uri="{FF2B5EF4-FFF2-40B4-BE49-F238E27FC236}">
                <a16:creationId xmlns:a16="http://schemas.microsoft.com/office/drawing/2014/main" id="{DA381740-063A-41A4-836D-85D14980EEF0}"/>
              </a:ext>
            </a:extLst>
          </p:cNvPr>
          <p:cNvSpPr/>
          <p:nvPr/>
        </p:nvSpPr>
        <p:spPr>
          <a:xfrm>
            <a:off x="838200" y="473688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841248" y="448056"/>
            <a:ext cx="10515600" cy="4069080"/>
          </a:xfrm>
        </p:spPr>
        <p:txBody>
          <a:bodyPr anchor="b">
            <a:noAutofit/>
          </a:bodyPr>
          <a:lstStyle>
            <a:lvl1pPr algn="l">
              <a:defRPr sz="9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841248" y="4983480"/>
            <a:ext cx="10515600" cy="1124712"/>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11CD474-E5E1-4D01-97F6-0C9FC09332C0}"/>
              </a:ext>
            </a:extLst>
          </p:cNvPr>
          <p:cNvSpPr>
            <a:spLocks noGrp="1"/>
          </p:cNvSpPr>
          <p:nvPr>
            <p:ph type="dt" sz="half" idx="10"/>
          </p:nvPr>
        </p:nvSpPr>
        <p:spPr/>
        <p:txBody>
          <a:bodyPr/>
          <a:lstStyle/>
          <a:p>
            <a:fld id="{72345051-2045-45DA-935E-2E3CA1A69ADC}" type="datetimeFigureOut">
              <a:rPr lang="en-US" smtClean="0"/>
              <a:t>6/17/26</a:t>
            </a:fld>
            <a:endParaRPr lang="en-US" dirty="0"/>
          </a:p>
        </p:txBody>
      </p:sp>
      <p:sp>
        <p:nvSpPr>
          <p:cNvPr id="5" name="Footer Placeholder 4">
            <a:extLst>
              <a:ext uri="{FF2B5EF4-FFF2-40B4-BE49-F238E27FC236}">
                <a16:creationId xmlns:a16="http://schemas.microsoft.com/office/drawing/2014/main" id="{C636BBC7-EB9B-4B36-88E9-DBF65D270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786C7-DD8D-492F-9A9A-A7B3EBE27FE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962042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1929384"/>
            <a:ext cx="10515600" cy="4251960"/>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fld id="{72345051-2045-45DA-935E-2E3CA1A69ADC}" type="datetimeFigureOut">
              <a:rPr lang="en-US" smtClean="0"/>
              <a:t>6/17/26</a:t>
            </a:fld>
            <a:endParaRPr lang="en-US"/>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sX0" fmla="*/ 0 w 10515600"/>
              <a:gd name="csY0" fmla="*/ 0 h 27432"/>
              <a:gd name="csX1" fmla="*/ 446913 w 10515600"/>
              <a:gd name="csY1" fmla="*/ 0 h 27432"/>
              <a:gd name="csX2" fmla="*/ 1104138 w 10515600"/>
              <a:gd name="csY2" fmla="*/ 0 h 27432"/>
              <a:gd name="csX3" fmla="*/ 1866519 w 10515600"/>
              <a:gd name="csY3" fmla="*/ 0 h 27432"/>
              <a:gd name="csX4" fmla="*/ 2208276 w 10515600"/>
              <a:gd name="csY4" fmla="*/ 0 h 27432"/>
              <a:gd name="csX5" fmla="*/ 2550033 w 10515600"/>
              <a:gd name="csY5" fmla="*/ 0 h 27432"/>
              <a:gd name="csX6" fmla="*/ 3417570 w 10515600"/>
              <a:gd name="csY6" fmla="*/ 0 h 27432"/>
              <a:gd name="csX7" fmla="*/ 4074795 w 10515600"/>
              <a:gd name="csY7" fmla="*/ 0 h 27432"/>
              <a:gd name="csX8" fmla="*/ 4416552 w 10515600"/>
              <a:gd name="csY8" fmla="*/ 0 h 27432"/>
              <a:gd name="csX9" fmla="*/ 5073777 w 10515600"/>
              <a:gd name="csY9" fmla="*/ 0 h 27432"/>
              <a:gd name="csX10" fmla="*/ 5941314 w 10515600"/>
              <a:gd name="csY10" fmla="*/ 0 h 27432"/>
              <a:gd name="csX11" fmla="*/ 6493383 w 10515600"/>
              <a:gd name="csY11" fmla="*/ 0 h 27432"/>
              <a:gd name="csX12" fmla="*/ 7045452 w 10515600"/>
              <a:gd name="csY12" fmla="*/ 0 h 27432"/>
              <a:gd name="csX13" fmla="*/ 7702677 w 10515600"/>
              <a:gd name="csY13" fmla="*/ 0 h 27432"/>
              <a:gd name="csX14" fmla="*/ 8465058 w 10515600"/>
              <a:gd name="csY14" fmla="*/ 0 h 27432"/>
              <a:gd name="csX15" fmla="*/ 9227439 w 10515600"/>
              <a:gd name="csY15" fmla="*/ 0 h 27432"/>
              <a:gd name="csX16" fmla="*/ 10515600 w 10515600"/>
              <a:gd name="csY16" fmla="*/ 0 h 27432"/>
              <a:gd name="csX17" fmla="*/ 10515600 w 10515600"/>
              <a:gd name="csY17" fmla="*/ 27432 h 27432"/>
              <a:gd name="csX18" fmla="*/ 10068687 w 10515600"/>
              <a:gd name="csY18" fmla="*/ 27432 h 27432"/>
              <a:gd name="csX19" fmla="*/ 9201150 w 10515600"/>
              <a:gd name="csY19" fmla="*/ 27432 h 27432"/>
              <a:gd name="csX20" fmla="*/ 8543925 w 10515600"/>
              <a:gd name="csY20" fmla="*/ 27432 h 27432"/>
              <a:gd name="csX21" fmla="*/ 8202168 w 10515600"/>
              <a:gd name="csY21" fmla="*/ 27432 h 27432"/>
              <a:gd name="csX22" fmla="*/ 7544943 w 10515600"/>
              <a:gd name="csY22" fmla="*/ 27432 h 27432"/>
              <a:gd name="csX23" fmla="*/ 6992874 w 10515600"/>
              <a:gd name="csY23" fmla="*/ 27432 h 27432"/>
              <a:gd name="csX24" fmla="*/ 6440805 w 10515600"/>
              <a:gd name="csY24" fmla="*/ 27432 h 27432"/>
              <a:gd name="csX25" fmla="*/ 5888736 w 10515600"/>
              <a:gd name="csY25" fmla="*/ 27432 h 27432"/>
              <a:gd name="csX26" fmla="*/ 5336667 w 10515600"/>
              <a:gd name="csY26" fmla="*/ 27432 h 27432"/>
              <a:gd name="csX27" fmla="*/ 4574286 w 10515600"/>
              <a:gd name="csY27" fmla="*/ 27432 h 27432"/>
              <a:gd name="csX28" fmla="*/ 3917061 w 10515600"/>
              <a:gd name="csY28" fmla="*/ 27432 h 27432"/>
              <a:gd name="csX29" fmla="*/ 3575304 w 10515600"/>
              <a:gd name="csY29" fmla="*/ 27432 h 27432"/>
              <a:gd name="csX30" fmla="*/ 3023235 w 10515600"/>
              <a:gd name="csY30" fmla="*/ 27432 h 27432"/>
              <a:gd name="csX31" fmla="*/ 2260854 w 10515600"/>
              <a:gd name="csY31" fmla="*/ 27432 h 27432"/>
              <a:gd name="csX32" fmla="*/ 1813941 w 10515600"/>
              <a:gd name="csY32" fmla="*/ 27432 h 27432"/>
              <a:gd name="csX33" fmla="*/ 946404 w 10515600"/>
              <a:gd name="csY33" fmla="*/ 27432 h 27432"/>
              <a:gd name="csX34" fmla="*/ 0 w 10515600"/>
              <a:gd name="csY34" fmla="*/ 27432 h 27432"/>
              <a:gd name="csX35" fmla="*/ 0 w 10515600"/>
              <a:gd name="csY35"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892005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18C0-6540-400C-BB51-353D5FD5CB00}"/>
              </a:ext>
            </a:extLst>
          </p:cNvPr>
          <p:cNvSpPr>
            <a:spLocks noGrp="1"/>
          </p:cNvSpPr>
          <p:nvPr>
            <p:ph type="title"/>
          </p:nvPr>
        </p:nvSpPr>
        <p:spPr>
          <a:xfrm>
            <a:off x="841248" y="448056"/>
            <a:ext cx="10515600" cy="4069080"/>
          </a:xfrm>
        </p:spPr>
        <p:txBody>
          <a:bodyPr anchor="b">
            <a:normAutofit/>
          </a:bodyPr>
          <a:lstStyle>
            <a:lvl1pPr>
              <a:defRPr sz="8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81CD69-43B3-4FF7-AA41-30C36C957E65}"/>
              </a:ext>
            </a:extLst>
          </p:cNvPr>
          <p:cNvSpPr>
            <a:spLocks noGrp="1"/>
          </p:cNvSpPr>
          <p:nvPr>
            <p:ph type="body" idx="1"/>
          </p:nvPr>
        </p:nvSpPr>
        <p:spPr>
          <a:xfrm>
            <a:off x="841248" y="4983480"/>
            <a:ext cx="10515600" cy="1124712"/>
          </a:xfrm>
        </p:spPr>
        <p:txBody>
          <a:bodyPr>
            <a:normAutofit/>
          </a:bodyPr>
          <a:lstStyle>
            <a:lvl1pPr marL="0" indent="0">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F300D-5CBE-47E9-A193-E23C8314D0EA}"/>
              </a:ext>
            </a:extLst>
          </p:cNvPr>
          <p:cNvSpPr>
            <a:spLocks noGrp="1"/>
          </p:cNvSpPr>
          <p:nvPr>
            <p:ph type="dt" sz="half" idx="10"/>
          </p:nvPr>
        </p:nvSpPr>
        <p:spPr/>
        <p:txBody>
          <a:bodyPr/>
          <a:lstStyle/>
          <a:p>
            <a:fld id="{72345051-2045-45DA-935E-2E3CA1A69ADC}" type="datetimeFigureOut">
              <a:rPr lang="en-US" smtClean="0"/>
              <a:t>6/17/26</a:t>
            </a:fld>
            <a:endParaRPr lang="en-US"/>
          </a:p>
        </p:txBody>
      </p:sp>
      <p:sp>
        <p:nvSpPr>
          <p:cNvPr id="5" name="Footer Placeholder 4">
            <a:extLst>
              <a:ext uri="{FF2B5EF4-FFF2-40B4-BE49-F238E27FC236}">
                <a16:creationId xmlns:a16="http://schemas.microsoft.com/office/drawing/2014/main" id="{56E7DF3F-C51A-4DB1-9FCE-E3E0D8E92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9CF4-FAAB-44EF-A2A5-8352B4AA384F}"/>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7" name="Rectangle 6" descr="Tag=AccentColor&#10;Flavor=Light&#10;Target=FillAndLine">
            <a:extLst>
              <a:ext uri="{FF2B5EF4-FFF2-40B4-BE49-F238E27FC236}">
                <a16:creationId xmlns:a16="http://schemas.microsoft.com/office/drawing/2014/main" id="{417A8947-4521-4FE1-8E44-27363435CE1B}"/>
              </a:ext>
            </a:extLst>
          </p:cNvPr>
          <p:cNvSpPr/>
          <p:nvPr/>
        </p:nvSpPr>
        <p:spPr>
          <a:xfrm>
            <a:off x="838200" y="473688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9630831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1929384"/>
            <a:ext cx="5181600" cy="42519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1929384"/>
            <a:ext cx="51816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fld id="{72345051-2045-45DA-935E-2E3CA1A69ADC}" type="datetimeFigureOut">
              <a:rPr lang="en-US" smtClean="0"/>
              <a:t>6/17/26</a:t>
            </a:fld>
            <a:endParaRPr lang="en-US"/>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9" name="Rectangle 8" descr="Tag=AccentColor&#10;Flavor=Light&#10;Target=FillAndLine">
            <a:extLst>
              <a:ext uri="{FF2B5EF4-FFF2-40B4-BE49-F238E27FC236}">
                <a16:creationId xmlns:a16="http://schemas.microsoft.com/office/drawing/2014/main" id="{2FAAC677-2D37-4F63-9C4B-711A2988EE02}"/>
              </a:ext>
            </a:extLst>
          </p:cNvPr>
          <p:cNvSpPr/>
          <p:nvPr/>
        </p:nvSpPr>
        <p:spPr>
          <a:xfrm>
            <a:off x="838199" y="1709928"/>
            <a:ext cx="10515600" cy="27432"/>
          </a:xfrm>
          <a:custGeom>
            <a:avLst/>
            <a:gdLst>
              <a:gd name="csX0" fmla="*/ 0 w 10515600"/>
              <a:gd name="csY0" fmla="*/ 0 h 27432"/>
              <a:gd name="csX1" fmla="*/ 446913 w 10515600"/>
              <a:gd name="csY1" fmla="*/ 0 h 27432"/>
              <a:gd name="csX2" fmla="*/ 1104138 w 10515600"/>
              <a:gd name="csY2" fmla="*/ 0 h 27432"/>
              <a:gd name="csX3" fmla="*/ 1866519 w 10515600"/>
              <a:gd name="csY3" fmla="*/ 0 h 27432"/>
              <a:gd name="csX4" fmla="*/ 2208276 w 10515600"/>
              <a:gd name="csY4" fmla="*/ 0 h 27432"/>
              <a:gd name="csX5" fmla="*/ 2550033 w 10515600"/>
              <a:gd name="csY5" fmla="*/ 0 h 27432"/>
              <a:gd name="csX6" fmla="*/ 3417570 w 10515600"/>
              <a:gd name="csY6" fmla="*/ 0 h 27432"/>
              <a:gd name="csX7" fmla="*/ 4074795 w 10515600"/>
              <a:gd name="csY7" fmla="*/ 0 h 27432"/>
              <a:gd name="csX8" fmla="*/ 4416552 w 10515600"/>
              <a:gd name="csY8" fmla="*/ 0 h 27432"/>
              <a:gd name="csX9" fmla="*/ 5073777 w 10515600"/>
              <a:gd name="csY9" fmla="*/ 0 h 27432"/>
              <a:gd name="csX10" fmla="*/ 5941314 w 10515600"/>
              <a:gd name="csY10" fmla="*/ 0 h 27432"/>
              <a:gd name="csX11" fmla="*/ 6493383 w 10515600"/>
              <a:gd name="csY11" fmla="*/ 0 h 27432"/>
              <a:gd name="csX12" fmla="*/ 7045452 w 10515600"/>
              <a:gd name="csY12" fmla="*/ 0 h 27432"/>
              <a:gd name="csX13" fmla="*/ 7702677 w 10515600"/>
              <a:gd name="csY13" fmla="*/ 0 h 27432"/>
              <a:gd name="csX14" fmla="*/ 8465058 w 10515600"/>
              <a:gd name="csY14" fmla="*/ 0 h 27432"/>
              <a:gd name="csX15" fmla="*/ 9227439 w 10515600"/>
              <a:gd name="csY15" fmla="*/ 0 h 27432"/>
              <a:gd name="csX16" fmla="*/ 10515600 w 10515600"/>
              <a:gd name="csY16" fmla="*/ 0 h 27432"/>
              <a:gd name="csX17" fmla="*/ 10515600 w 10515600"/>
              <a:gd name="csY17" fmla="*/ 27432 h 27432"/>
              <a:gd name="csX18" fmla="*/ 10068687 w 10515600"/>
              <a:gd name="csY18" fmla="*/ 27432 h 27432"/>
              <a:gd name="csX19" fmla="*/ 9201150 w 10515600"/>
              <a:gd name="csY19" fmla="*/ 27432 h 27432"/>
              <a:gd name="csX20" fmla="*/ 8543925 w 10515600"/>
              <a:gd name="csY20" fmla="*/ 27432 h 27432"/>
              <a:gd name="csX21" fmla="*/ 8202168 w 10515600"/>
              <a:gd name="csY21" fmla="*/ 27432 h 27432"/>
              <a:gd name="csX22" fmla="*/ 7544943 w 10515600"/>
              <a:gd name="csY22" fmla="*/ 27432 h 27432"/>
              <a:gd name="csX23" fmla="*/ 6992874 w 10515600"/>
              <a:gd name="csY23" fmla="*/ 27432 h 27432"/>
              <a:gd name="csX24" fmla="*/ 6440805 w 10515600"/>
              <a:gd name="csY24" fmla="*/ 27432 h 27432"/>
              <a:gd name="csX25" fmla="*/ 5888736 w 10515600"/>
              <a:gd name="csY25" fmla="*/ 27432 h 27432"/>
              <a:gd name="csX26" fmla="*/ 5336667 w 10515600"/>
              <a:gd name="csY26" fmla="*/ 27432 h 27432"/>
              <a:gd name="csX27" fmla="*/ 4574286 w 10515600"/>
              <a:gd name="csY27" fmla="*/ 27432 h 27432"/>
              <a:gd name="csX28" fmla="*/ 3917061 w 10515600"/>
              <a:gd name="csY28" fmla="*/ 27432 h 27432"/>
              <a:gd name="csX29" fmla="*/ 3575304 w 10515600"/>
              <a:gd name="csY29" fmla="*/ 27432 h 27432"/>
              <a:gd name="csX30" fmla="*/ 3023235 w 10515600"/>
              <a:gd name="csY30" fmla="*/ 27432 h 27432"/>
              <a:gd name="csX31" fmla="*/ 2260854 w 10515600"/>
              <a:gd name="csY31" fmla="*/ 27432 h 27432"/>
              <a:gd name="csX32" fmla="*/ 1813941 w 10515600"/>
              <a:gd name="csY32" fmla="*/ 27432 h 27432"/>
              <a:gd name="csX33" fmla="*/ 946404 w 10515600"/>
              <a:gd name="csY33" fmla="*/ 27432 h 27432"/>
              <a:gd name="csX34" fmla="*/ 0 w 10515600"/>
              <a:gd name="csY34" fmla="*/ 27432 h 27432"/>
              <a:gd name="csX35" fmla="*/ 0 w 10515600"/>
              <a:gd name="csY35"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6657328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1938528"/>
            <a:ext cx="5157787"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2926080"/>
            <a:ext cx="5157787" cy="32644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1938528"/>
            <a:ext cx="5183188"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2926080"/>
            <a:ext cx="5183188"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fld id="{72345051-2045-45DA-935E-2E3CA1A69ADC}" type="datetimeFigureOut">
              <a:rPr lang="en-US" smtClean="0"/>
              <a:t>6/17/26</a:t>
            </a:fld>
            <a:endParaRPr lang="en-US"/>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11" name="Rectangle 10" descr="Tag=AccentColor&#10;Flavor=Light&#10;Target=FillAndLine">
            <a:extLst>
              <a:ext uri="{FF2B5EF4-FFF2-40B4-BE49-F238E27FC236}">
                <a16:creationId xmlns:a16="http://schemas.microsoft.com/office/drawing/2014/main" id="{F634C457-AEBF-47D7-9200-BAD05D138B12}"/>
              </a:ext>
            </a:extLst>
          </p:cNvPr>
          <p:cNvSpPr/>
          <p:nvPr/>
        </p:nvSpPr>
        <p:spPr>
          <a:xfrm>
            <a:off x="838199" y="1709928"/>
            <a:ext cx="10515600" cy="27432"/>
          </a:xfrm>
          <a:custGeom>
            <a:avLst/>
            <a:gdLst>
              <a:gd name="csX0" fmla="*/ 0 w 10515600"/>
              <a:gd name="csY0" fmla="*/ 0 h 27432"/>
              <a:gd name="csX1" fmla="*/ 446913 w 10515600"/>
              <a:gd name="csY1" fmla="*/ 0 h 27432"/>
              <a:gd name="csX2" fmla="*/ 1104138 w 10515600"/>
              <a:gd name="csY2" fmla="*/ 0 h 27432"/>
              <a:gd name="csX3" fmla="*/ 1866519 w 10515600"/>
              <a:gd name="csY3" fmla="*/ 0 h 27432"/>
              <a:gd name="csX4" fmla="*/ 2208276 w 10515600"/>
              <a:gd name="csY4" fmla="*/ 0 h 27432"/>
              <a:gd name="csX5" fmla="*/ 2550033 w 10515600"/>
              <a:gd name="csY5" fmla="*/ 0 h 27432"/>
              <a:gd name="csX6" fmla="*/ 3417570 w 10515600"/>
              <a:gd name="csY6" fmla="*/ 0 h 27432"/>
              <a:gd name="csX7" fmla="*/ 4074795 w 10515600"/>
              <a:gd name="csY7" fmla="*/ 0 h 27432"/>
              <a:gd name="csX8" fmla="*/ 4416552 w 10515600"/>
              <a:gd name="csY8" fmla="*/ 0 h 27432"/>
              <a:gd name="csX9" fmla="*/ 5073777 w 10515600"/>
              <a:gd name="csY9" fmla="*/ 0 h 27432"/>
              <a:gd name="csX10" fmla="*/ 5941314 w 10515600"/>
              <a:gd name="csY10" fmla="*/ 0 h 27432"/>
              <a:gd name="csX11" fmla="*/ 6493383 w 10515600"/>
              <a:gd name="csY11" fmla="*/ 0 h 27432"/>
              <a:gd name="csX12" fmla="*/ 7045452 w 10515600"/>
              <a:gd name="csY12" fmla="*/ 0 h 27432"/>
              <a:gd name="csX13" fmla="*/ 7702677 w 10515600"/>
              <a:gd name="csY13" fmla="*/ 0 h 27432"/>
              <a:gd name="csX14" fmla="*/ 8465058 w 10515600"/>
              <a:gd name="csY14" fmla="*/ 0 h 27432"/>
              <a:gd name="csX15" fmla="*/ 9227439 w 10515600"/>
              <a:gd name="csY15" fmla="*/ 0 h 27432"/>
              <a:gd name="csX16" fmla="*/ 10515600 w 10515600"/>
              <a:gd name="csY16" fmla="*/ 0 h 27432"/>
              <a:gd name="csX17" fmla="*/ 10515600 w 10515600"/>
              <a:gd name="csY17" fmla="*/ 27432 h 27432"/>
              <a:gd name="csX18" fmla="*/ 10068687 w 10515600"/>
              <a:gd name="csY18" fmla="*/ 27432 h 27432"/>
              <a:gd name="csX19" fmla="*/ 9201150 w 10515600"/>
              <a:gd name="csY19" fmla="*/ 27432 h 27432"/>
              <a:gd name="csX20" fmla="*/ 8543925 w 10515600"/>
              <a:gd name="csY20" fmla="*/ 27432 h 27432"/>
              <a:gd name="csX21" fmla="*/ 8202168 w 10515600"/>
              <a:gd name="csY21" fmla="*/ 27432 h 27432"/>
              <a:gd name="csX22" fmla="*/ 7544943 w 10515600"/>
              <a:gd name="csY22" fmla="*/ 27432 h 27432"/>
              <a:gd name="csX23" fmla="*/ 6992874 w 10515600"/>
              <a:gd name="csY23" fmla="*/ 27432 h 27432"/>
              <a:gd name="csX24" fmla="*/ 6440805 w 10515600"/>
              <a:gd name="csY24" fmla="*/ 27432 h 27432"/>
              <a:gd name="csX25" fmla="*/ 5888736 w 10515600"/>
              <a:gd name="csY25" fmla="*/ 27432 h 27432"/>
              <a:gd name="csX26" fmla="*/ 5336667 w 10515600"/>
              <a:gd name="csY26" fmla="*/ 27432 h 27432"/>
              <a:gd name="csX27" fmla="*/ 4574286 w 10515600"/>
              <a:gd name="csY27" fmla="*/ 27432 h 27432"/>
              <a:gd name="csX28" fmla="*/ 3917061 w 10515600"/>
              <a:gd name="csY28" fmla="*/ 27432 h 27432"/>
              <a:gd name="csX29" fmla="*/ 3575304 w 10515600"/>
              <a:gd name="csY29" fmla="*/ 27432 h 27432"/>
              <a:gd name="csX30" fmla="*/ 3023235 w 10515600"/>
              <a:gd name="csY30" fmla="*/ 27432 h 27432"/>
              <a:gd name="csX31" fmla="*/ 2260854 w 10515600"/>
              <a:gd name="csY31" fmla="*/ 27432 h 27432"/>
              <a:gd name="csX32" fmla="*/ 1813941 w 10515600"/>
              <a:gd name="csY32" fmla="*/ 27432 h 27432"/>
              <a:gd name="csX33" fmla="*/ 946404 w 10515600"/>
              <a:gd name="csY33" fmla="*/ 27432 h 27432"/>
              <a:gd name="csX34" fmla="*/ 0 w 10515600"/>
              <a:gd name="csY34" fmla="*/ 27432 h 27432"/>
              <a:gd name="csX35" fmla="*/ 0 w 10515600"/>
              <a:gd name="csY35"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5610095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9AC0-40CD-4451-BF00-5E2FC7B7451B}"/>
              </a:ext>
            </a:extLst>
          </p:cNvPr>
          <p:cNvSpPr>
            <a:spLocks noGrp="1"/>
          </p:cNvSpPr>
          <p:nvPr>
            <p:ph type="title"/>
          </p:nvPr>
        </p:nvSpPr>
        <p:spPr>
          <a:xfrm>
            <a:off x="2203704" y="1728216"/>
            <a:ext cx="7781544" cy="3392424"/>
          </a:xfrm>
        </p:spPr>
        <p:txBody>
          <a:bodyPr>
            <a:normAutofit/>
          </a:bodyPr>
          <a:lstStyle>
            <a:lvl1pPr algn="ctr">
              <a:defRPr sz="7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6FD9A32-9C83-452B-BC69-CC6E95D3C93C}"/>
              </a:ext>
            </a:extLst>
          </p:cNvPr>
          <p:cNvSpPr>
            <a:spLocks noGrp="1"/>
          </p:cNvSpPr>
          <p:nvPr>
            <p:ph type="dt" sz="half" idx="10"/>
          </p:nvPr>
        </p:nvSpPr>
        <p:spPr/>
        <p:txBody>
          <a:bodyPr/>
          <a:lstStyle/>
          <a:p>
            <a:fld id="{72345051-2045-45DA-935E-2E3CA1A69ADC}" type="datetimeFigureOut">
              <a:rPr lang="en-US" smtClean="0"/>
              <a:t>6/17/26</a:t>
            </a:fld>
            <a:endParaRPr lang="en-US"/>
          </a:p>
        </p:txBody>
      </p:sp>
      <p:sp>
        <p:nvSpPr>
          <p:cNvPr id="4" name="Footer Placeholder 3">
            <a:extLst>
              <a:ext uri="{FF2B5EF4-FFF2-40B4-BE49-F238E27FC236}">
                <a16:creationId xmlns:a16="http://schemas.microsoft.com/office/drawing/2014/main" id="{6B87B83E-E23E-42DE-876D-F55908A97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1C03A8-D428-4010-B413-13B1E992262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6" name="Rectangle 6" descr="Tag=AccentColor&#10;Flavor=Light&#10;Target=FillAndLine">
            <a:extLst>
              <a:ext uri="{FF2B5EF4-FFF2-40B4-BE49-F238E27FC236}">
                <a16:creationId xmlns:a16="http://schemas.microsoft.com/office/drawing/2014/main" id="{17F03060-85EC-4182-8C18-C6EE0D373E4B}"/>
              </a:ext>
            </a:extLst>
          </p:cNvPr>
          <p:cNvSpPr/>
          <p:nvPr/>
        </p:nvSpPr>
        <p:spPr>
          <a:xfrm>
            <a:off x="3974206" y="5126892"/>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0858221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fld id="{72345051-2045-45DA-935E-2E3CA1A69ADC}" type="datetimeFigureOut">
              <a:rPr lang="en-US" smtClean="0"/>
              <a:t>6/17/26</a:t>
            </a:fld>
            <a:endParaRPr lang="en-US"/>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26529347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fld id="{72345051-2045-45DA-935E-2E3CA1A69ADC}" type="datetimeFigureOut">
              <a:rPr lang="en-US" smtClean="0"/>
              <a:t>6/17/26</a:t>
            </a:fld>
            <a:endParaRPr lang="en-US"/>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sX0" fmla="*/ 0 w 4480560"/>
              <a:gd name="csY0" fmla="*/ 0 h 27432"/>
              <a:gd name="csX1" fmla="*/ 595274 w 4480560"/>
              <a:gd name="csY1" fmla="*/ 0 h 27432"/>
              <a:gd name="csX2" fmla="*/ 1100938 w 4480560"/>
              <a:gd name="csY2" fmla="*/ 0 h 27432"/>
              <a:gd name="csX3" fmla="*/ 1651406 w 4480560"/>
              <a:gd name="csY3" fmla="*/ 0 h 27432"/>
              <a:gd name="csX4" fmla="*/ 2336292 w 4480560"/>
              <a:gd name="csY4" fmla="*/ 0 h 27432"/>
              <a:gd name="csX5" fmla="*/ 2931566 w 4480560"/>
              <a:gd name="csY5" fmla="*/ 0 h 27432"/>
              <a:gd name="csX6" fmla="*/ 3482035 w 4480560"/>
              <a:gd name="csY6" fmla="*/ 0 h 27432"/>
              <a:gd name="csX7" fmla="*/ 4480560 w 4480560"/>
              <a:gd name="csY7" fmla="*/ 0 h 27432"/>
              <a:gd name="csX8" fmla="*/ 4480560 w 4480560"/>
              <a:gd name="csY8" fmla="*/ 27432 h 27432"/>
              <a:gd name="csX9" fmla="*/ 3840480 w 4480560"/>
              <a:gd name="csY9" fmla="*/ 27432 h 27432"/>
              <a:gd name="csX10" fmla="*/ 3290011 w 4480560"/>
              <a:gd name="csY10" fmla="*/ 27432 h 27432"/>
              <a:gd name="csX11" fmla="*/ 2560320 w 4480560"/>
              <a:gd name="csY11" fmla="*/ 27432 h 27432"/>
              <a:gd name="csX12" fmla="*/ 1965046 w 4480560"/>
              <a:gd name="csY12" fmla="*/ 27432 h 27432"/>
              <a:gd name="csX13" fmla="*/ 1459382 w 4480560"/>
              <a:gd name="csY13" fmla="*/ 27432 h 27432"/>
              <a:gd name="csX14" fmla="*/ 774497 w 4480560"/>
              <a:gd name="csY14" fmla="*/ 27432 h 27432"/>
              <a:gd name="csX15" fmla="*/ 0 w 4480560"/>
              <a:gd name="csY15" fmla="*/ 27432 h 27432"/>
              <a:gd name="csX16" fmla="*/ 0 w 4480560"/>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35881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fld id="{72345051-2045-45DA-935E-2E3CA1A69ADC}" type="datetimeFigureOut">
              <a:rPr lang="en-US" smtClean="0"/>
              <a:t>6/17/26</a:t>
            </a:fld>
            <a:endParaRPr lang="en-US"/>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sX0" fmla="*/ 0 w 4480560"/>
              <a:gd name="csY0" fmla="*/ 0 h 27432"/>
              <a:gd name="csX1" fmla="*/ 595274 w 4480560"/>
              <a:gd name="csY1" fmla="*/ 0 h 27432"/>
              <a:gd name="csX2" fmla="*/ 1100938 w 4480560"/>
              <a:gd name="csY2" fmla="*/ 0 h 27432"/>
              <a:gd name="csX3" fmla="*/ 1651406 w 4480560"/>
              <a:gd name="csY3" fmla="*/ 0 h 27432"/>
              <a:gd name="csX4" fmla="*/ 2336292 w 4480560"/>
              <a:gd name="csY4" fmla="*/ 0 h 27432"/>
              <a:gd name="csX5" fmla="*/ 2931566 w 4480560"/>
              <a:gd name="csY5" fmla="*/ 0 h 27432"/>
              <a:gd name="csX6" fmla="*/ 3482035 w 4480560"/>
              <a:gd name="csY6" fmla="*/ 0 h 27432"/>
              <a:gd name="csX7" fmla="*/ 4480560 w 4480560"/>
              <a:gd name="csY7" fmla="*/ 0 h 27432"/>
              <a:gd name="csX8" fmla="*/ 4480560 w 4480560"/>
              <a:gd name="csY8" fmla="*/ 27432 h 27432"/>
              <a:gd name="csX9" fmla="*/ 3840480 w 4480560"/>
              <a:gd name="csY9" fmla="*/ 27432 h 27432"/>
              <a:gd name="csX10" fmla="*/ 3290011 w 4480560"/>
              <a:gd name="csY10" fmla="*/ 27432 h 27432"/>
              <a:gd name="csX11" fmla="*/ 2560320 w 4480560"/>
              <a:gd name="csY11" fmla="*/ 27432 h 27432"/>
              <a:gd name="csX12" fmla="*/ 1965046 w 4480560"/>
              <a:gd name="csY12" fmla="*/ 27432 h 27432"/>
              <a:gd name="csX13" fmla="*/ 1459382 w 4480560"/>
              <a:gd name="csY13" fmla="*/ 27432 h 27432"/>
              <a:gd name="csX14" fmla="*/ 774497 w 4480560"/>
              <a:gd name="csY14" fmla="*/ 27432 h 27432"/>
              <a:gd name="csX15" fmla="*/ 0 w 4480560"/>
              <a:gd name="csY15" fmla="*/ 27432 h 27432"/>
              <a:gd name="csX16" fmla="*/ 0 w 4480560"/>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59173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CF8D-FF51-4FD8-B968-A2C85073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61A953-02EA-491B-A215-AF8420D74D3A}"/>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4084D1E-BC98-44E4-8D2C-89CCDC293331}"/>
              </a:ext>
            </a:extLst>
          </p:cNvPr>
          <p:cNvSpPr>
            <a:spLocks noGrp="1"/>
          </p:cNvSpPr>
          <p:nvPr>
            <p:ph type="dt" sz="half" idx="10"/>
          </p:nvPr>
        </p:nvSpPr>
        <p:spPr/>
        <p:txBody>
          <a:bodyPr/>
          <a:lstStyle/>
          <a:p>
            <a:fld id="{72345051-2045-45DA-935E-2E3CA1A69ADC}" type="datetimeFigureOut">
              <a:rPr lang="en-US" smtClean="0"/>
              <a:t>6/17/26</a:t>
            </a:fld>
            <a:endParaRPr lang="en-US"/>
          </a:p>
        </p:txBody>
      </p:sp>
      <p:sp>
        <p:nvSpPr>
          <p:cNvPr id="5" name="Footer Placeholder 4">
            <a:extLst>
              <a:ext uri="{FF2B5EF4-FFF2-40B4-BE49-F238E27FC236}">
                <a16:creationId xmlns:a16="http://schemas.microsoft.com/office/drawing/2014/main" id="{513019EB-9C2B-4833-B72A-147694159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6E764-5688-45F5-94ED-A7357D2F568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35197839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E3CB6-3025-40BF-A04B-A7B0CB4C01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DD5CB3-8B24-48C7-89D3-8DCAD36A453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0BC931-E2BF-4C1D-91AA-89F82F8268B2}"/>
              </a:ext>
            </a:extLst>
          </p:cNvPr>
          <p:cNvSpPr>
            <a:spLocks noGrp="1"/>
          </p:cNvSpPr>
          <p:nvPr>
            <p:ph type="dt" sz="half" idx="10"/>
          </p:nvPr>
        </p:nvSpPr>
        <p:spPr/>
        <p:txBody>
          <a:bodyPr/>
          <a:lstStyle/>
          <a:p>
            <a:fld id="{72345051-2045-45DA-935E-2E3CA1A69ADC}" type="datetimeFigureOut">
              <a:rPr lang="en-US" smtClean="0"/>
              <a:t>6/17/26</a:t>
            </a:fld>
            <a:endParaRPr lang="en-US"/>
          </a:p>
        </p:txBody>
      </p:sp>
      <p:sp>
        <p:nvSpPr>
          <p:cNvPr id="5" name="Footer Placeholder 4">
            <a:extLst>
              <a:ext uri="{FF2B5EF4-FFF2-40B4-BE49-F238E27FC236}">
                <a16:creationId xmlns:a16="http://schemas.microsoft.com/office/drawing/2014/main" id="{7548A135-AEE9-4483-957E-3D143318D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DEFD4-A052-46B3-B2AE-F3091D8A2F7B}"/>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60130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0">
            <a:alphaModFix/>
          </a:blip>
          <a:stretch>
            <a:fillRect/>
          </a:stretch>
        </a:blipFill>
        <a:effectLst/>
      </p:bgPr>
    </p:bg>
    <p:spTree>
      <p:nvGrpSpPr>
        <p:cNvPr id="1" name="Shape 9"/>
        <p:cNvGrpSpPr/>
        <p:nvPr/>
      </p:nvGrpSpPr>
      <p:grpSpPr>
        <a:xfrm>
          <a:off x="0" y="0"/>
          <a:ext cx="0" cy="0"/>
          <a:chOff x="0" y="0"/>
          <a:chExt cx="0" cy="0"/>
        </a:xfrm>
      </p:grpSpPr>
      <p:sp>
        <p:nvSpPr>
          <p:cNvPr id="10" name="Google Shape;10;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4400"/>
              <a:buFont typeface="Calibri"/>
              <a:buNone/>
              <a:defRPr sz="4400" b="0"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9pPr>
          </a:lstStyle>
          <a:p>
            <a:endParaRPr/>
          </a:p>
        </p:txBody>
      </p:sp>
      <p:sp>
        <p:nvSpPr>
          <p:cNvPr id="12" name="Google Shape;12;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9pPr>
          </a:lstStyle>
          <a:p>
            <a:endParaRPr/>
          </a:p>
        </p:txBody>
      </p:sp>
      <p:sp>
        <p:nvSpPr>
          <p:cNvPr id="13" name="Google Shape;13;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9pPr>
          </a:lstStyle>
          <a:p>
            <a:endParaRPr/>
          </a:p>
        </p:txBody>
      </p:sp>
      <p:sp>
        <p:nvSpPr>
          <p:cNvPr id="14" name="Google Shape;14;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lt1"/>
                </a:solidFill>
                <a:latin typeface="Calibri"/>
                <a:ea typeface="Calibri"/>
                <a:cs typeface="Calibri"/>
                <a:sym typeface="Calibri"/>
              </a:defRPr>
            </a:lvl1pPr>
            <a:lvl2pPr marL="0" marR="0" lvl="1" indent="0" algn="r" rtl="0">
              <a:spcBef>
                <a:spcPts val="0"/>
              </a:spcBef>
              <a:buNone/>
              <a:defRPr sz="1200" b="0" i="0" u="none" strike="noStrike" cap="none">
                <a:solidFill>
                  <a:schemeClr val="lt1"/>
                </a:solidFill>
                <a:latin typeface="Calibri"/>
                <a:ea typeface="Calibri"/>
                <a:cs typeface="Calibri"/>
                <a:sym typeface="Calibri"/>
              </a:defRPr>
            </a:lvl2pPr>
            <a:lvl3pPr marL="0" marR="0" lvl="2" indent="0" algn="r" rtl="0">
              <a:spcBef>
                <a:spcPts val="0"/>
              </a:spcBef>
              <a:buNone/>
              <a:defRPr sz="1200" b="0" i="0" u="none" strike="noStrike" cap="none">
                <a:solidFill>
                  <a:schemeClr val="lt1"/>
                </a:solidFill>
                <a:latin typeface="Calibri"/>
                <a:ea typeface="Calibri"/>
                <a:cs typeface="Calibri"/>
                <a:sym typeface="Calibri"/>
              </a:defRPr>
            </a:lvl3pPr>
            <a:lvl4pPr marL="0" marR="0" lvl="3" indent="0" algn="r" rtl="0">
              <a:spcBef>
                <a:spcPts val="0"/>
              </a:spcBef>
              <a:buNone/>
              <a:defRPr sz="1200" b="0" i="0" u="none" strike="noStrike" cap="none">
                <a:solidFill>
                  <a:schemeClr val="lt1"/>
                </a:solidFill>
                <a:latin typeface="Calibri"/>
                <a:ea typeface="Calibri"/>
                <a:cs typeface="Calibri"/>
                <a:sym typeface="Calibri"/>
              </a:defRPr>
            </a:lvl4pPr>
            <a:lvl5pPr marL="0" marR="0" lvl="4" indent="0" algn="r" rtl="0">
              <a:spcBef>
                <a:spcPts val="0"/>
              </a:spcBef>
              <a:buNone/>
              <a:defRPr sz="1200" b="0" i="0" u="none" strike="noStrike" cap="none">
                <a:solidFill>
                  <a:schemeClr val="lt1"/>
                </a:solidFill>
                <a:latin typeface="Calibri"/>
                <a:ea typeface="Calibri"/>
                <a:cs typeface="Calibri"/>
                <a:sym typeface="Calibri"/>
              </a:defRPr>
            </a:lvl5pPr>
            <a:lvl6pPr marL="0" marR="0" lvl="5" indent="0" algn="r" rtl="0">
              <a:spcBef>
                <a:spcPts val="0"/>
              </a:spcBef>
              <a:buNone/>
              <a:defRPr sz="1200" b="0" i="0" u="none" strike="noStrike" cap="none">
                <a:solidFill>
                  <a:schemeClr val="lt1"/>
                </a:solidFill>
                <a:latin typeface="Calibri"/>
                <a:ea typeface="Calibri"/>
                <a:cs typeface="Calibri"/>
                <a:sym typeface="Calibri"/>
              </a:defRPr>
            </a:lvl6pPr>
            <a:lvl7pPr marL="0" marR="0" lvl="6" indent="0" algn="r" rtl="0">
              <a:spcBef>
                <a:spcPts val="0"/>
              </a:spcBef>
              <a:buNone/>
              <a:defRPr sz="1200" b="0" i="0" u="none" strike="noStrike" cap="none">
                <a:solidFill>
                  <a:schemeClr val="lt1"/>
                </a:solidFill>
                <a:latin typeface="Calibri"/>
                <a:ea typeface="Calibri"/>
                <a:cs typeface="Calibri"/>
                <a:sym typeface="Calibri"/>
              </a:defRPr>
            </a:lvl7pPr>
            <a:lvl8pPr marL="0" marR="0" lvl="7" indent="0" algn="r" rtl="0">
              <a:spcBef>
                <a:spcPts val="0"/>
              </a:spcBef>
              <a:buNone/>
              <a:defRPr sz="1200" b="0" i="0" u="none" strike="noStrike" cap="none">
                <a:solidFill>
                  <a:schemeClr val="lt1"/>
                </a:solidFill>
                <a:latin typeface="Calibri"/>
                <a:ea typeface="Calibri"/>
                <a:cs typeface="Calibri"/>
                <a:sym typeface="Calibri"/>
              </a:defRPr>
            </a:lvl8pPr>
            <a:lvl9pPr marL="0" marR="0" lvl="8" indent="0" algn="r" rtl="0">
              <a:spcBef>
                <a:spcPts val="0"/>
              </a:spcBef>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3" r:id="rId2"/>
    <p:sldLayoutId id="2147483654" r:id="rId3"/>
    <p:sldLayoutId id="2147483655" r:id="rId4"/>
    <p:sldLayoutId id="2147483656" r:id="rId5"/>
    <p:sldLayoutId id="2147483657" r:id="rId6"/>
    <p:sldLayoutId id="2147483658" r:id="rId7"/>
    <p:sldLayoutId id="2147483659"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72345051-2045-45DA-935E-2E3CA1A69ADC}" type="datetimeFigureOut">
              <a:rPr lang="en-US" smtClean="0"/>
              <a:t>6/17/26</a:t>
            </a:fld>
            <a:endParaRPr lang="en-US" dirty="0"/>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A7CD31F4-64FA-4BA0-9498-67783267A8C8}" type="slidenum">
              <a:rPr lang="en-US" smtClean="0"/>
              <a:t>‹#›</a:t>
            </a:fld>
            <a:endParaRPr lang="en-US" dirty="0"/>
          </a:p>
        </p:txBody>
      </p:sp>
    </p:spTree>
    <p:extLst>
      <p:ext uri="{BB962C8B-B14F-4D97-AF65-F5344CB8AC3E}">
        <p14:creationId xmlns:p14="http://schemas.microsoft.com/office/powerpoint/2010/main" val="6229487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100000"/>
        </a:lnSpc>
        <a:spcBef>
          <a:spcPct val="0"/>
        </a:spcBef>
        <a:buNone/>
        <a:defRPr sz="48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4.jpe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slideLayout" Target="../slideLayouts/slideLayout10.xml"/><Relationship Id="rId4" Type="http://schemas.openxmlformats.org/officeDocument/2006/relationships/image" Target="../media/image17.jpg"/></Relationships>
</file>

<file path=ppt/slides/_rels/slide1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7.png"/><Relationship Id="rId1" Type="http://schemas.openxmlformats.org/officeDocument/2006/relationships/slideLayout" Target="../slideLayouts/slideLayout10.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7.png"/><Relationship Id="rId1" Type="http://schemas.openxmlformats.org/officeDocument/2006/relationships/slideLayout" Target="../slideLayouts/slideLayout10.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image" Target="../media/image27.jpeg"/></Relationships>
</file>

<file path=ppt/slides/_rels/slide2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microsoft.com/office/2007/relationships/hdphoto" Target="../media/hdphoto2.wdp"/></Relationships>
</file>

<file path=ppt/slides/_rels/slide27.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0.xml"/><Relationship Id="rId4" Type="http://schemas.openxmlformats.org/officeDocument/2006/relationships/image" Target="../media/image38.jpeg"/></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0.xml"/><Relationship Id="rId4" Type="http://schemas.openxmlformats.org/officeDocument/2006/relationships/image" Target="../media/image39.jpeg"/></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0.xml"/><Relationship Id="rId4" Type="http://schemas.openxmlformats.org/officeDocument/2006/relationships/image" Target="../media/image40.pn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0.xml"/><Relationship Id="rId5" Type="http://schemas.openxmlformats.org/officeDocument/2006/relationships/image" Target="../media/image42.jpeg"/><Relationship Id="rId4" Type="http://schemas.openxmlformats.org/officeDocument/2006/relationships/image" Target="../media/image41.png"/></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0.xml"/><Relationship Id="rId5" Type="http://schemas.openxmlformats.org/officeDocument/2006/relationships/image" Target="../media/image44.jpeg"/><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7.png"/><Relationship Id="rId1" Type="http://schemas.openxmlformats.org/officeDocument/2006/relationships/slideLayout" Target="../slideLayouts/slideLayout10.xml"/><Relationship Id="rId4" Type="http://schemas.openxmlformats.org/officeDocument/2006/relationships/image" Target="../media/image49.emf"/></Relationships>
</file>

<file path=ppt/slides/_rels/slide44.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7.png"/><Relationship Id="rId1" Type="http://schemas.openxmlformats.org/officeDocument/2006/relationships/slideLayout" Target="../slideLayouts/slideLayout10.xml"/><Relationship Id="rId4" Type="http://schemas.openxmlformats.org/officeDocument/2006/relationships/image" Target="../media/image51.emf"/></Relationships>
</file>

<file path=ppt/slides/_rels/slide45.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7.png"/><Relationship Id="rId1" Type="http://schemas.openxmlformats.org/officeDocument/2006/relationships/slideLayout" Target="../slideLayouts/slideLayout10.xml"/><Relationship Id="rId4" Type="http://schemas.openxmlformats.org/officeDocument/2006/relationships/image" Target="../media/image53.emf"/></Relationships>
</file>

<file path=ppt/slides/_rels/slide46.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3" Type="http://schemas.openxmlformats.org/officeDocument/2006/relationships/image" Target="../media/image55.emf"/><Relationship Id="rId7" Type="http://schemas.openxmlformats.org/officeDocument/2006/relationships/image" Target="../media/image59.emf"/><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8.emf"/><Relationship Id="rId5" Type="http://schemas.openxmlformats.org/officeDocument/2006/relationships/image" Target="../media/image57.emf"/><Relationship Id="rId4" Type="http://schemas.openxmlformats.org/officeDocument/2006/relationships/image" Target="../media/image5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100;p3">
            <a:extLst>
              <a:ext uri="{FF2B5EF4-FFF2-40B4-BE49-F238E27FC236}">
                <a16:creationId xmlns:a16="http://schemas.microsoft.com/office/drawing/2014/main" id="{CCA04E91-341D-248D-3AFF-15EBCB3C8C25}"/>
              </a:ext>
            </a:extLst>
          </p:cNvPr>
          <p:cNvSpPr txBox="1"/>
          <p:nvPr/>
        </p:nvSpPr>
        <p:spPr>
          <a:xfrm>
            <a:off x="35912" y="369741"/>
            <a:ext cx="6060088" cy="637424"/>
          </a:xfrm>
          <a:prstGeom prst="rect">
            <a:avLst/>
          </a:prstGeom>
          <a:solidFill>
            <a:schemeClr val="tx1"/>
          </a:soli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lt1"/>
              </a:buClr>
              <a:buSzPts val="3200"/>
              <a:buFont typeface="Arial"/>
              <a:buNone/>
            </a:pPr>
            <a:r>
              <a:rPr lang="en-US" sz="4400" b="0" i="0" u="none" strike="noStrike" cap="none" dirty="0">
                <a:solidFill>
                  <a:schemeClr val="lt1"/>
                </a:solidFill>
                <a:latin typeface="Arial Black"/>
                <a:ea typeface="Arial Black"/>
                <a:cs typeface="Arial Black"/>
                <a:sym typeface="Arial Black"/>
              </a:rPr>
              <a:t>UNIT 1 TOPICS</a:t>
            </a:r>
            <a:endParaRPr sz="4000" dirty="0"/>
          </a:p>
          <a:p>
            <a:pPr marL="0" marR="0" lvl="0" indent="0" algn="ctr" rtl="0">
              <a:lnSpc>
                <a:spcPct val="90000"/>
              </a:lnSpc>
              <a:spcBef>
                <a:spcPts val="1000"/>
              </a:spcBef>
              <a:spcAft>
                <a:spcPts val="0"/>
              </a:spcAft>
              <a:buClr>
                <a:schemeClr val="lt1"/>
              </a:buClr>
              <a:buSzPts val="3200"/>
              <a:buFont typeface="Arial"/>
              <a:buNone/>
            </a:pPr>
            <a:endParaRPr sz="4400" b="0" i="0" u="none" strike="noStrike" cap="none" dirty="0">
              <a:solidFill>
                <a:schemeClr val="lt1"/>
              </a:solidFill>
              <a:latin typeface="Arial Black"/>
              <a:ea typeface="Arial Black"/>
              <a:cs typeface="Arial Black"/>
              <a:sym typeface="Arial Black"/>
            </a:endParaRPr>
          </a:p>
          <a:p>
            <a:pPr marL="228600" marR="0" lvl="0" indent="-25400" algn="ctr" rtl="0">
              <a:lnSpc>
                <a:spcPct val="90000"/>
              </a:lnSpc>
              <a:spcBef>
                <a:spcPts val="1000"/>
              </a:spcBef>
              <a:spcAft>
                <a:spcPts val="0"/>
              </a:spcAft>
              <a:buClr>
                <a:schemeClr val="lt1"/>
              </a:buClr>
              <a:buSzPts val="3200"/>
              <a:buFont typeface="Arial"/>
              <a:buNone/>
            </a:pPr>
            <a:endParaRPr sz="4400" b="0" i="0" u="none" strike="noStrike" cap="none" dirty="0">
              <a:solidFill>
                <a:schemeClr val="lt1"/>
              </a:solidFill>
              <a:latin typeface="Calibri"/>
              <a:ea typeface="Calibri"/>
              <a:cs typeface="Calibri"/>
              <a:sym typeface="Calibri"/>
            </a:endParaRPr>
          </a:p>
          <a:p>
            <a:pPr marL="0" marR="0" lvl="0" indent="0" algn="ctr" rtl="0">
              <a:lnSpc>
                <a:spcPct val="90000"/>
              </a:lnSpc>
              <a:spcBef>
                <a:spcPts val="1000"/>
              </a:spcBef>
              <a:spcAft>
                <a:spcPts val="0"/>
              </a:spcAft>
              <a:buClr>
                <a:schemeClr val="lt1"/>
              </a:buClr>
              <a:buSzPts val="3200"/>
              <a:buFont typeface="Arial"/>
              <a:buNone/>
            </a:pPr>
            <a:endParaRPr sz="4400" b="0" i="0" u="none" strike="noStrike" cap="none" dirty="0">
              <a:solidFill>
                <a:schemeClr val="lt1"/>
              </a:solidFill>
              <a:latin typeface="Arial Black"/>
              <a:ea typeface="Arial Black"/>
              <a:cs typeface="Arial Black"/>
              <a:sym typeface="Arial Black"/>
            </a:endParaRPr>
          </a:p>
        </p:txBody>
      </p:sp>
      <p:pic>
        <p:nvPicPr>
          <p:cNvPr id="6" name="Picture 5" descr="A white and blue text with black text&#10;&#10;AI-generated content may be incorrect.">
            <a:extLst>
              <a:ext uri="{FF2B5EF4-FFF2-40B4-BE49-F238E27FC236}">
                <a16:creationId xmlns:a16="http://schemas.microsoft.com/office/drawing/2014/main" id="{DDE05478-DDF1-6DAB-3EE6-0A7B6EFCEDA4}"/>
              </a:ext>
            </a:extLst>
          </p:cNvPr>
          <p:cNvPicPr>
            <a:picLocks noChangeAspect="1"/>
          </p:cNvPicPr>
          <p:nvPr/>
        </p:nvPicPr>
        <p:blipFill>
          <a:blip r:embed="rId2"/>
          <a:stretch>
            <a:fillRect/>
          </a:stretch>
        </p:blipFill>
        <p:spPr>
          <a:xfrm>
            <a:off x="6096000" y="0"/>
            <a:ext cx="6060088" cy="6858000"/>
          </a:xfrm>
          <a:prstGeom prst="rect">
            <a:avLst/>
          </a:prstGeom>
        </p:spPr>
      </p:pic>
    </p:spTree>
    <p:extLst>
      <p:ext uri="{BB962C8B-B14F-4D97-AF65-F5344CB8AC3E}">
        <p14:creationId xmlns:p14="http://schemas.microsoft.com/office/powerpoint/2010/main" val="2468956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14AA2-1914-C97A-181D-F92AF2528FFD}"/>
            </a:ext>
          </a:extLst>
        </p:cNvPr>
        <p:cNvGrpSpPr/>
        <p:nvPr/>
      </p:nvGrpSpPr>
      <p:grpSpPr>
        <a:xfrm>
          <a:off x="0" y="0"/>
          <a:ext cx="0" cy="0"/>
          <a:chOff x="0" y="0"/>
          <a:chExt cx="0" cy="0"/>
        </a:xfrm>
      </p:grpSpPr>
      <p:pic>
        <p:nvPicPr>
          <p:cNvPr id="3" name="Picture 2" descr="A close-up of a list of scientific formulas&#10;&#10;AI-generated content may be incorrect.">
            <a:extLst>
              <a:ext uri="{FF2B5EF4-FFF2-40B4-BE49-F238E27FC236}">
                <a16:creationId xmlns:a16="http://schemas.microsoft.com/office/drawing/2014/main" id="{017834EB-BB3A-8222-63B3-563ED38BE2CB}"/>
              </a:ext>
            </a:extLst>
          </p:cNvPr>
          <p:cNvPicPr>
            <a:picLocks noChangeAspect="1"/>
          </p:cNvPicPr>
          <p:nvPr/>
        </p:nvPicPr>
        <p:blipFill>
          <a:blip r:embed="rId2"/>
          <a:stretch>
            <a:fillRect/>
          </a:stretch>
        </p:blipFill>
        <p:spPr>
          <a:xfrm>
            <a:off x="2173357" y="1007165"/>
            <a:ext cx="10018643" cy="3277413"/>
          </a:xfrm>
          <a:prstGeom prst="rect">
            <a:avLst/>
          </a:prstGeom>
        </p:spPr>
      </p:pic>
      <p:pic>
        <p:nvPicPr>
          <p:cNvPr id="5" name="Picture 4" descr="A close-up of a paper&#10;&#10;AI-generated content may be incorrect.">
            <a:extLst>
              <a:ext uri="{FF2B5EF4-FFF2-40B4-BE49-F238E27FC236}">
                <a16:creationId xmlns:a16="http://schemas.microsoft.com/office/drawing/2014/main" id="{CA267DAA-5A74-F39D-8C45-646D0561147E}"/>
              </a:ext>
            </a:extLst>
          </p:cNvPr>
          <p:cNvPicPr>
            <a:picLocks noChangeAspect="1"/>
          </p:cNvPicPr>
          <p:nvPr/>
        </p:nvPicPr>
        <p:blipFill>
          <a:blip r:embed="rId3"/>
          <a:stretch>
            <a:fillRect/>
          </a:stretch>
        </p:blipFill>
        <p:spPr>
          <a:xfrm>
            <a:off x="6096000" y="4336720"/>
            <a:ext cx="5928415" cy="2521280"/>
          </a:xfrm>
          <a:prstGeom prst="rect">
            <a:avLst/>
          </a:prstGeom>
        </p:spPr>
      </p:pic>
      <p:sp>
        <p:nvSpPr>
          <p:cNvPr id="8" name="Google Shape;100;p3">
            <a:extLst>
              <a:ext uri="{FF2B5EF4-FFF2-40B4-BE49-F238E27FC236}">
                <a16:creationId xmlns:a16="http://schemas.microsoft.com/office/drawing/2014/main" id="{81E79FE0-CA0C-5E18-7678-C224DC932E2C}"/>
              </a:ext>
            </a:extLst>
          </p:cNvPr>
          <p:cNvSpPr txBox="1"/>
          <p:nvPr/>
        </p:nvSpPr>
        <p:spPr>
          <a:xfrm>
            <a:off x="35912" y="369741"/>
            <a:ext cx="11705514" cy="637424"/>
          </a:xfrm>
          <a:prstGeom prst="rect">
            <a:avLst/>
          </a:prstGeom>
          <a:solidFill>
            <a:schemeClr val="tx1"/>
          </a:soli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lt1"/>
              </a:buClr>
              <a:buSzPts val="3200"/>
              <a:buFont typeface="Arial"/>
              <a:buNone/>
            </a:pPr>
            <a:r>
              <a:rPr lang="en-US" sz="4400" b="0" i="0" u="none" strike="noStrike" cap="none" dirty="0">
                <a:solidFill>
                  <a:schemeClr val="lt1"/>
                </a:solidFill>
                <a:latin typeface="Arial Black"/>
                <a:ea typeface="Arial Black"/>
                <a:cs typeface="Arial Black"/>
                <a:sym typeface="Arial Black"/>
              </a:rPr>
              <a:t>UNIT 1 PRACTICALS -7</a:t>
            </a:r>
            <a:endParaRPr sz="4000" dirty="0"/>
          </a:p>
        </p:txBody>
      </p:sp>
      <p:sp>
        <p:nvSpPr>
          <p:cNvPr id="10" name="Google Shape;100;p3">
            <a:extLst>
              <a:ext uri="{FF2B5EF4-FFF2-40B4-BE49-F238E27FC236}">
                <a16:creationId xmlns:a16="http://schemas.microsoft.com/office/drawing/2014/main" id="{7E292FDE-FA79-3EB0-09AA-752DC2F8BF7B}"/>
              </a:ext>
            </a:extLst>
          </p:cNvPr>
          <p:cNvSpPr txBox="1"/>
          <p:nvPr/>
        </p:nvSpPr>
        <p:spPr>
          <a:xfrm>
            <a:off x="51946" y="2292977"/>
            <a:ext cx="3829878" cy="457101"/>
          </a:xfrm>
          <a:prstGeom prst="rect">
            <a:avLst/>
          </a:prstGeom>
          <a:solidFill>
            <a:schemeClr val="tx1"/>
          </a:soli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lt1"/>
              </a:buClr>
              <a:buSzPts val="3200"/>
              <a:buFont typeface="Arial"/>
              <a:buNone/>
            </a:pPr>
            <a:r>
              <a:rPr lang="en-US" sz="2800" b="0" i="0" u="none" strike="noStrike" cap="none" dirty="0">
                <a:solidFill>
                  <a:schemeClr val="lt1"/>
                </a:solidFill>
                <a:latin typeface="Arial Black"/>
                <a:ea typeface="Arial Black"/>
                <a:cs typeface="Arial Black"/>
                <a:sym typeface="Arial Black"/>
              </a:rPr>
              <a:t>Core </a:t>
            </a:r>
            <a:r>
              <a:rPr lang="en-US" sz="2800" dirty="0" err="1">
                <a:solidFill>
                  <a:schemeClr val="lt1"/>
                </a:solidFill>
                <a:latin typeface="Arial Black"/>
                <a:ea typeface="Arial Black"/>
                <a:cs typeface="Arial Black"/>
                <a:sym typeface="Arial Black"/>
              </a:rPr>
              <a:t>P</a:t>
            </a:r>
            <a:r>
              <a:rPr lang="en-US" sz="2800" b="0" i="0" u="none" strike="noStrike" cap="none" dirty="0" err="1">
                <a:solidFill>
                  <a:schemeClr val="lt1"/>
                </a:solidFill>
                <a:latin typeface="Arial Black"/>
                <a:ea typeface="Arial Black"/>
                <a:cs typeface="Arial Black"/>
                <a:sym typeface="Arial Black"/>
              </a:rPr>
              <a:t>racticals</a:t>
            </a:r>
            <a:r>
              <a:rPr lang="en-US" sz="2800" b="0" i="0" u="none" strike="noStrike" cap="none" dirty="0">
                <a:solidFill>
                  <a:schemeClr val="lt1"/>
                </a:solidFill>
                <a:latin typeface="Arial Black"/>
                <a:ea typeface="Arial Black"/>
                <a:cs typeface="Arial Black"/>
                <a:sym typeface="Arial Black"/>
              </a:rPr>
              <a:t> </a:t>
            </a:r>
            <a:r>
              <a:rPr lang="en-US" sz="2800" b="0" i="0" u="none" strike="noStrike" cap="none" dirty="0">
                <a:solidFill>
                  <a:schemeClr val="lt1"/>
                </a:solidFill>
                <a:latin typeface="Arial Black"/>
                <a:ea typeface="Arial Black"/>
                <a:cs typeface="Arial Black"/>
                <a:sym typeface="Wingdings" pitchFamily="2" charset="2"/>
              </a:rPr>
              <a:t></a:t>
            </a:r>
            <a:endParaRPr sz="2400" dirty="0"/>
          </a:p>
        </p:txBody>
      </p:sp>
      <p:sp>
        <p:nvSpPr>
          <p:cNvPr id="11" name="Google Shape;100;p3">
            <a:extLst>
              <a:ext uri="{FF2B5EF4-FFF2-40B4-BE49-F238E27FC236}">
                <a16:creationId xmlns:a16="http://schemas.microsoft.com/office/drawing/2014/main" id="{47A69682-6286-0A1F-5820-9582A8F7D3DC}"/>
              </a:ext>
            </a:extLst>
          </p:cNvPr>
          <p:cNvSpPr txBox="1"/>
          <p:nvPr/>
        </p:nvSpPr>
        <p:spPr>
          <a:xfrm>
            <a:off x="92765" y="5185321"/>
            <a:ext cx="5777948" cy="457101"/>
          </a:xfrm>
          <a:prstGeom prst="rect">
            <a:avLst/>
          </a:prstGeom>
          <a:solidFill>
            <a:schemeClr val="tx1"/>
          </a:soli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lt1"/>
              </a:buClr>
              <a:buSzPts val="3200"/>
              <a:buFont typeface="Arial"/>
              <a:buNone/>
            </a:pPr>
            <a:r>
              <a:rPr lang="en-US" sz="2800" dirty="0">
                <a:solidFill>
                  <a:schemeClr val="lt1"/>
                </a:solidFill>
                <a:latin typeface="Arial Black"/>
                <a:ea typeface="Arial Black"/>
                <a:cs typeface="Arial Black"/>
                <a:sym typeface="Arial Black"/>
              </a:rPr>
              <a:t>Recommended </a:t>
            </a:r>
            <a:r>
              <a:rPr lang="en-US" sz="2800" dirty="0" err="1">
                <a:solidFill>
                  <a:schemeClr val="lt1"/>
                </a:solidFill>
                <a:latin typeface="Arial Black"/>
                <a:ea typeface="Arial Black"/>
                <a:cs typeface="Arial Black"/>
                <a:sym typeface="Arial Black"/>
              </a:rPr>
              <a:t>P</a:t>
            </a:r>
            <a:r>
              <a:rPr lang="en-US" sz="2800" b="0" i="0" u="none" strike="noStrike" cap="none" dirty="0" err="1">
                <a:solidFill>
                  <a:schemeClr val="lt1"/>
                </a:solidFill>
                <a:latin typeface="Arial Black"/>
                <a:ea typeface="Arial Black"/>
                <a:cs typeface="Arial Black"/>
                <a:sym typeface="Arial Black"/>
              </a:rPr>
              <a:t>racticals</a:t>
            </a:r>
            <a:r>
              <a:rPr lang="en-US" sz="2800" b="0" i="0" u="none" strike="noStrike" cap="none" dirty="0">
                <a:solidFill>
                  <a:schemeClr val="lt1"/>
                </a:solidFill>
                <a:latin typeface="Arial Black"/>
                <a:ea typeface="Arial Black"/>
                <a:cs typeface="Arial Black"/>
                <a:sym typeface="Arial Black"/>
              </a:rPr>
              <a:t> </a:t>
            </a:r>
            <a:r>
              <a:rPr lang="en-US" sz="2800" b="0" i="0" u="none" strike="noStrike" cap="none" dirty="0">
                <a:solidFill>
                  <a:schemeClr val="lt1"/>
                </a:solidFill>
                <a:latin typeface="Arial Black"/>
                <a:ea typeface="Arial Black"/>
                <a:cs typeface="Arial Black"/>
                <a:sym typeface="Wingdings" pitchFamily="2" charset="2"/>
              </a:rPr>
              <a:t></a:t>
            </a:r>
            <a:endParaRPr sz="2400" dirty="0"/>
          </a:p>
        </p:txBody>
      </p:sp>
    </p:spTree>
    <p:extLst>
      <p:ext uri="{BB962C8B-B14F-4D97-AF65-F5344CB8AC3E}">
        <p14:creationId xmlns:p14="http://schemas.microsoft.com/office/powerpoint/2010/main" val="4101007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2"/>
          <p:cNvSpPr/>
          <p:nvPr/>
        </p:nvSpPr>
        <p:spPr>
          <a:xfrm>
            <a:off x="523950" y="582600"/>
            <a:ext cx="11144100" cy="5692800"/>
          </a:xfrm>
          <a:prstGeom prst="rect">
            <a:avLst/>
          </a:prstGeom>
          <a:solidFill>
            <a:srgbClr val="0C0C0C"/>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9" name="Google Shape;89;p2"/>
          <p:cNvSpPr txBox="1"/>
          <p:nvPr/>
        </p:nvSpPr>
        <p:spPr>
          <a:xfrm>
            <a:off x="1317821" y="4668684"/>
            <a:ext cx="10044300" cy="8298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lt1"/>
              </a:buClr>
              <a:buSzPts val="2400"/>
              <a:buFont typeface="Arial"/>
              <a:buNone/>
            </a:pPr>
            <a:r>
              <a:rPr lang="en-GB" sz="4800" b="1" i="0" u="none" strike="noStrike" cap="none" dirty="0">
                <a:solidFill>
                  <a:schemeClr val="lt1"/>
                </a:solidFill>
                <a:latin typeface="Arial Black"/>
                <a:ea typeface="Arial Black"/>
                <a:cs typeface="Arial Black"/>
                <a:sym typeface="Arial Black"/>
              </a:rPr>
              <a:t>WATER</a:t>
            </a:r>
            <a:endParaRPr sz="4800" b="1" i="0" u="none" strike="noStrike" cap="none" dirty="0">
              <a:solidFill>
                <a:schemeClr val="lt1"/>
              </a:solidFill>
              <a:latin typeface="Arial Black"/>
              <a:ea typeface="Arial Black"/>
              <a:cs typeface="Arial Black"/>
              <a:sym typeface="Arial Black"/>
            </a:endParaRPr>
          </a:p>
        </p:txBody>
      </p:sp>
      <p:sp>
        <p:nvSpPr>
          <p:cNvPr id="90" name="Google Shape;90;p2"/>
          <p:cNvSpPr txBox="1"/>
          <p:nvPr/>
        </p:nvSpPr>
        <p:spPr>
          <a:xfrm>
            <a:off x="1073817" y="2976933"/>
            <a:ext cx="10044300" cy="8604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lt1"/>
              </a:buClr>
              <a:buSzPts val="3200"/>
              <a:buFont typeface="Arial"/>
              <a:buNone/>
            </a:pPr>
            <a:endParaRPr sz="3200" b="0" i="0" u="none" strike="noStrike" cap="none">
              <a:solidFill>
                <a:schemeClr val="lt1"/>
              </a:solidFill>
              <a:latin typeface="Arial Black"/>
              <a:ea typeface="Arial Black"/>
              <a:cs typeface="Arial Black"/>
              <a:sym typeface="Arial Black"/>
            </a:endParaRPr>
          </a:p>
        </p:txBody>
      </p:sp>
      <p:pic>
        <p:nvPicPr>
          <p:cNvPr id="91" name="Google Shape;91;p2"/>
          <p:cNvPicPr preferRelativeResize="0"/>
          <p:nvPr/>
        </p:nvPicPr>
        <p:blipFill rotWithShape="1">
          <a:blip r:embed="rId3">
            <a:alphaModFix/>
          </a:blip>
          <a:srcRect/>
          <a:stretch/>
        </p:blipFill>
        <p:spPr>
          <a:xfrm>
            <a:off x="5241770" y="869610"/>
            <a:ext cx="1236293" cy="1396126"/>
          </a:xfrm>
          <a:prstGeom prst="rect">
            <a:avLst/>
          </a:prstGeom>
          <a:noFill/>
          <a:ln>
            <a:noFill/>
          </a:ln>
        </p:spPr>
      </p:pic>
      <p:sp>
        <p:nvSpPr>
          <p:cNvPr id="92" name="Google Shape;92;p2"/>
          <p:cNvSpPr txBox="1"/>
          <p:nvPr/>
        </p:nvSpPr>
        <p:spPr>
          <a:xfrm>
            <a:off x="1032100" y="2265725"/>
            <a:ext cx="10044300" cy="984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lt1"/>
              </a:buClr>
              <a:buSzPts val="5400"/>
              <a:buFont typeface="Arial Black"/>
              <a:buNone/>
            </a:pPr>
            <a:r>
              <a:rPr lang="en-US" sz="5400" b="1">
                <a:solidFill>
                  <a:schemeClr val="lt1"/>
                </a:solidFill>
                <a:latin typeface="Arial Black"/>
                <a:ea typeface="Arial Black"/>
                <a:cs typeface="Arial Black"/>
                <a:sym typeface="Arial Black"/>
              </a:rPr>
              <a:t>BIOLOGY</a:t>
            </a:r>
            <a:endParaRPr/>
          </a:p>
        </p:txBody>
      </p:sp>
      <p:sp>
        <p:nvSpPr>
          <p:cNvPr id="93" name="Google Shape;93;p2"/>
          <p:cNvSpPr txBox="1"/>
          <p:nvPr/>
        </p:nvSpPr>
        <p:spPr>
          <a:xfrm>
            <a:off x="1255896" y="4214336"/>
            <a:ext cx="10044300" cy="8604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lt1"/>
              </a:buClr>
              <a:buSzPts val="3200"/>
              <a:buFont typeface="Arial"/>
              <a:buNone/>
            </a:pPr>
            <a:r>
              <a:rPr lang="en-US" sz="3200" b="0" i="0" u="none" strike="noStrike" cap="none" dirty="0">
                <a:solidFill>
                  <a:schemeClr val="lt1"/>
                </a:solidFill>
                <a:latin typeface="Arial Black"/>
                <a:ea typeface="Arial Black"/>
                <a:cs typeface="Arial Black"/>
                <a:sym typeface="Arial Black"/>
              </a:rPr>
              <a:t>THE CHEMISTRY OF LIFE</a:t>
            </a:r>
            <a:endParaRPr sz="3200" b="0" i="0" u="none" strike="noStrike" cap="none" dirty="0">
              <a:solidFill>
                <a:schemeClr val="lt1"/>
              </a:solidFill>
              <a:latin typeface="Arial Black"/>
              <a:ea typeface="Arial Black"/>
              <a:cs typeface="Arial Black"/>
              <a:sym typeface="Arial Black"/>
            </a:endParaRPr>
          </a:p>
        </p:txBody>
      </p:sp>
      <p:sp>
        <p:nvSpPr>
          <p:cNvPr id="94" name="Google Shape;94;p2"/>
          <p:cNvSpPr txBox="1"/>
          <p:nvPr/>
        </p:nvSpPr>
        <p:spPr>
          <a:xfrm>
            <a:off x="1317821" y="3478573"/>
            <a:ext cx="10044300" cy="984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lt1"/>
              </a:buClr>
              <a:buSzPts val="5400"/>
              <a:buFont typeface="Arial Black"/>
              <a:buNone/>
            </a:pPr>
            <a:r>
              <a:rPr lang="en-US" sz="4400" b="1" dirty="0">
                <a:solidFill>
                  <a:schemeClr val="lt1"/>
                </a:solidFill>
                <a:latin typeface="Arial Black"/>
                <a:ea typeface="Arial Black"/>
                <a:cs typeface="Arial Black"/>
                <a:sym typeface="Arial Black"/>
              </a:rPr>
              <a:t>UNIT 1-TOPIC 1A 1</a:t>
            </a:r>
            <a:endParaRPr sz="1100" dirty="0"/>
          </a:p>
        </p:txBody>
      </p:sp>
      <p:pic>
        <p:nvPicPr>
          <p:cNvPr id="2" name="Picture 2" descr="Commentary: What Our Nation's Drinking Water Systems Need Now - Water  Finance &amp; Management">
            <a:extLst>
              <a:ext uri="{FF2B5EF4-FFF2-40B4-BE49-F238E27FC236}">
                <a16:creationId xmlns:a16="http://schemas.microsoft.com/office/drawing/2014/main" id="{15ED9AA2-A77D-25A7-AFA5-71FBEB5FCDB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5248" r="14540" b="1"/>
          <a:stretch/>
        </p:blipFill>
        <p:spPr bwMode="auto">
          <a:xfrm>
            <a:off x="944283" y="773188"/>
            <a:ext cx="2446380" cy="2438988"/>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2"/>
                                        </p:tgtEl>
                                      </p:cBhvr>
                                    </p:animEffect>
                                    <p:animScale>
                                      <p:cBhvr>
                                        <p:cTn id="7" dur="250" autoRev="1" fill="hold"/>
                                        <p:tgtEl>
                                          <p:spTgt spid="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BB628-F6E4-BDE3-8E48-362CD5E8FAD3}"/>
              </a:ext>
            </a:extLst>
          </p:cNvPr>
          <p:cNvSpPr>
            <a:spLocks noGrp="1"/>
          </p:cNvSpPr>
          <p:nvPr>
            <p:ph type="title"/>
          </p:nvPr>
        </p:nvSpPr>
        <p:spPr/>
        <p:txBody>
          <a:bodyPr/>
          <a:lstStyle/>
          <a:p>
            <a:r>
              <a:rPr lang="en-GB" dirty="0">
                <a:solidFill>
                  <a:srgbClr val="003366"/>
                </a:solidFill>
                <a:latin typeface="Amasis MT Pro Medium" panose="02040604050005020304" pitchFamily="18" charset="0"/>
              </a:rPr>
              <a:t>Prior knowledge</a:t>
            </a:r>
          </a:p>
        </p:txBody>
      </p:sp>
      <p:sp>
        <p:nvSpPr>
          <p:cNvPr id="3" name="Content Placeholder 2">
            <a:extLst>
              <a:ext uri="{FF2B5EF4-FFF2-40B4-BE49-F238E27FC236}">
                <a16:creationId xmlns:a16="http://schemas.microsoft.com/office/drawing/2014/main" id="{3E9F9CE3-E1F2-0027-361B-F70852495952}"/>
              </a:ext>
            </a:extLst>
          </p:cNvPr>
          <p:cNvSpPr>
            <a:spLocks noGrp="1"/>
          </p:cNvSpPr>
          <p:nvPr>
            <p:ph idx="1"/>
          </p:nvPr>
        </p:nvSpPr>
        <p:spPr>
          <a:solidFill>
            <a:schemeClr val="tx1">
              <a:lumMod val="95000"/>
              <a:lumOff val="5000"/>
            </a:schemeClr>
          </a:solidFill>
        </p:spPr>
        <p:txBody>
          <a:bodyPr>
            <a:normAutofit/>
          </a:bodyPr>
          <a:lstStyle/>
          <a:p>
            <a:pPr algn="just">
              <a:buSzPct val="70000"/>
              <a:buFont typeface="Wingdings" panose="05000000000000000000" pitchFamily="2" charset="2"/>
              <a:buChar char="Ø"/>
            </a:pPr>
            <a:r>
              <a:rPr lang="en-GB" dirty="0">
                <a:solidFill>
                  <a:schemeClr val="bg1"/>
                </a:solidFill>
                <a:latin typeface="Arial" panose="020B0604020202020204" pitchFamily="34" charset="0"/>
                <a:cs typeface="Arial" panose="020B0604020202020204" pitchFamily="34" charset="0"/>
              </a:rPr>
              <a:t>Life process depend on molecules whose structure is related to their function.</a:t>
            </a:r>
          </a:p>
          <a:p>
            <a:pPr algn="just">
              <a:buSzPct val="70000"/>
              <a:buFont typeface="Wingdings" panose="05000000000000000000" pitchFamily="2" charset="2"/>
              <a:buChar char="Ø"/>
            </a:pPr>
            <a:r>
              <a:rPr lang="en-GB" dirty="0">
                <a:solidFill>
                  <a:schemeClr val="bg1"/>
                </a:solidFill>
                <a:latin typeface="Arial" panose="020B0604020202020204" pitchFamily="34" charset="0"/>
                <a:cs typeface="Arial" panose="020B0604020202020204" pitchFamily="34" charset="0"/>
              </a:rPr>
              <a:t>All living things are made up of cells.</a:t>
            </a:r>
          </a:p>
          <a:p>
            <a:pPr algn="just">
              <a:buSzPct val="70000"/>
              <a:buFont typeface="Wingdings" panose="05000000000000000000" pitchFamily="2" charset="2"/>
              <a:buChar char="Ø"/>
            </a:pPr>
            <a:r>
              <a:rPr lang="en-GB" dirty="0">
                <a:solidFill>
                  <a:schemeClr val="bg1"/>
                </a:solidFill>
                <a:latin typeface="Arial" panose="020B0604020202020204" pitchFamily="34" charset="0"/>
                <a:cs typeface="Arial" panose="020B0604020202020204" pitchFamily="34" charset="0"/>
              </a:rPr>
              <a:t>Many processes in living cells, including diffusion and osmosis, depend on water.</a:t>
            </a:r>
          </a:p>
          <a:p>
            <a:pPr algn="just">
              <a:buSzPct val="70000"/>
              <a:buFont typeface="Wingdings" panose="05000000000000000000" pitchFamily="2" charset="2"/>
              <a:buChar char="Ø"/>
            </a:pPr>
            <a:r>
              <a:rPr lang="en-GB" dirty="0">
                <a:solidFill>
                  <a:schemeClr val="bg1"/>
                </a:solidFill>
                <a:latin typeface="Arial" panose="020B0604020202020204" pitchFamily="34" charset="0"/>
                <a:cs typeface="Arial" panose="020B0604020202020204" pitchFamily="34" charset="0"/>
              </a:rPr>
              <a:t>Reactions in cells take place in solution in water.</a:t>
            </a:r>
          </a:p>
          <a:p>
            <a:pPr>
              <a:buSzPct val="70000"/>
              <a:buFont typeface="Wingdings" panose="05000000000000000000" pitchFamily="2" charset="2"/>
              <a:buChar char="Ø"/>
            </a:pPr>
            <a:endParaRPr lang="en-MY" sz="3600" dirty="0">
              <a:solidFill>
                <a:schemeClr val="bg1"/>
              </a:solidFill>
              <a:latin typeface="Amasis MT Pro Medium" panose="02040604050005020304" pitchFamily="18" charset="0"/>
            </a:endParaRPr>
          </a:p>
        </p:txBody>
      </p:sp>
    </p:spTree>
    <p:extLst>
      <p:ext uri="{BB962C8B-B14F-4D97-AF65-F5344CB8AC3E}">
        <p14:creationId xmlns:p14="http://schemas.microsoft.com/office/powerpoint/2010/main" val="1745818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3"/>
          <p:cNvSpPr/>
          <p:nvPr/>
        </p:nvSpPr>
        <p:spPr>
          <a:xfrm>
            <a:off x="1073816" y="1180725"/>
            <a:ext cx="10044300" cy="5092500"/>
          </a:xfrm>
          <a:prstGeom prst="rect">
            <a:avLst/>
          </a:prstGeom>
          <a:solidFill>
            <a:srgbClr val="0C0C0C"/>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MY" sz="1800" b="0" i="0" u="none" strike="noStrike" cap="none">
              <a:solidFill>
                <a:schemeClr val="lt1"/>
              </a:solidFill>
              <a:latin typeface="Calibri"/>
              <a:ea typeface="Calibri"/>
              <a:cs typeface="Calibri"/>
              <a:sym typeface="Calibri"/>
            </a:endParaRPr>
          </a:p>
        </p:txBody>
      </p:sp>
      <p:sp>
        <p:nvSpPr>
          <p:cNvPr id="100" name="Google Shape;100;p3"/>
          <p:cNvSpPr txBox="1"/>
          <p:nvPr/>
        </p:nvSpPr>
        <p:spPr>
          <a:xfrm>
            <a:off x="974850" y="1440818"/>
            <a:ext cx="10044333" cy="860544"/>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3200"/>
              <a:buFont typeface="Arial"/>
              <a:buNone/>
            </a:pPr>
            <a:r>
              <a:rPr lang="en-US" sz="3200" b="0" i="0" u="none" strike="noStrike" cap="none" dirty="0">
                <a:solidFill>
                  <a:schemeClr val="lt1"/>
                </a:solidFill>
                <a:latin typeface="Arial Black"/>
                <a:ea typeface="Arial Black"/>
                <a:cs typeface="Arial Black"/>
                <a:sym typeface="Arial Black"/>
              </a:rPr>
              <a:t>  </a:t>
            </a:r>
            <a:r>
              <a:rPr lang="en-US" sz="5400" b="0" i="0" u="none" strike="noStrike" cap="none" dirty="0">
                <a:solidFill>
                  <a:schemeClr val="lt1"/>
                </a:solidFill>
                <a:latin typeface="Arial Black"/>
                <a:ea typeface="Arial Black"/>
                <a:cs typeface="Arial Black"/>
                <a:sym typeface="Arial Black"/>
              </a:rPr>
              <a:t>Learning Objective</a:t>
            </a:r>
            <a:endParaRPr sz="2800" dirty="0"/>
          </a:p>
          <a:p>
            <a:pPr marL="0" marR="0" lvl="0" indent="0" algn="l" rtl="0">
              <a:lnSpc>
                <a:spcPct val="90000"/>
              </a:lnSpc>
              <a:spcBef>
                <a:spcPts val="1000"/>
              </a:spcBef>
              <a:spcAft>
                <a:spcPts val="0"/>
              </a:spcAft>
              <a:buClr>
                <a:schemeClr val="lt1"/>
              </a:buClr>
              <a:buSzPts val="3200"/>
              <a:buFont typeface="Arial"/>
              <a:buNone/>
            </a:pPr>
            <a:endParaRPr sz="3200" b="0" i="0" u="none" strike="noStrike" cap="none" dirty="0">
              <a:solidFill>
                <a:schemeClr val="lt1"/>
              </a:solidFill>
              <a:latin typeface="Arial Black"/>
              <a:ea typeface="Arial Black"/>
              <a:cs typeface="Arial Black"/>
              <a:sym typeface="Arial Black"/>
            </a:endParaRPr>
          </a:p>
          <a:p>
            <a:pPr marL="228600" marR="0" lvl="0" indent="-25400" algn="l" rtl="0">
              <a:lnSpc>
                <a:spcPct val="90000"/>
              </a:lnSpc>
              <a:spcBef>
                <a:spcPts val="1000"/>
              </a:spcBef>
              <a:spcAft>
                <a:spcPts val="0"/>
              </a:spcAft>
              <a:buClr>
                <a:schemeClr val="lt1"/>
              </a:buClr>
              <a:buSzPts val="3200"/>
              <a:buFont typeface="Arial"/>
              <a:buNone/>
            </a:pPr>
            <a:endParaRPr sz="3200" b="0" i="0" u="none" strike="noStrike" cap="none" dirty="0">
              <a:solidFill>
                <a:schemeClr val="lt1"/>
              </a:solidFill>
              <a:latin typeface="Calibri"/>
              <a:ea typeface="Calibri"/>
              <a:cs typeface="Calibri"/>
              <a:sym typeface="Calibri"/>
            </a:endParaRPr>
          </a:p>
          <a:p>
            <a:pPr marL="0" marR="0" lvl="0" indent="0" algn="l" rtl="0">
              <a:lnSpc>
                <a:spcPct val="90000"/>
              </a:lnSpc>
              <a:spcBef>
                <a:spcPts val="1000"/>
              </a:spcBef>
              <a:spcAft>
                <a:spcPts val="0"/>
              </a:spcAft>
              <a:buClr>
                <a:schemeClr val="lt1"/>
              </a:buClr>
              <a:buSzPts val="3200"/>
              <a:buFont typeface="Arial"/>
              <a:buNone/>
            </a:pPr>
            <a:endParaRPr sz="3200" b="0" i="0" u="none" strike="noStrike" cap="none" dirty="0">
              <a:solidFill>
                <a:schemeClr val="lt1"/>
              </a:solidFill>
              <a:latin typeface="Arial Black"/>
              <a:ea typeface="Arial Black"/>
              <a:cs typeface="Arial Black"/>
              <a:sym typeface="Arial Black"/>
            </a:endParaRPr>
          </a:p>
        </p:txBody>
      </p:sp>
      <p:sp>
        <p:nvSpPr>
          <p:cNvPr id="2" name="TextBox 1">
            <a:extLst>
              <a:ext uri="{FF2B5EF4-FFF2-40B4-BE49-F238E27FC236}">
                <a16:creationId xmlns:a16="http://schemas.microsoft.com/office/drawing/2014/main" id="{887687A0-1AC5-64F1-E16B-921CE5DC25C7}"/>
              </a:ext>
            </a:extLst>
          </p:cNvPr>
          <p:cNvSpPr txBox="1"/>
          <p:nvPr/>
        </p:nvSpPr>
        <p:spPr>
          <a:xfrm>
            <a:off x="1073785" y="2442185"/>
            <a:ext cx="9945398" cy="2677656"/>
          </a:xfrm>
          <a:prstGeom prst="rect">
            <a:avLst/>
          </a:prstGeom>
          <a:noFill/>
        </p:spPr>
        <p:txBody>
          <a:bodyPr wrap="square" rtlCol="0">
            <a:spAutoFit/>
          </a:bodyPr>
          <a:lstStyle/>
          <a:p>
            <a:pPr marL="571500" indent="-571500" algn="just">
              <a:buClr>
                <a:schemeClr val="bg1"/>
              </a:buClr>
              <a:buFont typeface="Wingdings" panose="05000000000000000000" pitchFamily="2" charset="2"/>
              <a:buChar char="Ø"/>
            </a:pPr>
            <a:r>
              <a:rPr lang="en-GB" sz="4400" b="0" i="0" u="none" strike="noStrike" cap="none" dirty="0">
                <a:solidFill>
                  <a:schemeClr val="lt1"/>
                </a:solidFill>
                <a:latin typeface="+mj-lt"/>
                <a:ea typeface="Calibri"/>
                <a:cs typeface="Calibri"/>
                <a:sym typeface="Calibri"/>
              </a:rPr>
              <a:t>Understand the importance of water as a solvent in transport, including its dipole nature.</a:t>
            </a:r>
            <a:endParaRPr lang="en-GB" sz="4400" b="0" i="0" u="none" strike="noStrike" cap="none" dirty="0">
              <a:solidFill>
                <a:schemeClr val="lt1"/>
              </a:solidFill>
              <a:latin typeface="+mj-lt"/>
              <a:ea typeface="Arial Black"/>
              <a:cs typeface="Arial Black"/>
              <a:sym typeface="Arial Black"/>
            </a:endParaRPr>
          </a:p>
          <a:p>
            <a:pPr marL="571500" indent="-571500" algn="just">
              <a:buClr>
                <a:schemeClr val="bg1"/>
              </a:buClr>
              <a:buFont typeface="Wingdings" panose="05000000000000000000" pitchFamily="2" charset="2"/>
              <a:buChar char="Ø"/>
            </a:pPr>
            <a:endParaRPr lang="en-MY"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CA239073-7E69-8634-2CA1-44BD6379A90B}"/>
              </a:ext>
            </a:extLst>
          </p:cNvPr>
          <p:cNvPicPr>
            <a:picLocks noChangeAspect="1"/>
          </p:cNvPicPr>
          <p:nvPr/>
        </p:nvPicPr>
        <p:blipFill>
          <a:blip r:embed="rId2"/>
          <a:srcRect l="1666" t="2213" r="1272"/>
          <a:stretch/>
        </p:blipFill>
        <p:spPr>
          <a:xfrm>
            <a:off x="1828801" y="0"/>
            <a:ext cx="9104243" cy="6871292"/>
          </a:xfrm>
          <a:prstGeom prst="rect">
            <a:avLst/>
          </a:prstGeom>
          <a:ln w="19050">
            <a:solidFill>
              <a:schemeClr val="tx1"/>
            </a:solidFill>
          </a:ln>
        </p:spPr>
      </p:pic>
    </p:spTree>
    <p:extLst>
      <p:ext uri="{BB962C8B-B14F-4D97-AF65-F5344CB8AC3E}">
        <p14:creationId xmlns:p14="http://schemas.microsoft.com/office/powerpoint/2010/main" val="2665862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6"/>
          <p:cNvSpPr/>
          <p:nvPr/>
        </p:nvSpPr>
        <p:spPr>
          <a:xfrm>
            <a:off x="1073815" y="1094675"/>
            <a:ext cx="10044300" cy="5092500"/>
          </a:xfrm>
          <a:prstGeom prst="rect">
            <a:avLst/>
          </a:prstGeom>
          <a:solidFill>
            <a:srgbClr val="0C0C0C"/>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9" name="Google Shape;129;p6"/>
          <p:cNvSpPr txBox="1"/>
          <p:nvPr/>
        </p:nvSpPr>
        <p:spPr>
          <a:xfrm>
            <a:off x="1073815" y="1507078"/>
            <a:ext cx="10044333" cy="860544"/>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3200"/>
              <a:buFont typeface="Arial"/>
              <a:buNone/>
            </a:pPr>
            <a:r>
              <a:rPr lang="en-US" sz="3200" b="0" i="0" u="none" strike="noStrike" cap="none">
                <a:solidFill>
                  <a:schemeClr val="lt1"/>
                </a:solidFill>
                <a:latin typeface="Arial Black"/>
                <a:ea typeface="Arial Black"/>
                <a:cs typeface="Arial Black"/>
                <a:sym typeface="Arial Black"/>
              </a:rPr>
              <a:t>  Ionic bonding </a:t>
            </a:r>
            <a:endParaRPr/>
          </a:p>
          <a:p>
            <a:pPr marL="0" marR="0" lvl="0" indent="0" algn="l" rtl="0">
              <a:lnSpc>
                <a:spcPct val="90000"/>
              </a:lnSpc>
              <a:spcBef>
                <a:spcPts val="1000"/>
              </a:spcBef>
              <a:spcAft>
                <a:spcPts val="0"/>
              </a:spcAft>
              <a:buClr>
                <a:schemeClr val="lt1"/>
              </a:buClr>
              <a:buSzPts val="3200"/>
              <a:buFont typeface="Arial"/>
              <a:buNone/>
            </a:pPr>
            <a:endParaRPr sz="3200" b="0" i="0" u="none" strike="noStrike" cap="none">
              <a:solidFill>
                <a:schemeClr val="lt1"/>
              </a:solidFill>
              <a:latin typeface="Calibri"/>
              <a:ea typeface="Calibri"/>
              <a:cs typeface="Calibri"/>
              <a:sym typeface="Calibri"/>
            </a:endParaRPr>
          </a:p>
          <a:p>
            <a:pPr marL="0" marR="0" lvl="0" indent="0" algn="l" rtl="0">
              <a:lnSpc>
                <a:spcPct val="90000"/>
              </a:lnSpc>
              <a:spcBef>
                <a:spcPts val="1000"/>
              </a:spcBef>
              <a:spcAft>
                <a:spcPts val="0"/>
              </a:spcAft>
              <a:buClr>
                <a:schemeClr val="lt1"/>
              </a:buClr>
              <a:buSzPts val="3200"/>
              <a:buFont typeface="Arial"/>
              <a:buNone/>
            </a:pPr>
            <a:endParaRPr sz="3200" b="0" i="0" u="none" strike="noStrike" cap="none">
              <a:solidFill>
                <a:schemeClr val="lt1"/>
              </a:solidFill>
              <a:latin typeface="Arial Black"/>
              <a:ea typeface="Arial Black"/>
              <a:cs typeface="Arial Black"/>
              <a:sym typeface="Arial Black"/>
            </a:endParaRPr>
          </a:p>
        </p:txBody>
      </p:sp>
      <p:graphicFrame>
        <p:nvGraphicFramePr>
          <p:cNvPr id="130" name="Google Shape;130;p6"/>
          <p:cNvGraphicFramePr/>
          <p:nvPr/>
        </p:nvGraphicFramePr>
        <p:xfrm>
          <a:off x="1594655" y="2175934"/>
          <a:ext cx="8898450" cy="3855170"/>
        </p:xfrm>
        <a:graphic>
          <a:graphicData uri="http://schemas.openxmlformats.org/drawingml/2006/table">
            <a:tbl>
              <a:tblPr firstRow="1" bandRow="1">
                <a:noFill/>
                <a:tableStyleId>{B7FB62C7-942A-463B-8B6F-C30A2E581A81}</a:tableStyleId>
              </a:tblPr>
              <a:tblGrid>
                <a:gridCol w="4449225">
                  <a:extLst>
                    <a:ext uri="{9D8B030D-6E8A-4147-A177-3AD203B41FA5}">
                      <a16:colId xmlns:a16="http://schemas.microsoft.com/office/drawing/2014/main" val="20000"/>
                    </a:ext>
                  </a:extLst>
                </a:gridCol>
                <a:gridCol w="4449225">
                  <a:extLst>
                    <a:ext uri="{9D8B030D-6E8A-4147-A177-3AD203B41FA5}">
                      <a16:colId xmlns:a16="http://schemas.microsoft.com/office/drawing/2014/main" val="20001"/>
                    </a:ext>
                  </a:extLst>
                </a:gridCol>
              </a:tblGrid>
              <a:tr h="441400">
                <a:tc>
                  <a:txBody>
                    <a:bodyPr/>
                    <a:lstStyle/>
                    <a:p>
                      <a:pPr marL="0" marR="0" lvl="0" indent="0" algn="ctr" rtl="0">
                        <a:spcBef>
                          <a:spcPts val="0"/>
                        </a:spcBef>
                        <a:spcAft>
                          <a:spcPts val="0"/>
                        </a:spcAft>
                        <a:buNone/>
                      </a:pPr>
                      <a:r>
                        <a:rPr lang="en-US" sz="1800" b="1" u="none" strike="noStrike" cap="none">
                          <a:latin typeface="Arial"/>
                          <a:ea typeface="Arial"/>
                          <a:cs typeface="Arial"/>
                          <a:sym typeface="Arial"/>
                        </a:rPr>
                        <a:t>Ionic bonding </a:t>
                      </a:r>
                      <a:endParaRPr sz="1800" b="1" u="none" strike="noStrike" cap="none">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1800" b="1" u="none" strike="noStrike" cap="none">
                          <a:latin typeface="Arial"/>
                          <a:ea typeface="Arial"/>
                          <a:cs typeface="Arial"/>
                          <a:sym typeface="Arial"/>
                        </a:rPr>
                        <a:t>Example</a:t>
                      </a:r>
                      <a:endParaRPr sz="1800" b="1"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0"/>
                  </a:ext>
                </a:extLst>
              </a:tr>
              <a:tr h="3309325">
                <a:tc>
                  <a:txBody>
                    <a:bodyPr/>
                    <a:lstStyle/>
                    <a:p>
                      <a:pPr marL="285750" marR="0" lvl="0" indent="-285750" algn="just" rtl="0">
                        <a:spcBef>
                          <a:spcPts val="0"/>
                        </a:spcBef>
                        <a:spcAft>
                          <a:spcPts val="0"/>
                        </a:spcAft>
                        <a:buClr>
                          <a:schemeClr val="lt1"/>
                        </a:buClr>
                        <a:buSzPts val="2000"/>
                        <a:buFont typeface="Arial"/>
                        <a:buChar char="•"/>
                      </a:pPr>
                      <a:r>
                        <a:rPr lang="en-US" sz="2000" u="none" strike="noStrike" cap="none"/>
                        <a:t>The atoms involved in the reaction give or receive electrons.</a:t>
                      </a:r>
                      <a:endParaRPr/>
                    </a:p>
                    <a:p>
                      <a:pPr marL="285750" marR="0" lvl="0" indent="-285750" algn="just" rtl="0">
                        <a:spcBef>
                          <a:spcPts val="0"/>
                        </a:spcBef>
                        <a:spcAft>
                          <a:spcPts val="0"/>
                        </a:spcAft>
                        <a:buClr>
                          <a:schemeClr val="lt1"/>
                        </a:buClr>
                        <a:buSzPts val="2000"/>
                        <a:buFont typeface="Arial"/>
                        <a:buChar char="•"/>
                      </a:pPr>
                      <a:r>
                        <a:rPr lang="en-US" sz="2000" u="none" strike="noStrike" cap="none"/>
                        <a:t>One part of the molecules gains one or more electron and becomes an </a:t>
                      </a:r>
                      <a:r>
                        <a:rPr lang="en-US" sz="2000" u="sng" strike="noStrike" cap="none">
                          <a:solidFill>
                            <a:srgbClr val="FFC000"/>
                          </a:solidFill>
                        </a:rPr>
                        <a:t>anion</a:t>
                      </a:r>
                      <a:r>
                        <a:rPr lang="en-US" sz="2000" u="none" strike="noStrike" cap="none"/>
                        <a:t>(negative ion) </a:t>
                      </a:r>
                      <a:endParaRPr/>
                    </a:p>
                    <a:p>
                      <a:pPr marL="285750" marR="0" lvl="0" indent="-285750" algn="just" rtl="0">
                        <a:spcBef>
                          <a:spcPts val="0"/>
                        </a:spcBef>
                        <a:spcAft>
                          <a:spcPts val="0"/>
                        </a:spcAft>
                        <a:buClr>
                          <a:schemeClr val="lt1"/>
                        </a:buClr>
                        <a:buSzPts val="2000"/>
                        <a:buFont typeface="Arial"/>
                        <a:buChar char="•"/>
                      </a:pPr>
                      <a:r>
                        <a:rPr lang="en-US" sz="2000" u="none" strike="noStrike" cap="none"/>
                        <a:t>The other part loses one or more electrons and becomes a </a:t>
                      </a:r>
                      <a:r>
                        <a:rPr lang="en-US" sz="2000" u="sng" strike="noStrike" cap="none">
                          <a:solidFill>
                            <a:srgbClr val="FFC000"/>
                          </a:solidFill>
                        </a:rPr>
                        <a:t>cation</a:t>
                      </a:r>
                      <a:r>
                        <a:rPr lang="en-US" sz="2000" u="none" strike="noStrike" cap="none"/>
                        <a:t> (a positive ion).</a:t>
                      </a:r>
                      <a:endParaRPr/>
                    </a:p>
                    <a:p>
                      <a:pPr marL="285750" marR="0" lvl="0" indent="-285750" algn="just" rtl="0">
                        <a:spcBef>
                          <a:spcPts val="0"/>
                        </a:spcBef>
                        <a:spcAft>
                          <a:spcPts val="0"/>
                        </a:spcAft>
                        <a:buClr>
                          <a:schemeClr val="lt1"/>
                        </a:buClr>
                        <a:buSzPts val="2000"/>
                        <a:buFont typeface="Arial"/>
                        <a:buChar char="•"/>
                      </a:pPr>
                      <a:r>
                        <a:rPr lang="en-US" sz="2000" u="none" strike="noStrike" cap="none"/>
                        <a:t>Ionic bonds hold the oppositely charged ions together.</a:t>
                      </a:r>
                      <a:endParaRPr sz="2000" u="none" strike="noStrike" cap="none"/>
                    </a:p>
                    <a:p>
                      <a:pPr marL="285750" marR="0" lvl="0" indent="-171450" algn="l" rtl="0">
                        <a:spcBef>
                          <a:spcPts val="0"/>
                        </a:spcBef>
                        <a:spcAft>
                          <a:spcPts val="0"/>
                        </a:spcAft>
                        <a:buClr>
                          <a:schemeClr val="lt1"/>
                        </a:buClr>
                        <a:buSzPts val="1800"/>
                        <a:buFont typeface="Arial"/>
                        <a:buNone/>
                      </a:pPr>
                      <a:endParaRPr sz="1800" u="none" strike="noStrike" cap="none"/>
                    </a:p>
                  </a:txBody>
                  <a:tcPr marL="91450" marR="91450" marT="45725" marB="45725"/>
                </a:tc>
                <a:tc>
                  <a:txBody>
                    <a:bodyPr/>
                    <a:lstStyle/>
                    <a:p>
                      <a:pPr marL="0" marR="0" lvl="0" indent="0" algn="l" rtl="0">
                        <a:spcBef>
                          <a:spcPts val="0"/>
                        </a:spcBef>
                        <a:spcAft>
                          <a:spcPts val="0"/>
                        </a:spcAft>
                        <a:buNone/>
                      </a:pPr>
                      <a:endParaRPr sz="1800"/>
                    </a:p>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1"/>
                  </a:ext>
                </a:extLst>
              </a:tr>
            </a:tbl>
          </a:graphicData>
        </a:graphic>
      </p:graphicFrame>
      <p:pic>
        <p:nvPicPr>
          <p:cNvPr id="131" name="Google Shape;131;p6"/>
          <p:cNvPicPr preferRelativeResize="0"/>
          <p:nvPr/>
        </p:nvPicPr>
        <p:blipFill rotWithShape="1">
          <a:blip r:embed="rId3">
            <a:alphaModFix/>
          </a:blip>
          <a:srcRect l="5859" t="12152" r="4427" b="9895"/>
          <a:stretch/>
        </p:blipFill>
        <p:spPr>
          <a:xfrm>
            <a:off x="6095982" y="2777064"/>
            <a:ext cx="4328030" cy="282044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7"/>
          <p:cNvSpPr/>
          <p:nvPr/>
        </p:nvSpPr>
        <p:spPr>
          <a:xfrm>
            <a:off x="1073815" y="1094675"/>
            <a:ext cx="10044300" cy="5092500"/>
          </a:xfrm>
          <a:prstGeom prst="rect">
            <a:avLst/>
          </a:prstGeom>
          <a:solidFill>
            <a:srgbClr val="0C0C0C"/>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6" name="Google Shape;146;p7"/>
          <p:cNvSpPr txBox="1"/>
          <p:nvPr/>
        </p:nvSpPr>
        <p:spPr>
          <a:xfrm>
            <a:off x="1073815" y="1507078"/>
            <a:ext cx="10044333" cy="860544"/>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3200"/>
              <a:buFont typeface="Arial"/>
              <a:buNone/>
            </a:pPr>
            <a:r>
              <a:rPr lang="en-US" sz="3200" b="0" i="0" u="none" strike="noStrike" cap="none">
                <a:solidFill>
                  <a:schemeClr val="lt1"/>
                </a:solidFill>
                <a:latin typeface="Arial Black"/>
                <a:ea typeface="Arial Black"/>
                <a:cs typeface="Arial Black"/>
                <a:sym typeface="Arial Black"/>
              </a:rPr>
              <a:t>  </a:t>
            </a:r>
            <a:r>
              <a:rPr lang="en-US" sz="3200">
                <a:solidFill>
                  <a:schemeClr val="lt1"/>
                </a:solidFill>
                <a:latin typeface="Arial Black"/>
                <a:ea typeface="Arial Black"/>
                <a:cs typeface="Arial Black"/>
                <a:sym typeface="Arial Black"/>
              </a:rPr>
              <a:t>C</a:t>
            </a:r>
            <a:r>
              <a:rPr lang="en-US" sz="3200" b="0" i="0" u="none" strike="noStrike" cap="none">
                <a:solidFill>
                  <a:schemeClr val="lt1"/>
                </a:solidFill>
                <a:latin typeface="Arial Black"/>
                <a:ea typeface="Arial Black"/>
                <a:cs typeface="Arial Black"/>
                <a:sym typeface="Arial Black"/>
              </a:rPr>
              <a:t>ovalent bonding </a:t>
            </a:r>
            <a:endParaRPr/>
          </a:p>
          <a:p>
            <a:pPr marL="0" marR="0" lvl="0" indent="0" algn="l" rtl="0">
              <a:lnSpc>
                <a:spcPct val="90000"/>
              </a:lnSpc>
              <a:spcBef>
                <a:spcPts val="1000"/>
              </a:spcBef>
              <a:spcAft>
                <a:spcPts val="0"/>
              </a:spcAft>
              <a:buClr>
                <a:schemeClr val="lt1"/>
              </a:buClr>
              <a:buSzPts val="3200"/>
              <a:buFont typeface="Arial"/>
              <a:buNone/>
            </a:pPr>
            <a:endParaRPr sz="3200" b="0" i="0" u="none" strike="noStrike" cap="none">
              <a:solidFill>
                <a:schemeClr val="lt1"/>
              </a:solidFill>
              <a:latin typeface="Calibri"/>
              <a:ea typeface="Calibri"/>
              <a:cs typeface="Calibri"/>
              <a:sym typeface="Calibri"/>
            </a:endParaRPr>
          </a:p>
          <a:p>
            <a:pPr marL="0" marR="0" lvl="0" indent="0" algn="l" rtl="0">
              <a:lnSpc>
                <a:spcPct val="90000"/>
              </a:lnSpc>
              <a:spcBef>
                <a:spcPts val="1000"/>
              </a:spcBef>
              <a:spcAft>
                <a:spcPts val="0"/>
              </a:spcAft>
              <a:buClr>
                <a:schemeClr val="lt1"/>
              </a:buClr>
              <a:buSzPts val="3200"/>
              <a:buFont typeface="Arial"/>
              <a:buNone/>
            </a:pPr>
            <a:endParaRPr sz="3200" b="0" i="0" u="none" strike="noStrike" cap="none">
              <a:solidFill>
                <a:schemeClr val="lt1"/>
              </a:solidFill>
              <a:latin typeface="Arial Black"/>
              <a:ea typeface="Arial Black"/>
              <a:cs typeface="Arial Black"/>
              <a:sym typeface="Arial Black"/>
            </a:endParaRPr>
          </a:p>
        </p:txBody>
      </p:sp>
      <p:graphicFrame>
        <p:nvGraphicFramePr>
          <p:cNvPr id="147" name="Google Shape;147;p7"/>
          <p:cNvGraphicFramePr/>
          <p:nvPr>
            <p:extLst>
              <p:ext uri="{D42A27DB-BD31-4B8C-83A1-F6EECF244321}">
                <p14:modId xmlns:p14="http://schemas.microsoft.com/office/powerpoint/2010/main" val="2214708537"/>
              </p:ext>
            </p:extLst>
          </p:nvPr>
        </p:nvGraphicFramePr>
        <p:xfrm>
          <a:off x="1594655" y="2175934"/>
          <a:ext cx="8898450" cy="3824690"/>
        </p:xfrm>
        <a:graphic>
          <a:graphicData uri="http://schemas.openxmlformats.org/drawingml/2006/table">
            <a:tbl>
              <a:tblPr firstRow="1" bandRow="1">
                <a:noFill/>
                <a:tableStyleId>{B7FB62C7-942A-463B-8B6F-C30A2E581A81}</a:tableStyleId>
              </a:tblPr>
              <a:tblGrid>
                <a:gridCol w="4449225">
                  <a:extLst>
                    <a:ext uri="{9D8B030D-6E8A-4147-A177-3AD203B41FA5}">
                      <a16:colId xmlns:a16="http://schemas.microsoft.com/office/drawing/2014/main" val="20000"/>
                    </a:ext>
                  </a:extLst>
                </a:gridCol>
                <a:gridCol w="4449225">
                  <a:extLst>
                    <a:ext uri="{9D8B030D-6E8A-4147-A177-3AD203B41FA5}">
                      <a16:colId xmlns:a16="http://schemas.microsoft.com/office/drawing/2014/main" val="20001"/>
                    </a:ext>
                  </a:extLst>
                </a:gridCol>
              </a:tblGrid>
              <a:tr h="441400">
                <a:tc>
                  <a:txBody>
                    <a:bodyPr/>
                    <a:lstStyle/>
                    <a:p>
                      <a:pPr marL="0" marR="0" lvl="0" indent="0" algn="ctr" rtl="0">
                        <a:spcBef>
                          <a:spcPts val="0"/>
                        </a:spcBef>
                        <a:spcAft>
                          <a:spcPts val="0"/>
                        </a:spcAft>
                        <a:buNone/>
                      </a:pPr>
                      <a:r>
                        <a:rPr lang="en-US" sz="1800" b="1">
                          <a:latin typeface="Arial"/>
                          <a:ea typeface="Arial"/>
                          <a:cs typeface="Arial"/>
                          <a:sym typeface="Arial"/>
                        </a:rPr>
                        <a:t>Covalent bonding </a:t>
                      </a:r>
                      <a:endParaRPr sz="1800" b="1">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1800" b="1">
                          <a:latin typeface="Arial"/>
                          <a:ea typeface="Arial"/>
                          <a:cs typeface="Arial"/>
                          <a:sym typeface="Arial"/>
                        </a:rPr>
                        <a:t>Example</a:t>
                      </a:r>
                      <a:endParaRPr sz="1800" b="1">
                        <a:latin typeface="Arial"/>
                        <a:ea typeface="Arial"/>
                        <a:cs typeface="Arial"/>
                        <a:sym typeface="Arial"/>
                      </a:endParaRPr>
                    </a:p>
                  </a:txBody>
                  <a:tcPr marL="91450" marR="91450" marT="45725" marB="45725"/>
                </a:tc>
                <a:extLst>
                  <a:ext uri="{0D108BD9-81ED-4DB2-BD59-A6C34878D82A}">
                    <a16:rowId xmlns:a16="http://schemas.microsoft.com/office/drawing/2014/main" val="10000"/>
                  </a:ext>
                </a:extLst>
              </a:tr>
              <a:tr h="3309325">
                <a:tc>
                  <a:txBody>
                    <a:bodyPr/>
                    <a:lstStyle/>
                    <a:p>
                      <a:pPr marL="285750" marR="0" lvl="0" indent="-285750" algn="just" rtl="0">
                        <a:spcBef>
                          <a:spcPts val="0"/>
                        </a:spcBef>
                        <a:spcAft>
                          <a:spcPts val="0"/>
                        </a:spcAft>
                        <a:buClr>
                          <a:schemeClr val="lt1"/>
                        </a:buClr>
                        <a:buSzPts val="1800"/>
                        <a:buFont typeface="Arial"/>
                        <a:buChar char="•"/>
                      </a:pPr>
                      <a:r>
                        <a:rPr lang="en-US" sz="1800" dirty="0"/>
                        <a:t>The atoms involved in the reaction share electrons.</a:t>
                      </a:r>
                      <a:endParaRPr dirty="0"/>
                    </a:p>
                    <a:p>
                      <a:pPr marL="285750" marR="0" lvl="0" indent="-285750" algn="just" rtl="0">
                        <a:spcBef>
                          <a:spcPts val="0"/>
                        </a:spcBef>
                        <a:spcAft>
                          <a:spcPts val="0"/>
                        </a:spcAft>
                        <a:buClr>
                          <a:schemeClr val="lt1"/>
                        </a:buClr>
                        <a:buSzPts val="1800"/>
                        <a:buFont typeface="Arial"/>
                        <a:buChar char="•"/>
                      </a:pPr>
                      <a:r>
                        <a:rPr lang="en-US" sz="1800" dirty="0"/>
                        <a:t>Covalent bonds are strong, and the molecules formed are usually neutral.</a:t>
                      </a:r>
                      <a:endParaRPr dirty="0"/>
                    </a:p>
                    <a:p>
                      <a:pPr marL="285750" marR="0" lvl="0" indent="-285750" algn="just" rtl="0">
                        <a:spcBef>
                          <a:spcPts val="0"/>
                        </a:spcBef>
                        <a:spcAft>
                          <a:spcPts val="0"/>
                        </a:spcAft>
                        <a:buClr>
                          <a:schemeClr val="lt1"/>
                        </a:buClr>
                        <a:buSzPts val="1800"/>
                        <a:buFont typeface="Arial"/>
                        <a:buChar char="•"/>
                      </a:pPr>
                      <a:r>
                        <a:rPr lang="en-US" sz="1800" b="1" i="1" dirty="0">
                          <a:solidFill>
                            <a:srgbClr val="FFC000"/>
                          </a:solidFill>
                        </a:rPr>
                        <a:t>In some covalent bonds, electrons are not shared evenly</a:t>
                      </a:r>
                      <a:r>
                        <a:rPr lang="en-US" sz="1800" dirty="0"/>
                        <a:t>.</a:t>
                      </a:r>
                      <a:endParaRPr dirty="0"/>
                    </a:p>
                    <a:p>
                      <a:pPr marL="285750" marR="0" lvl="0" indent="-285750" algn="just" rtl="0">
                        <a:spcBef>
                          <a:spcPts val="0"/>
                        </a:spcBef>
                        <a:spcAft>
                          <a:spcPts val="0"/>
                        </a:spcAft>
                        <a:buClr>
                          <a:schemeClr val="lt1"/>
                        </a:buClr>
                        <a:buSzPts val="1800"/>
                        <a:buFont typeface="Arial"/>
                        <a:buChar char="•"/>
                      </a:pPr>
                      <a:r>
                        <a:rPr lang="en-US" sz="1800" dirty="0"/>
                        <a:t>So this results in a molecule with a </a:t>
                      </a:r>
                      <a:r>
                        <a:rPr lang="en-US" sz="1800" dirty="0">
                          <a:solidFill>
                            <a:srgbClr val="FF0000"/>
                          </a:solidFill>
                        </a:rPr>
                        <a:t>slightly negative </a:t>
                      </a:r>
                      <a:r>
                        <a:rPr lang="en-US" sz="1800" dirty="0"/>
                        <a:t>and </a:t>
                      </a:r>
                      <a:r>
                        <a:rPr lang="en-US" sz="1800" dirty="0">
                          <a:solidFill>
                            <a:srgbClr val="FF0000"/>
                          </a:solidFill>
                        </a:rPr>
                        <a:t>slightly positive </a:t>
                      </a:r>
                      <a:r>
                        <a:rPr lang="en-US" sz="1800" dirty="0"/>
                        <a:t>side.</a:t>
                      </a:r>
                      <a:endParaRPr dirty="0"/>
                    </a:p>
                    <a:p>
                      <a:pPr marL="285750" marR="0" lvl="0" indent="-285750" algn="just" rtl="0">
                        <a:spcBef>
                          <a:spcPts val="0"/>
                        </a:spcBef>
                        <a:spcAft>
                          <a:spcPts val="0"/>
                        </a:spcAft>
                        <a:buClr>
                          <a:schemeClr val="lt1"/>
                        </a:buClr>
                        <a:buSzPts val="1800"/>
                        <a:buFont typeface="Arial"/>
                        <a:buChar char="•"/>
                      </a:pPr>
                      <a:r>
                        <a:rPr lang="en-US" sz="1800" dirty="0"/>
                        <a:t>This separation of charge is called </a:t>
                      </a:r>
                      <a:r>
                        <a:rPr lang="en-US" sz="1800" b="1" i="1" u="sng" dirty="0">
                          <a:solidFill>
                            <a:srgbClr val="FFC000"/>
                          </a:solidFill>
                        </a:rPr>
                        <a:t>dipole</a:t>
                      </a:r>
                      <a:r>
                        <a:rPr lang="en-US" sz="1800" b="1" i="1" dirty="0">
                          <a:solidFill>
                            <a:srgbClr val="FFC000"/>
                          </a:solidFill>
                        </a:rPr>
                        <a:t>.</a:t>
                      </a:r>
                      <a:endParaRPr b="1" i="1" dirty="0"/>
                    </a:p>
                    <a:p>
                      <a:pPr marL="285750" marR="0" lvl="0" indent="-285750" algn="just" rtl="0">
                        <a:spcBef>
                          <a:spcPts val="0"/>
                        </a:spcBef>
                        <a:spcAft>
                          <a:spcPts val="0"/>
                        </a:spcAft>
                        <a:buClr>
                          <a:schemeClr val="lt1"/>
                        </a:buClr>
                        <a:buSzPts val="1800"/>
                        <a:buFont typeface="Arial"/>
                        <a:buChar char="•"/>
                      </a:pPr>
                      <a:r>
                        <a:rPr lang="en-US" sz="1800" dirty="0">
                          <a:solidFill>
                            <a:schemeClr val="lt1"/>
                          </a:solidFill>
                        </a:rPr>
                        <a:t>The molecule is described as a </a:t>
                      </a:r>
                      <a:r>
                        <a:rPr lang="en-US" sz="1800" b="1" i="1" u="sng" dirty="0">
                          <a:solidFill>
                            <a:srgbClr val="FFC000"/>
                          </a:solidFill>
                        </a:rPr>
                        <a:t>polar molecule.</a:t>
                      </a:r>
                      <a:endParaRPr b="1" i="1" dirty="0"/>
                    </a:p>
                    <a:p>
                      <a:pPr marL="0" marR="0" lvl="0" indent="0" algn="l" rtl="0">
                        <a:spcBef>
                          <a:spcPts val="0"/>
                        </a:spcBef>
                        <a:spcAft>
                          <a:spcPts val="0"/>
                        </a:spcAft>
                        <a:buClr>
                          <a:schemeClr val="lt1"/>
                        </a:buClr>
                        <a:buSzPts val="1800"/>
                        <a:buFont typeface="Arial"/>
                        <a:buNone/>
                      </a:pPr>
                      <a:endParaRPr sz="1800" dirty="0">
                        <a:solidFill>
                          <a:srgbClr val="FFC000"/>
                        </a:solidFill>
                      </a:endParaRPr>
                    </a:p>
                  </a:txBody>
                  <a:tcPr marL="91450" marR="91450" marT="45725" marB="45725"/>
                </a:tc>
                <a:tc>
                  <a:txBody>
                    <a:bodyPr/>
                    <a:lstStyle/>
                    <a:p>
                      <a:pPr marL="0" marR="0" lvl="0" indent="0" algn="l" rtl="0">
                        <a:spcBef>
                          <a:spcPts val="0"/>
                        </a:spcBef>
                        <a:spcAft>
                          <a:spcPts val="0"/>
                        </a:spcAft>
                        <a:buNone/>
                      </a:pPr>
                      <a:endParaRPr sz="1800" dirty="0"/>
                    </a:p>
                    <a:p>
                      <a:pPr marL="0" marR="0" lvl="0" indent="0" algn="l" rtl="0">
                        <a:spcBef>
                          <a:spcPts val="0"/>
                        </a:spcBef>
                        <a:spcAft>
                          <a:spcPts val="0"/>
                        </a:spcAft>
                        <a:buNone/>
                      </a:pPr>
                      <a:endParaRPr sz="1800" dirty="0"/>
                    </a:p>
                  </a:txBody>
                  <a:tcPr marL="91450" marR="91450" marT="45725" marB="45725"/>
                </a:tc>
                <a:extLst>
                  <a:ext uri="{0D108BD9-81ED-4DB2-BD59-A6C34878D82A}">
                    <a16:rowId xmlns:a16="http://schemas.microsoft.com/office/drawing/2014/main" val="10001"/>
                  </a:ext>
                </a:extLst>
              </a:tr>
            </a:tbl>
          </a:graphicData>
        </a:graphic>
      </p:graphicFrame>
      <p:pic>
        <p:nvPicPr>
          <p:cNvPr id="148" name="Google Shape;148;p7"/>
          <p:cNvPicPr preferRelativeResize="0"/>
          <p:nvPr/>
        </p:nvPicPr>
        <p:blipFill rotWithShape="1">
          <a:blip r:embed="rId3">
            <a:alphaModFix/>
          </a:blip>
          <a:srcRect t="35691"/>
          <a:stretch/>
        </p:blipFill>
        <p:spPr>
          <a:xfrm>
            <a:off x="6095981" y="2870199"/>
            <a:ext cx="4297030" cy="285456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37;g89d6dfa6c4_0_0">
            <a:extLst>
              <a:ext uri="{FF2B5EF4-FFF2-40B4-BE49-F238E27FC236}">
                <a16:creationId xmlns:a16="http://schemas.microsoft.com/office/drawing/2014/main" id="{DD66BCAE-3222-FA49-C506-80107433EA49}"/>
              </a:ext>
            </a:extLst>
          </p:cNvPr>
          <p:cNvSpPr/>
          <p:nvPr/>
        </p:nvSpPr>
        <p:spPr>
          <a:xfrm>
            <a:off x="1073815" y="1094675"/>
            <a:ext cx="10044300" cy="5092500"/>
          </a:xfrm>
          <a:prstGeom prst="rect">
            <a:avLst/>
          </a:prstGeom>
          <a:solidFill>
            <a:srgbClr val="0C0C0C"/>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Font typeface="Arial"/>
              <a:buNone/>
            </a:pPr>
            <a:endParaRPr sz="1800" b="0" i="0" u="none" strike="noStrike" cap="none">
              <a:solidFill>
                <a:schemeClr val="lt1"/>
              </a:solidFill>
              <a:latin typeface="Calibri"/>
              <a:ea typeface="Calibri"/>
              <a:cs typeface="Calibri"/>
              <a:sym typeface="Calibri"/>
            </a:endParaRPr>
          </a:p>
        </p:txBody>
      </p:sp>
      <p:pic>
        <p:nvPicPr>
          <p:cNvPr id="1026" name="Picture 2" descr="15 Major Difference between Covalent and Ionic Bonds with Table - Core  Differences">
            <a:extLst>
              <a:ext uri="{FF2B5EF4-FFF2-40B4-BE49-F238E27FC236}">
                <a16:creationId xmlns:a16="http://schemas.microsoft.com/office/drawing/2014/main" id="{54DE17DF-7E34-DC8E-E7BC-8207727296C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716" r="4834" b="38617"/>
          <a:stretch/>
        </p:blipFill>
        <p:spPr bwMode="auto">
          <a:xfrm>
            <a:off x="1652452" y="1454604"/>
            <a:ext cx="9124422" cy="4262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2923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37;g89d6dfa6c4_0_0">
            <a:extLst>
              <a:ext uri="{FF2B5EF4-FFF2-40B4-BE49-F238E27FC236}">
                <a16:creationId xmlns:a16="http://schemas.microsoft.com/office/drawing/2014/main" id="{DD66BCAE-3222-FA49-C506-80107433EA49}"/>
              </a:ext>
            </a:extLst>
          </p:cNvPr>
          <p:cNvSpPr/>
          <p:nvPr/>
        </p:nvSpPr>
        <p:spPr>
          <a:xfrm>
            <a:off x="1073815" y="1094675"/>
            <a:ext cx="10044300" cy="5092500"/>
          </a:xfrm>
          <a:prstGeom prst="rect">
            <a:avLst/>
          </a:prstGeom>
          <a:solidFill>
            <a:srgbClr val="0C0C0C"/>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Font typeface="Arial"/>
              <a:buNone/>
            </a:pPr>
            <a:endParaRPr sz="1800" b="0" i="0" u="none" strike="noStrike" cap="none">
              <a:solidFill>
                <a:schemeClr val="lt1"/>
              </a:solidFill>
              <a:latin typeface="Calibri"/>
              <a:ea typeface="Calibri"/>
              <a:cs typeface="Calibri"/>
              <a:sym typeface="Calibri"/>
            </a:endParaRPr>
          </a:p>
        </p:txBody>
      </p:sp>
      <p:grpSp>
        <p:nvGrpSpPr>
          <p:cNvPr id="8" name="Group 7">
            <a:extLst>
              <a:ext uri="{FF2B5EF4-FFF2-40B4-BE49-F238E27FC236}">
                <a16:creationId xmlns:a16="http://schemas.microsoft.com/office/drawing/2014/main" id="{3EB9427C-0233-97E4-6CF9-0F1265B1CE00}"/>
              </a:ext>
            </a:extLst>
          </p:cNvPr>
          <p:cNvGrpSpPr/>
          <p:nvPr/>
        </p:nvGrpSpPr>
        <p:grpSpPr>
          <a:xfrm>
            <a:off x="1330476" y="1280017"/>
            <a:ext cx="9530978" cy="4130468"/>
            <a:chOff x="1587137" y="1632857"/>
            <a:chExt cx="9530978" cy="4130468"/>
          </a:xfrm>
        </p:grpSpPr>
        <p:sp>
          <p:nvSpPr>
            <p:cNvPr id="7" name="Rectangle 6">
              <a:extLst>
                <a:ext uri="{FF2B5EF4-FFF2-40B4-BE49-F238E27FC236}">
                  <a16:creationId xmlns:a16="http://schemas.microsoft.com/office/drawing/2014/main" id="{6A56EB61-823E-CCA2-CEA4-0A2C518EDD5C}"/>
                </a:ext>
              </a:extLst>
            </p:cNvPr>
            <p:cNvSpPr/>
            <p:nvPr/>
          </p:nvSpPr>
          <p:spPr>
            <a:xfrm>
              <a:off x="1587137" y="1632857"/>
              <a:ext cx="9464040" cy="413046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6" name="Picture 5">
              <a:extLst>
                <a:ext uri="{FF2B5EF4-FFF2-40B4-BE49-F238E27FC236}">
                  <a16:creationId xmlns:a16="http://schemas.microsoft.com/office/drawing/2014/main" id="{2C189C30-231D-FD4C-B097-F5AFBD785344}"/>
                </a:ext>
              </a:extLst>
            </p:cNvPr>
            <p:cNvPicPr>
              <a:picLocks noChangeAspect="1"/>
            </p:cNvPicPr>
            <p:nvPr/>
          </p:nvPicPr>
          <p:blipFill>
            <a:blip r:embed="rId2"/>
            <a:stretch>
              <a:fillRect/>
            </a:stretch>
          </p:blipFill>
          <p:spPr>
            <a:xfrm>
              <a:off x="1630161" y="1716187"/>
              <a:ext cx="9487954" cy="4047138"/>
            </a:xfrm>
            <a:prstGeom prst="rect">
              <a:avLst/>
            </a:prstGeom>
          </p:spPr>
        </p:pic>
      </p:grpSp>
      <p:sp>
        <p:nvSpPr>
          <p:cNvPr id="10" name="TextBox 9">
            <a:extLst>
              <a:ext uri="{FF2B5EF4-FFF2-40B4-BE49-F238E27FC236}">
                <a16:creationId xmlns:a16="http://schemas.microsoft.com/office/drawing/2014/main" id="{00745B91-3462-9127-25AF-C9F752344987}"/>
              </a:ext>
            </a:extLst>
          </p:cNvPr>
          <p:cNvSpPr txBox="1"/>
          <p:nvPr/>
        </p:nvSpPr>
        <p:spPr>
          <a:xfrm>
            <a:off x="1330476" y="5501715"/>
            <a:ext cx="5628820" cy="523220"/>
          </a:xfrm>
          <a:prstGeom prst="rect">
            <a:avLst/>
          </a:prstGeom>
          <a:solidFill>
            <a:schemeClr val="bg1"/>
          </a:solidFill>
        </p:spPr>
        <p:txBody>
          <a:bodyPr wrap="square">
            <a:spAutoFit/>
          </a:bodyPr>
          <a:lstStyle/>
          <a:p>
            <a:r>
              <a:rPr lang="en-GB" b="1" i="1" u="sng" dirty="0">
                <a:solidFill>
                  <a:schemeClr val="tx1"/>
                </a:solidFill>
                <a:effectLst/>
                <a:latin typeface="arial" panose="020B0604020202020204" pitchFamily="34" charset="0"/>
              </a:rPr>
              <a:t>Electronegativity</a:t>
            </a:r>
            <a:r>
              <a:rPr lang="en-GB" b="0" i="0" dirty="0">
                <a:solidFill>
                  <a:schemeClr val="tx1"/>
                </a:solidFill>
                <a:effectLst/>
                <a:latin typeface="arial" panose="020B0604020202020204" pitchFamily="34" charset="0"/>
              </a:rPr>
              <a:t> is defined as </a:t>
            </a:r>
            <a:r>
              <a:rPr lang="en-GB" b="1" i="0" dirty="0">
                <a:solidFill>
                  <a:schemeClr val="tx1"/>
                </a:solidFill>
                <a:effectLst/>
                <a:latin typeface="arial" panose="020B0604020202020204" pitchFamily="34" charset="0"/>
              </a:rPr>
              <a:t>the tendency of an atom participating in a covalent bond to attract the bonding electrons</a:t>
            </a:r>
            <a:r>
              <a:rPr lang="en-GB" b="0" i="0" dirty="0">
                <a:solidFill>
                  <a:schemeClr val="tx1"/>
                </a:solidFill>
                <a:effectLst/>
                <a:latin typeface="arial" panose="020B0604020202020204" pitchFamily="34" charset="0"/>
              </a:rPr>
              <a:t>.</a:t>
            </a:r>
            <a:endParaRPr lang="en-MY" dirty="0">
              <a:solidFill>
                <a:schemeClr val="tx1"/>
              </a:solidFill>
            </a:endParaRPr>
          </a:p>
        </p:txBody>
      </p:sp>
    </p:spTree>
    <p:extLst>
      <p:ext uri="{BB962C8B-B14F-4D97-AF65-F5344CB8AC3E}">
        <p14:creationId xmlns:p14="http://schemas.microsoft.com/office/powerpoint/2010/main" val="1184679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6"/>
          <p:cNvSpPr/>
          <p:nvPr/>
        </p:nvSpPr>
        <p:spPr>
          <a:xfrm>
            <a:off x="1073815" y="1094675"/>
            <a:ext cx="10044300" cy="5092500"/>
          </a:xfrm>
          <a:prstGeom prst="rect">
            <a:avLst/>
          </a:prstGeom>
          <a:solidFill>
            <a:srgbClr val="0C0C0C"/>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9" name="Google Shape;129;p6"/>
          <p:cNvSpPr txBox="1"/>
          <p:nvPr/>
        </p:nvSpPr>
        <p:spPr>
          <a:xfrm>
            <a:off x="1461916" y="1494016"/>
            <a:ext cx="9268097" cy="4025042"/>
          </a:xfrm>
          <a:prstGeom prst="rect">
            <a:avLst/>
          </a:prstGeom>
          <a:noFill/>
          <a:ln>
            <a:noFill/>
          </a:ln>
        </p:spPr>
        <p:txBody>
          <a:bodyPr spcFirstLastPara="1" wrap="square" lIns="91425" tIns="45700" rIns="91425" bIns="45700" anchor="t" anchorCtr="0">
            <a:noAutofit/>
          </a:bodyPr>
          <a:lstStyle/>
          <a:p>
            <a:pPr lvl="0">
              <a:lnSpc>
                <a:spcPct val="90000"/>
              </a:lnSpc>
              <a:buClr>
                <a:schemeClr val="lt1"/>
              </a:buClr>
              <a:buSzPts val="3200"/>
            </a:pPr>
            <a:r>
              <a:rPr lang="en-US" sz="3200" b="0" i="0" u="none" strike="noStrike" cap="none" dirty="0">
                <a:solidFill>
                  <a:schemeClr val="lt1"/>
                </a:solidFill>
                <a:latin typeface="Arial Black"/>
                <a:ea typeface="Arial Black"/>
                <a:cs typeface="Arial Black"/>
                <a:sym typeface="Arial Black"/>
              </a:rPr>
              <a:t>  INORGANIC IONS</a:t>
            </a:r>
          </a:p>
          <a:p>
            <a:pPr marL="457200" lvl="0" indent="-457200">
              <a:lnSpc>
                <a:spcPct val="90000"/>
              </a:lnSpc>
              <a:buClr>
                <a:schemeClr val="lt1"/>
              </a:buClr>
              <a:buSzPts val="3200"/>
              <a:buFont typeface="Arial" panose="020B0604020202020204" pitchFamily="34" charset="0"/>
              <a:buChar char="•"/>
            </a:pPr>
            <a:r>
              <a:rPr lang="en-GB" sz="3200" dirty="0">
                <a:solidFill>
                  <a:schemeClr val="lt1"/>
                </a:solidFill>
                <a:latin typeface="Calibri" panose="020F0502020204030204" pitchFamily="34" charset="0"/>
                <a:ea typeface="Calibri" panose="020F0502020204030204" pitchFamily="34" charset="0"/>
                <a:cs typeface="Calibri" panose="020F0502020204030204" pitchFamily="34" charset="0"/>
                <a:sym typeface="Arial Black"/>
              </a:rPr>
              <a:t>Occur in solution in the cytoplasm and body fluids of organisms</a:t>
            </a:r>
          </a:p>
          <a:p>
            <a:pPr marL="457200" lvl="0" indent="-457200">
              <a:lnSpc>
                <a:spcPct val="90000"/>
              </a:lnSpc>
              <a:buClr>
                <a:schemeClr val="lt1"/>
              </a:buClr>
              <a:buSzPts val="3200"/>
              <a:buFont typeface="Arial" panose="020B0604020202020204" pitchFamily="34" charset="0"/>
              <a:buChar char="•"/>
            </a:pPr>
            <a:r>
              <a:rPr lang="en-GB" sz="3200" dirty="0">
                <a:solidFill>
                  <a:schemeClr val="lt1"/>
                </a:solidFill>
                <a:latin typeface="Calibri" panose="020F0502020204030204" pitchFamily="34" charset="0"/>
                <a:ea typeface="Calibri" panose="020F0502020204030204" pitchFamily="34" charset="0"/>
                <a:cs typeface="Calibri" panose="020F0502020204030204" pitchFamily="34" charset="0"/>
                <a:sym typeface="Arial Black"/>
              </a:rPr>
              <a:t>Some in high concentrations and others in very low concentrations</a:t>
            </a:r>
          </a:p>
          <a:p>
            <a:pPr marL="457200" lvl="0" indent="-457200">
              <a:lnSpc>
                <a:spcPct val="90000"/>
              </a:lnSpc>
              <a:buClr>
                <a:schemeClr val="lt1"/>
              </a:buClr>
              <a:buSzPts val="3200"/>
              <a:buFont typeface="Arial" panose="020B0604020202020204" pitchFamily="34" charset="0"/>
              <a:buChar char="•"/>
            </a:pPr>
            <a:r>
              <a:rPr lang="en-GB" sz="3200" dirty="0">
                <a:solidFill>
                  <a:schemeClr val="lt1"/>
                </a:solidFill>
                <a:latin typeface="Calibri" panose="020F0502020204030204" pitchFamily="34" charset="0"/>
                <a:ea typeface="Calibri" panose="020F0502020204030204" pitchFamily="34" charset="0"/>
                <a:cs typeface="Calibri" panose="020F0502020204030204" pitchFamily="34" charset="0"/>
                <a:sym typeface="Arial Black"/>
              </a:rPr>
              <a:t>Each type of ion has a specific role, depending on its properties and these roles are relevant in a range of topics across the A Level</a:t>
            </a:r>
          </a:p>
          <a:p>
            <a:pPr marL="457200" lvl="0" indent="-457200">
              <a:lnSpc>
                <a:spcPct val="90000"/>
              </a:lnSpc>
              <a:buClr>
                <a:schemeClr val="lt1"/>
              </a:buClr>
              <a:buSzPts val="3200"/>
              <a:buFont typeface="Arial" panose="020B0604020202020204" pitchFamily="34" charset="0"/>
              <a:buChar char="•"/>
            </a:pPr>
            <a:r>
              <a:rPr lang="en-GB" dirty="0" err="1">
                <a:latin typeface="Calibri" panose="020F0502020204030204" pitchFamily="34" charset="0"/>
                <a:ea typeface="Calibri" panose="020F0502020204030204" pitchFamily="34" charset="0"/>
                <a:cs typeface="Calibri" panose="020F0502020204030204" pitchFamily="34" charset="0"/>
              </a:rPr>
              <a:t>l</a:t>
            </a:r>
            <a:r>
              <a:rPr lang="en-GB" sz="3200" dirty="0" err="1">
                <a:solidFill>
                  <a:schemeClr val="lt1"/>
                </a:solidFill>
                <a:latin typeface="Calibri"/>
                <a:ea typeface="Calibri" panose="020F0502020204030204" pitchFamily="34" charset="0"/>
                <a:cs typeface="Calibri"/>
                <a:sym typeface="Calibri"/>
              </a:rPr>
              <a:t>I</a:t>
            </a:r>
            <a:r>
              <a:rPr lang="en-GB" sz="3200" dirty="0" err="1">
                <a:solidFill>
                  <a:schemeClr val="lt1"/>
                </a:solidFill>
                <a:latin typeface="Calibri"/>
                <a:ea typeface="Calibri"/>
                <a:cs typeface="Calibri"/>
                <a:sym typeface="Calibri"/>
              </a:rPr>
              <a:t>onic</a:t>
            </a:r>
            <a:r>
              <a:rPr lang="en-GB" sz="3200" dirty="0">
                <a:solidFill>
                  <a:schemeClr val="lt1"/>
                </a:solidFill>
                <a:latin typeface="Calibri"/>
                <a:ea typeface="Calibri"/>
                <a:cs typeface="Calibri"/>
                <a:sym typeface="Calibri"/>
              </a:rPr>
              <a:t> substances dissolve in water, the ions separate in a process called </a:t>
            </a:r>
            <a:r>
              <a:rPr lang="en-GB" sz="3200" b="1" i="1" dirty="0">
                <a:solidFill>
                  <a:srgbClr val="FFC000"/>
                </a:solidFill>
                <a:latin typeface="Calibri"/>
                <a:ea typeface="Calibri"/>
                <a:cs typeface="Calibri"/>
                <a:sym typeface="Calibri"/>
              </a:rPr>
              <a:t>dissociation.</a:t>
            </a:r>
            <a:r>
              <a:rPr lang="en-GB" sz="3200" dirty="0">
                <a:solidFill>
                  <a:schemeClr val="lt1"/>
                </a:solidFill>
                <a:latin typeface="Calibri"/>
                <a:ea typeface="Calibri"/>
                <a:cs typeface="Calibri"/>
                <a:sym typeface="Calibri"/>
              </a:rPr>
              <a:t> </a:t>
            </a:r>
            <a:endParaRPr sz="3200" b="0" i="0" u="none" strike="noStrike" cap="none" dirty="0">
              <a:solidFill>
                <a:schemeClr val="lt1"/>
              </a:solidFill>
              <a:latin typeface="Calibri"/>
              <a:ea typeface="Calibri"/>
              <a:cs typeface="Calibri"/>
              <a:sym typeface="Calibri"/>
            </a:endParaRPr>
          </a:p>
          <a:p>
            <a:pPr marL="0" marR="0" lvl="0" indent="0" algn="l" rtl="0">
              <a:lnSpc>
                <a:spcPct val="90000"/>
              </a:lnSpc>
              <a:spcBef>
                <a:spcPts val="1000"/>
              </a:spcBef>
              <a:spcAft>
                <a:spcPts val="0"/>
              </a:spcAft>
              <a:buClr>
                <a:schemeClr val="lt1"/>
              </a:buClr>
              <a:buSzPts val="3200"/>
              <a:buFont typeface="Arial"/>
              <a:buNone/>
            </a:pPr>
            <a:endParaRPr sz="3200" b="0" i="0" u="none" strike="noStrike" cap="none" dirty="0">
              <a:solidFill>
                <a:schemeClr val="lt1"/>
              </a:solidFill>
              <a:latin typeface="Arial Black"/>
              <a:ea typeface="Arial Black"/>
              <a:cs typeface="Arial Black"/>
              <a:sym typeface="Arial Black"/>
            </a:endParaRPr>
          </a:p>
        </p:txBody>
      </p:sp>
    </p:spTree>
    <p:extLst>
      <p:ext uri="{BB962C8B-B14F-4D97-AF65-F5344CB8AC3E}">
        <p14:creationId xmlns:p14="http://schemas.microsoft.com/office/powerpoint/2010/main" val="2756788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6"/>
          <p:cNvSpPr/>
          <p:nvPr/>
        </p:nvSpPr>
        <p:spPr>
          <a:xfrm>
            <a:off x="1073815" y="1094675"/>
            <a:ext cx="10044300" cy="5092500"/>
          </a:xfrm>
          <a:prstGeom prst="rect">
            <a:avLst/>
          </a:prstGeom>
          <a:solidFill>
            <a:srgbClr val="0C0C0C"/>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1BA8B56C-3525-88FB-D1D3-5B2929C3515A}"/>
              </a:ext>
            </a:extLst>
          </p:cNvPr>
          <p:cNvPicPr>
            <a:picLocks noChangeAspect="1"/>
          </p:cNvPicPr>
          <p:nvPr/>
        </p:nvPicPr>
        <p:blipFill>
          <a:blip r:embed="rId3"/>
          <a:stretch>
            <a:fillRect/>
          </a:stretch>
        </p:blipFill>
        <p:spPr>
          <a:xfrm>
            <a:off x="724058" y="736140"/>
            <a:ext cx="11034424" cy="5592815"/>
          </a:xfrm>
          <a:prstGeom prst="rect">
            <a:avLst/>
          </a:prstGeom>
        </p:spPr>
      </p:pic>
    </p:spTree>
    <p:extLst>
      <p:ext uri="{BB962C8B-B14F-4D97-AF65-F5344CB8AC3E}">
        <p14:creationId xmlns:p14="http://schemas.microsoft.com/office/powerpoint/2010/main" val="24945818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F95DC6D5-A7B0-4D09-A7A5-62869A0D2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9,000+ Free Water Drop &amp; Water Images - Pixabay">
            <a:extLst>
              <a:ext uri="{FF2B5EF4-FFF2-40B4-BE49-F238E27FC236}">
                <a16:creationId xmlns:a16="http://schemas.microsoft.com/office/drawing/2014/main" id="{3F32DB6A-AFAC-164A-94EA-9CAE3E0B5EDD}"/>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t="15730"/>
          <a:stretch/>
        </p:blipFill>
        <p:spPr bwMode="auto">
          <a:xfrm>
            <a:off x="20" y="10"/>
            <a:ext cx="12191979" cy="6857990"/>
          </a:xfrm>
          <a:prstGeom prst="rect">
            <a:avLst/>
          </a:prstGeom>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E8BB628-F6E4-BDE3-8E48-362CD5E8FAD3}"/>
              </a:ext>
            </a:extLst>
          </p:cNvPr>
          <p:cNvSpPr>
            <a:spLocks noGrp="1"/>
          </p:cNvSpPr>
          <p:nvPr>
            <p:ph type="title"/>
          </p:nvPr>
        </p:nvSpPr>
        <p:spPr>
          <a:xfrm>
            <a:off x="841248" y="847082"/>
            <a:ext cx="3803904" cy="5123950"/>
          </a:xfrm>
        </p:spPr>
        <p:txBody>
          <a:bodyPr anchor="t">
            <a:normAutofit/>
          </a:bodyPr>
          <a:lstStyle/>
          <a:p>
            <a:pPr algn="ctr"/>
            <a:r>
              <a:rPr lang="en-GB" sz="8000" dirty="0">
                <a:latin typeface="Amasis MT Pro Medium" panose="02040604050005020304" pitchFamily="18" charset="0"/>
              </a:rPr>
              <a:t>WATER</a:t>
            </a:r>
          </a:p>
        </p:txBody>
      </p:sp>
      <p:sp>
        <p:nvSpPr>
          <p:cNvPr id="1035" name="sketchy rectangle">
            <a:extLst>
              <a:ext uri="{FF2B5EF4-FFF2-40B4-BE49-F238E27FC236}">
                <a16:creationId xmlns:a16="http://schemas.microsoft.com/office/drawing/2014/main" id="{E72C4BCF-DD12-4745-97A9-F340887E1F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70453" y="563667"/>
            <a:ext cx="6570918" cy="5579082"/>
          </a:xfrm>
          <a:custGeom>
            <a:avLst/>
            <a:gdLst>
              <a:gd name="csX0" fmla="*/ 0 w 6570918"/>
              <a:gd name="csY0" fmla="*/ 0 h 5579082"/>
              <a:gd name="csX1" fmla="*/ 525673 w 6570918"/>
              <a:gd name="csY1" fmla="*/ 0 h 5579082"/>
              <a:gd name="csX2" fmla="*/ 1182765 w 6570918"/>
              <a:gd name="csY2" fmla="*/ 0 h 5579082"/>
              <a:gd name="csX3" fmla="*/ 1905566 w 6570918"/>
              <a:gd name="csY3" fmla="*/ 0 h 5579082"/>
              <a:gd name="csX4" fmla="*/ 2365530 w 6570918"/>
              <a:gd name="csY4" fmla="*/ 0 h 5579082"/>
              <a:gd name="csX5" fmla="*/ 2825495 w 6570918"/>
              <a:gd name="csY5" fmla="*/ 0 h 5579082"/>
              <a:gd name="csX6" fmla="*/ 3614005 w 6570918"/>
              <a:gd name="csY6" fmla="*/ 0 h 5579082"/>
              <a:gd name="csX7" fmla="*/ 4271097 w 6570918"/>
              <a:gd name="csY7" fmla="*/ 0 h 5579082"/>
              <a:gd name="csX8" fmla="*/ 4731061 w 6570918"/>
              <a:gd name="csY8" fmla="*/ 0 h 5579082"/>
              <a:gd name="csX9" fmla="*/ 5388153 w 6570918"/>
              <a:gd name="csY9" fmla="*/ 0 h 5579082"/>
              <a:gd name="csX10" fmla="*/ 6570918 w 6570918"/>
              <a:gd name="csY10" fmla="*/ 0 h 5579082"/>
              <a:gd name="csX11" fmla="*/ 6570918 w 6570918"/>
              <a:gd name="csY11" fmla="*/ 641594 h 5579082"/>
              <a:gd name="csX12" fmla="*/ 6570918 w 6570918"/>
              <a:gd name="csY12" fmla="*/ 1338980 h 5579082"/>
              <a:gd name="csX13" fmla="*/ 6570918 w 6570918"/>
              <a:gd name="csY13" fmla="*/ 1868992 h 5579082"/>
              <a:gd name="csX14" fmla="*/ 6570918 w 6570918"/>
              <a:gd name="csY14" fmla="*/ 2677959 h 5579082"/>
              <a:gd name="csX15" fmla="*/ 6570918 w 6570918"/>
              <a:gd name="csY15" fmla="*/ 3375345 h 5579082"/>
              <a:gd name="csX16" fmla="*/ 6570918 w 6570918"/>
              <a:gd name="csY16" fmla="*/ 4184312 h 5579082"/>
              <a:gd name="csX17" fmla="*/ 6570918 w 6570918"/>
              <a:gd name="csY17" fmla="*/ 4825906 h 5579082"/>
              <a:gd name="csX18" fmla="*/ 6570918 w 6570918"/>
              <a:gd name="csY18" fmla="*/ 5579082 h 5579082"/>
              <a:gd name="csX19" fmla="*/ 5913826 w 6570918"/>
              <a:gd name="csY19" fmla="*/ 5579082 h 5579082"/>
              <a:gd name="csX20" fmla="*/ 5256734 w 6570918"/>
              <a:gd name="csY20" fmla="*/ 5579082 h 5579082"/>
              <a:gd name="csX21" fmla="*/ 4796770 w 6570918"/>
              <a:gd name="csY21" fmla="*/ 5579082 h 5579082"/>
              <a:gd name="csX22" fmla="*/ 4139678 w 6570918"/>
              <a:gd name="csY22" fmla="*/ 5579082 h 5579082"/>
              <a:gd name="csX23" fmla="*/ 3548296 w 6570918"/>
              <a:gd name="csY23" fmla="*/ 5579082 h 5579082"/>
              <a:gd name="csX24" fmla="*/ 2956913 w 6570918"/>
              <a:gd name="csY24" fmla="*/ 5579082 h 5579082"/>
              <a:gd name="csX25" fmla="*/ 2365530 w 6570918"/>
              <a:gd name="csY25" fmla="*/ 5579082 h 5579082"/>
              <a:gd name="csX26" fmla="*/ 1774148 w 6570918"/>
              <a:gd name="csY26" fmla="*/ 5579082 h 5579082"/>
              <a:gd name="csX27" fmla="*/ 1051347 w 6570918"/>
              <a:gd name="csY27" fmla="*/ 5579082 h 5579082"/>
              <a:gd name="csX28" fmla="*/ 0 w 6570918"/>
              <a:gd name="csY28" fmla="*/ 5579082 h 5579082"/>
              <a:gd name="csX29" fmla="*/ 0 w 6570918"/>
              <a:gd name="csY29" fmla="*/ 5049069 h 5579082"/>
              <a:gd name="csX30" fmla="*/ 0 w 6570918"/>
              <a:gd name="csY30" fmla="*/ 4407475 h 5579082"/>
              <a:gd name="csX31" fmla="*/ 0 w 6570918"/>
              <a:gd name="csY31" fmla="*/ 3654299 h 5579082"/>
              <a:gd name="csX32" fmla="*/ 0 w 6570918"/>
              <a:gd name="csY32" fmla="*/ 2845332 h 5579082"/>
              <a:gd name="csX33" fmla="*/ 0 w 6570918"/>
              <a:gd name="csY33" fmla="*/ 2315319 h 5579082"/>
              <a:gd name="csX34" fmla="*/ 0 w 6570918"/>
              <a:gd name="csY34" fmla="*/ 1785306 h 5579082"/>
              <a:gd name="csX35" fmla="*/ 0 w 6570918"/>
              <a:gd name="csY35" fmla="*/ 976339 h 5579082"/>
              <a:gd name="csX36" fmla="*/ 0 w 6570918"/>
              <a:gd name="csY36" fmla="*/ 0 h 55790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6570918" h="5579082" fill="none" extrusionOk="0">
                <a:moveTo>
                  <a:pt x="0" y="0"/>
                </a:moveTo>
                <a:cubicBezTo>
                  <a:pt x="243958" y="-12943"/>
                  <a:pt x="320490" y="5069"/>
                  <a:pt x="525673" y="0"/>
                </a:cubicBezTo>
                <a:cubicBezTo>
                  <a:pt x="730856" y="-5069"/>
                  <a:pt x="894885" y="-31124"/>
                  <a:pt x="1182765" y="0"/>
                </a:cubicBezTo>
                <a:cubicBezTo>
                  <a:pt x="1470645" y="31124"/>
                  <a:pt x="1749273" y="-34665"/>
                  <a:pt x="1905566" y="0"/>
                </a:cubicBezTo>
                <a:cubicBezTo>
                  <a:pt x="2061859" y="34665"/>
                  <a:pt x="2197988" y="-9109"/>
                  <a:pt x="2365530" y="0"/>
                </a:cubicBezTo>
                <a:cubicBezTo>
                  <a:pt x="2533072" y="9109"/>
                  <a:pt x="2717818" y="14270"/>
                  <a:pt x="2825495" y="0"/>
                </a:cubicBezTo>
                <a:cubicBezTo>
                  <a:pt x="2933173" y="-14270"/>
                  <a:pt x="3325797" y="34931"/>
                  <a:pt x="3614005" y="0"/>
                </a:cubicBezTo>
                <a:cubicBezTo>
                  <a:pt x="3902213" y="-34931"/>
                  <a:pt x="4022668" y="20046"/>
                  <a:pt x="4271097" y="0"/>
                </a:cubicBezTo>
                <a:cubicBezTo>
                  <a:pt x="4519526" y="-20046"/>
                  <a:pt x="4513512" y="-11694"/>
                  <a:pt x="4731061" y="0"/>
                </a:cubicBezTo>
                <a:cubicBezTo>
                  <a:pt x="4948610" y="11694"/>
                  <a:pt x="5198372" y="9165"/>
                  <a:pt x="5388153" y="0"/>
                </a:cubicBezTo>
                <a:cubicBezTo>
                  <a:pt x="5577934" y="-9165"/>
                  <a:pt x="6151380" y="40199"/>
                  <a:pt x="6570918" y="0"/>
                </a:cubicBezTo>
                <a:cubicBezTo>
                  <a:pt x="6551036" y="203561"/>
                  <a:pt x="6580818" y="383315"/>
                  <a:pt x="6570918" y="641594"/>
                </a:cubicBezTo>
                <a:cubicBezTo>
                  <a:pt x="6561018" y="899873"/>
                  <a:pt x="6567176" y="1128287"/>
                  <a:pt x="6570918" y="1338980"/>
                </a:cubicBezTo>
                <a:cubicBezTo>
                  <a:pt x="6574660" y="1549673"/>
                  <a:pt x="6585356" y="1654385"/>
                  <a:pt x="6570918" y="1868992"/>
                </a:cubicBezTo>
                <a:cubicBezTo>
                  <a:pt x="6556480" y="2083599"/>
                  <a:pt x="6556432" y="2483858"/>
                  <a:pt x="6570918" y="2677959"/>
                </a:cubicBezTo>
                <a:cubicBezTo>
                  <a:pt x="6585404" y="2872060"/>
                  <a:pt x="6594779" y="3123863"/>
                  <a:pt x="6570918" y="3375345"/>
                </a:cubicBezTo>
                <a:cubicBezTo>
                  <a:pt x="6547057" y="3626827"/>
                  <a:pt x="6570936" y="3958160"/>
                  <a:pt x="6570918" y="4184312"/>
                </a:cubicBezTo>
                <a:cubicBezTo>
                  <a:pt x="6570900" y="4410464"/>
                  <a:pt x="6547287" y="4544723"/>
                  <a:pt x="6570918" y="4825906"/>
                </a:cubicBezTo>
                <a:cubicBezTo>
                  <a:pt x="6594549" y="5107089"/>
                  <a:pt x="6602036" y="5410476"/>
                  <a:pt x="6570918" y="5579082"/>
                </a:cubicBezTo>
                <a:cubicBezTo>
                  <a:pt x="6298110" y="5570936"/>
                  <a:pt x="6115328" y="5586054"/>
                  <a:pt x="5913826" y="5579082"/>
                </a:cubicBezTo>
                <a:cubicBezTo>
                  <a:pt x="5712324" y="5572110"/>
                  <a:pt x="5388485" y="5595536"/>
                  <a:pt x="5256734" y="5579082"/>
                </a:cubicBezTo>
                <a:cubicBezTo>
                  <a:pt x="5124983" y="5562628"/>
                  <a:pt x="4935790" y="5558095"/>
                  <a:pt x="4796770" y="5579082"/>
                </a:cubicBezTo>
                <a:cubicBezTo>
                  <a:pt x="4657750" y="5600069"/>
                  <a:pt x="4406133" y="5565422"/>
                  <a:pt x="4139678" y="5579082"/>
                </a:cubicBezTo>
                <a:cubicBezTo>
                  <a:pt x="3873223" y="5592742"/>
                  <a:pt x="3680595" y="5550657"/>
                  <a:pt x="3548296" y="5579082"/>
                </a:cubicBezTo>
                <a:cubicBezTo>
                  <a:pt x="3415997" y="5607507"/>
                  <a:pt x="3154943" y="5582453"/>
                  <a:pt x="2956913" y="5579082"/>
                </a:cubicBezTo>
                <a:cubicBezTo>
                  <a:pt x="2758883" y="5575711"/>
                  <a:pt x="2616161" y="5608318"/>
                  <a:pt x="2365530" y="5579082"/>
                </a:cubicBezTo>
                <a:cubicBezTo>
                  <a:pt x="2114899" y="5549846"/>
                  <a:pt x="2015415" y="5589111"/>
                  <a:pt x="1774148" y="5579082"/>
                </a:cubicBezTo>
                <a:cubicBezTo>
                  <a:pt x="1532881" y="5569053"/>
                  <a:pt x="1276772" y="5614025"/>
                  <a:pt x="1051347" y="5579082"/>
                </a:cubicBezTo>
                <a:cubicBezTo>
                  <a:pt x="825922" y="5544139"/>
                  <a:pt x="317006" y="5579887"/>
                  <a:pt x="0" y="5579082"/>
                </a:cubicBezTo>
                <a:cubicBezTo>
                  <a:pt x="647" y="5359793"/>
                  <a:pt x="-19331" y="5263540"/>
                  <a:pt x="0" y="5049069"/>
                </a:cubicBezTo>
                <a:cubicBezTo>
                  <a:pt x="19331" y="4834598"/>
                  <a:pt x="-28451" y="4599178"/>
                  <a:pt x="0" y="4407475"/>
                </a:cubicBezTo>
                <a:cubicBezTo>
                  <a:pt x="28451" y="4215772"/>
                  <a:pt x="-6879" y="3851595"/>
                  <a:pt x="0" y="3654299"/>
                </a:cubicBezTo>
                <a:cubicBezTo>
                  <a:pt x="6879" y="3457003"/>
                  <a:pt x="-13361" y="3153430"/>
                  <a:pt x="0" y="2845332"/>
                </a:cubicBezTo>
                <a:cubicBezTo>
                  <a:pt x="13361" y="2537234"/>
                  <a:pt x="-16264" y="2440224"/>
                  <a:pt x="0" y="2315319"/>
                </a:cubicBezTo>
                <a:cubicBezTo>
                  <a:pt x="16264" y="2190414"/>
                  <a:pt x="-4326" y="1972406"/>
                  <a:pt x="0" y="1785306"/>
                </a:cubicBezTo>
                <a:cubicBezTo>
                  <a:pt x="4326" y="1598206"/>
                  <a:pt x="36209" y="1149228"/>
                  <a:pt x="0" y="976339"/>
                </a:cubicBezTo>
                <a:cubicBezTo>
                  <a:pt x="-36209" y="803450"/>
                  <a:pt x="-26312" y="313518"/>
                  <a:pt x="0" y="0"/>
                </a:cubicBezTo>
                <a:close/>
              </a:path>
              <a:path w="6570918" h="5579082" stroke="0" extrusionOk="0">
                <a:moveTo>
                  <a:pt x="0" y="0"/>
                </a:moveTo>
                <a:cubicBezTo>
                  <a:pt x="278313" y="27288"/>
                  <a:pt x="431280" y="2299"/>
                  <a:pt x="591383" y="0"/>
                </a:cubicBezTo>
                <a:cubicBezTo>
                  <a:pt x="751486" y="-2299"/>
                  <a:pt x="864229" y="-10501"/>
                  <a:pt x="1051347" y="0"/>
                </a:cubicBezTo>
                <a:cubicBezTo>
                  <a:pt x="1238465" y="10501"/>
                  <a:pt x="1656622" y="-8810"/>
                  <a:pt x="1839857" y="0"/>
                </a:cubicBezTo>
                <a:cubicBezTo>
                  <a:pt x="2023092" y="8810"/>
                  <a:pt x="2169087" y="15350"/>
                  <a:pt x="2431240" y="0"/>
                </a:cubicBezTo>
                <a:cubicBezTo>
                  <a:pt x="2693393" y="-15350"/>
                  <a:pt x="2900257" y="27267"/>
                  <a:pt x="3022622" y="0"/>
                </a:cubicBezTo>
                <a:cubicBezTo>
                  <a:pt x="3144987" y="-27267"/>
                  <a:pt x="3447181" y="14689"/>
                  <a:pt x="3811132" y="0"/>
                </a:cubicBezTo>
                <a:cubicBezTo>
                  <a:pt x="4175083" y="-14689"/>
                  <a:pt x="4141184" y="1416"/>
                  <a:pt x="4336806" y="0"/>
                </a:cubicBezTo>
                <a:cubicBezTo>
                  <a:pt x="4532428" y="-1416"/>
                  <a:pt x="4953156" y="21134"/>
                  <a:pt x="5125316" y="0"/>
                </a:cubicBezTo>
                <a:cubicBezTo>
                  <a:pt x="5297476" y="-21134"/>
                  <a:pt x="5588322" y="-4504"/>
                  <a:pt x="5913826" y="0"/>
                </a:cubicBezTo>
                <a:cubicBezTo>
                  <a:pt x="6239330" y="4504"/>
                  <a:pt x="6420523" y="-5260"/>
                  <a:pt x="6570918" y="0"/>
                </a:cubicBezTo>
                <a:cubicBezTo>
                  <a:pt x="6591445" y="372376"/>
                  <a:pt x="6574842" y="632430"/>
                  <a:pt x="6570918" y="808967"/>
                </a:cubicBezTo>
                <a:cubicBezTo>
                  <a:pt x="6566994" y="985504"/>
                  <a:pt x="6590171" y="1307889"/>
                  <a:pt x="6570918" y="1562143"/>
                </a:cubicBezTo>
                <a:cubicBezTo>
                  <a:pt x="6551665" y="1816397"/>
                  <a:pt x="6555438" y="1963128"/>
                  <a:pt x="6570918" y="2092156"/>
                </a:cubicBezTo>
                <a:cubicBezTo>
                  <a:pt x="6586398" y="2221184"/>
                  <a:pt x="6566210" y="2620933"/>
                  <a:pt x="6570918" y="2789541"/>
                </a:cubicBezTo>
                <a:cubicBezTo>
                  <a:pt x="6575626" y="2958149"/>
                  <a:pt x="6544837" y="3183433"/>
                  <a:pt x="6570918" y="3486926"/>
                </a:cubicBezTo>
                <a:cubicBezTo>
                  <a:pt x="6596999" y="3790419"/>
                  <a:pt x="6605308" y="3845885"/>
                  <a:pt x="6570918" y="4184312"/>
                </a:cubicBezTo>
                <a:cubicBezTo>
                  <a:pt x="6536528" y="4522739"/>
                  <a:pt x="6608082" y="4624099"/>
                  <a:pt x="6570918" y="4937488"/>
                </a:cubicBezTo>
                <a:cubicBezTo>
                  <a:pt x="6533754" y="5250877"/>
                  <a:pt x="6586964" y="5431073"/>
                  <a:pt x="6570918" y="5579082"/>
                </a:cubicBezTo>
                <a:cubicBezTo>
                  <a:pt x="6289892" y="5586213"/>
                  <a:pt x="6205354" y="5547724"/>
                  <a:pt x="5848117" y="5579082"/>
                </a:cubicBezTo>
                <a:cubicBezTo>
                  <a:pt x="5490880" y="5610440"/>
                  <a:pt x="5430172" y="5600685"/>
                  <a:pt x="5322444" y="5579082"/>
                </a:cubicBezTo>
                <a:cubicBezTo>
                  <a:pt x="5214716" y="5557479"/>
                  <a:pt x="4791298" y="5604209"/>
                  <a:pt x="4533933" y="5579082"/>
                </a:cubicBezTo>
                <a:cubicBezTo>
                  <a:pt x="4276568" y="5553955"/>
                  <a:pt x="4194834" y="5592381"/>
                  <a:pt x="3876842" y="5579082"/>
                </a:cubicBezTo>
                <a:cubicBezTo>
                  <a:pt x="3558850" y="5565783"/>
                  <a:pt x="3592122" y="5581860"/>
                  <a:pt x="3351168" y="5579082"/>
                </a:cubicBezTo>
                <a:cubicBezTo>
                  <a:pt x="3110214" y="5576304"/>
                  <a:pt x="2934023" y="5584193"/>
                  <a:pt x="2694076" y="5579082"/>
                </a:cubicBezTo>
                <a:cubicBezTo>
                  <a:pt x="2454129" y="5573971"/>
                  <a:pt x="2428702" y="5591803"/>
                  <a:pt x="2234112" y="5579082"/>
                </a:cubicBezTo>
                <a:cubicBezTo>
                  <a:pt x="2039522" y="5566361"/>
                  <a:pt x="1981009" y="5601189"/>
                  <a:pt x="1774148" y="5579082"/>
                </a:cubicBezTo>
                <a:cubicBezTo>
                  <a:pt x="1567287" y="5556975"/>
                  <a:pt x="1275481" y="5606317"/>
                  <a:pt x="1117056" y="5579082"/>
                </a:cubicBezTo>
                <a:cubicBezTo>
                  <a:pt x="958631" y="5551847"/>
                  <a:pt x="755477" y="5572254"/>
                  <a:pt x="591383" y="5579082"/>
                </a:cubicBezTo>
                <a:cubicBezTo>
                  <a:pt x="427289" y="5585910"/>
                  <a:pt x="187330" y="5591515"/>
                  <a:pt x="0" y="5579082"/>
                </a:cubicBezTo>
                <a:cubicBezTo>
                  <a:pt x="-26479" y="5461734"/>
                  <a:pt x="-8007" y="5136203"/>
                  <a:pt x="0" y="4993278"/>
                </a:cubicBezTo>
                <a:cubicBezTo>
                  <a:pt x="8007" y="4850353"/>
                  <a:pt x="-866" y="4711104"/>
                  <a:pt x="0" y="4463266"/>
                </a:cubicBezTo>
                <a:cubicBezTo>
                  <a:pt x="866" y="4215428"/>
                  <a:pt x="32773" y="4051281"/>
                  <a:pt x="0" y="3710090"/>
                </a:cubicBezTo>
                <a:cubicBezTo>
                  <a:pt x="-32773" y="3368899"/>
                  <a:pt x="-4467" y="3247332"/>
                  <a:pt x="0" y="3124286"/>
                </a:cubicBezTo>
                <a:cubicBezTo>
                  <a:pt x="4467" y="3001240"/>
                  <a:pt x="-19954" y="2606861"/>
                  <a:pt x="0" y="2371110"/>
                </a:cubicBezTo>
                <a:cubicBezTo>
                  <a:pt x="19954" y="2135359"/>
                  <a:pt x="32823" y="1730214"/>
                  <a:pt x="0" y="1562143"/>
                </a:cubicBezTo>
                <a:cubicBezTo>
                  <a:pt x="-32823" y="1394072"/>
                  <a:pt x="31174" y="1196398"/>
                  <a:pt x="0" y="920549"/>
                </a:cubicBezTo>
                <a:cubicBezTo>
                  <a:pt x="-31174" y="644700"/>
                  <a:pt x="-12315" y="369594"/>
                  <a:pt x="0" y="0"/>
                </a:cubicBezTo>
                <a:close/>
              </a:path>
            </a:pathLst>
          </a:custGeom>
          <a:solidFill>
            <a:schemeClr val="tx1"/>
          </a:solidFill>
          <a:ln w="95250">
            <a:solidFill>
              <a:schemeClr val="tx1"/>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E9F9CE3-E1F2-0027-361B-F70852495952}"/>
              </a:ext>
            </a:extLst>
          </p:cNvPr>
          <p:cNvSpPr>
            <a:spLocks noGrp="1"/>
          </p:cNvSpPr>
          <p:nvPr>
            <p:ph idx="1"/>
          </p:nvPr>
        </p:nvSpPr>
        <p:spPr>
          <a:xfrm>
            <a:off x="5404104" y="847082"/>
            <a:ext cx="5946648" cy="4988412"/>
          </a:xfrm>
        </p:spPr>
        <p:txBody>
          <a:bodyPr>
            <a:normAutofit/>
          </a:bodyPr>
          <a:lstStyle/>
          <a:p>
            <a:pPr>
              <a:buSzPct val="70000"/>
              <a:buFont typeface="Wingdings" panose="05000000000000000000" pitchFamily="2" charset="2"/>
              <a:buChar char="Ø"/>
            </a:pPr>
            <a:r>
              <a:rPr lang="en-GB" dirty="0">
                <a:solidFill>
                  <a:schemeClr val="bg1"/>
                </a:solidFill>
                <a:latin typeface="Arial" panose="020B0604020202020204" pitchFamily="34" charset="0"/>
                <a:cs typeface="Arial" panose="020B0604020202020204" pitchFamily="34" charset="0"/>
              </a:rPr>
              <a:t>Water exists in different physical states – solid, liquid and gas.  </a:t>
            </a:r>
          </a:p>
          <a:p>
            <a:pPr>
              <a:buSzPct val="70000"/>
              <a:buFont typeface="Wingdings" panose="05000000000000000000" pitchFamily="2" charset="2"/>
              <a:buChar char="Ø"/>
            </a:pPr>
            <a:r>
              <a:rPr lang="en-GB" dirty="0">
                <a:solidFill>
                  <a:schemeClr val="bg1"/>
                </a:solidFill>
                <a:latin typeface="Arial" panose="020B0604020202020204" pitchFamily="34" charset="0"/>
                <a:cs typeface="Arial" panose="020B0604020202020204" pitchFamily="34" charset="0"/>
              </a:rPr>
              <a:t>Makes up 70% of the surface of Earth.</a:t>
            </a:r>
          </a:p>
          <a:p>
            <a:pPr>
              <a:buSzPct val="70000"/>
              <a:buFont typeface="Wingdings" panose="05000000000000000000" pitchFamily="2" charset="2"/>
              <a:buChar char="Ø"/>
            </a:pPr>
            <a:r>
              <a:rPr lang="en-GB" dirty="0">
                <a:solidFill>
                  <a:schemeClr val="bg1"/>
                </a:solidFill>
                <a:latin typeface="Arial" panose="020B0604020202020204" pitchFamily="34" charset="0"/>
                <a:cs typeface="Arial" panose="020B0604020202020204" pitchFamily="34" charset="0"/>
              </a:rPr>
              <a:t> 65 – 90% of the weight of all living organisms.</a:t>
            </a:r>
          </a:p>
          <a:p>
            <a:pPr>
              <a:buSzPct val="70000"/>
              <a:buFont typeface="Wingdings" panose="05000000000000000000" pitchFamily="2" charset="2"/>
              <a:buChar char="Ø"/>
            </a:pPr>
            <a:r>
              <a:rPr lang="en-GB" dirty="0">
                <a:solidFill>
                  <a:schemeClr val="bg1"/>
                </a:solidFill>
                <a:latin typeface="Arial" panose="020B0604020202020204" pitchFamily="34" charset="0"/>
                <a:cs typeface="Arial" panose="020B0604020202020204" pitchFamily="34" charset="0"/>
              </a:rPr>
              <a:t> Plays important role in all vital processes of living organisms.</a:t>
            </a:r>
          </a:p>
          <a:p>
            <a:pPr>
              <a:buSzPct val="70000"/>
              <a:buFont typeface="Wingdings" panose="05000000000000000000" pitchFamily="2" charset="2"/>
              <a:buChar char="Ø"/>
            </a:pPr>
            <a:r>
              <a:rPr lang="en-GB" dirty="0">
                <a:solidFill>
                  <a:schemeClr val="bg1"/>
                </a:solidFill>
                <a:latin typeface="Arial" panose="020B0604020202020204" pitchFamily="34" charset="0"/>
                <a:cs typeface="Arial" panose="020B0604020202020204" pitchFamily="34" charset="0"/>
              </a:rPr>
              <a:t>Chemical formula is H</a:t>
            </a:r>
            <a:r>
              <a:rPr lang="en-GB" sz="1800" dirty="0">
                <a:solidFill>
                  <a:schemeClr val="bg1"/>
                </a:solidFill>
                <a:latin typeface="Arial" panose="020B0604020202020204" pitchFamily="34" charset="0"/>
                <a:cs typeface="Arial" panose="020B0604020202020204" pitchFamily="34" charset="0"/>
              </a:rPr>
              <a:t>2</a:t>
            </a:r>
            <a:r>
              <a:rPr lang="en-GB" dirty="0">
                <a:solidFill>
                  <a:schemeClr val="bg1"/>
                </a:solidFill>
                <a:latin typeface="Arial" panose="020B0604020202020204" pitchFamily="34" charset="0"/>
                <a:cs typeface="Arial" panose="020B0604020202020204" pitchFamily="34" charset="0"/>
              </a:rPr>
              <a:t>O.</a:t>
            </a:r>
          </a:p>
          <a:p>
            <a:pPr>
              <a:buSzPct val="70000"/>
              <a:buFont typeface="Wingdings" panose="05000000000000000000" pitchFamily="2" charset="2"/>
              <a:buChar char="Ø"/>
            </a:pPr>
            <a:endParaRPr lang="en-MY" dirty="0">
              <a:solidFill>
                <a:schemeClr val="bg1"/>
              </a:solidFill>
              <a:latin typeface="Amasis MT Pro Medium" panose="02040604050005020304" pitchFamily="18" charset="0"/>
            </a:endParaRPr>
          </a:p>
        </p:txBody>
      </p:sp>
      <p:pic>
        <p:nvPicPr>
          <p:cNvPr id="4" name="Picture 2" descr="Commentary: What Our Nation's Drinking Water Systems Need Now - Water  Finance &amp; Management">
            <a:extLst>
              <a:ext uri="{FF2B5EF4-FFF2-40B4-BE49-F238E27FC236}">
                <a16:creationId xmlns:a16="http://schemas.microsoft.com/office/drawing/2014/main" id="{3AD5FCB3-BA12-2BD6-C9F7-B5CA1CA1B99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248" r="14540" b="1"/>
          <a:stretch/>
        </p:blipFill>
        <p:spPr bwMode="auto">
          <a:xfrm>
            <a:off x="818508" y="2327668"/>
            <a:ext cx="3826644" cy="3815081"/>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524152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g89d6dfa6c4_0_0"/>
          <p:cNvSpPr/>
          <p:nvPr/>
        </p:nvSpPr>
        <p:spPr>
          <a:xfrm>
            <a:off x="1073815" y="1094675"/>
            <a:ext cx="10044300" cy="5092500"/>
          </a:xfrm>
          <a:prstGeom prst="rect">
            <a:avLst/>
          </a:prstGeom>
          <a:solidFill>
            <a:srgbClr val="0C0C0C"/>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Font typeface="Arial"/>
              <a:buNone/>
            </a:pPr>
            <a:endParaRPr sz="1800" b="0" i="0" u="none" strike="noStrike" cap="none">
              <a:solidFill>
                <a:schemeClr val="lt1"/>
              </a:solidFill>
              <a:latin typeface="Calibri"/>
              <a:ea typeface="Calibri"/>
              <a:cs typeface="Calibri"/>
              <a:sym typeface="Calibri"/>
            </a:endParaRPr>
          </a:p>
        </p:txBody>
      </p:sp>
      <p:sp>
        <p:nvSpPr>
          <p:cNvPr id="138" name="Google Shape;138;g89d6dfa6c4_0_0"/>
          <p:cNvSpPr txBox="1"/>
          <p:nvPr/>
        </p:nvSpPr>
        <p:spPr>
          <a:xfrm>
            <a:off x="1073815" y="1507078"/>
            <a:ext cx="10044300" cy="8604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3200"/>
              <a:buFont typeface="Arial"/>
              <a:buNone/>
            </a:pPr>
            <a:r>
              <a:rPr lang="en-US" sz="3200" b="0" i="0" u="none" strike="noStrike" cap="none">
                <a:solidFill>
                  <a:schemeClr val="lt1"/>
                </a:solidFill>
                <a:latin typeface="Arial Black"/>
                <a:ea typeface="Arial Black"/>
                <a:cs typeface="Arial Black"/>
                <a:sym typeface="Arial Black"/>
              </a:rPr>
              <a:t>  </a:t>
            </a:r>
            <a:endParaRPr/>
          </a:p>
          <a:p>
            <a:pPr marL="0" marR="0" lvl="0" indent="0" algn="l" rtl="0">
              <a:lnSpc>
                <a:spcPct val="90000"/>
              </a:lnSpc>
              <a:spcBef>
                <a:spcPts val="1000"/>
              </a:spcBef>
              <a:spcAft>
                <a:spcPts val="0"/>
              </a:spcAft>
              <a:buClr>
                <a:schemeClr val="lt1"/>
              </a:buClr>
              <a:buSzPts val="3200"/>
              <a:buFont typeface="Arial"/>
              <a:buNone/>
            </a:pPr>
            <a:endParaRPr sz="3200" b="0" i="0" u="none" strike="noStrike" cap="none">
              <a:solidFill>
                <a:schemeClr val="lt1"/>
              </a:solidFill>
              <a:latin typeface="Calibri"/>
              <a:ea typeface="Calibri"/>
              <a:cs typeface="Calibri"/>
              <a:sym typeface="Calibri"/>
            </a:endParaRPr>
          </a:p>
          <a:p>
            <a:pPr marL="0" marR="0" lvl="0" indent="0" algn="l" rtl="0">
              <a:lnSpc>
                <a:spcPct val="90000"/>
              </a:lnSpc>
              <a:spcBef>
                <a:spcPts val="1000"/>
              </a:spcBef>
              <a:spcAft>
                <a:spcPts val="0"/>
              </a:spcAft>
              <a:buClr>
                <a:schemeClr val="lt1"/>
              </a:buClr>
              <a:buSzPts val="3200"/>
              <a:buFont typeface="Arial"/>
              <a:buNone/>
            </a:pPr>
            <a:endParaRPr sz="3200" b="0" i="0" u="none" strike="noStrike" cap="none">
              <a:solidFill>
                <a:schemeClr val="lt1"/>
              </a:solidFill>
              <a:latin typeface="Arial Black"/>
              <a:ea typeface="Arial Black"/>
              <a:cs typeface="Arial Black"/>
              <a:sym typeface="Arial Black"/>
            </a:endParaRPr>
          </a:p>
        </p:txBody>
      </p:sp>
      <p:pic>
        <p:nvPicPr>
          <p:cNvPr id="139" name="Google Shape;139;g89d6dfa6c4_0_0"/>
          <p:cNvPicPr preferRelativeResize="0"/>
          <p:nvPr/>
        </p:nvPicPr>
        <p:blipFill>
          <a:blip r:embed="rId3">
            <a:alphaModFix/>
          </a:blip>
          <a:stretch>
            <a:fillRect/>
          </a:stretch>
        </p:blipFill>
        <p:spPr>
          <a:xfrm>
            <a:off x="2438400" y="1766888"/>
            <a:ext cx="7620000" cy="3629025"/>
          </a:xfrm>
          <a:prstGeom prst="rect">
            <a:avLst/>
          </a:prstGeom>
          <a:noFill/>
          <a:ln>
            <a:noFill/>
          </a:ln>
        </p:spPr>
      </p:pic>
      <p:sp>
        <p:nvSpPr>
          <p:cNvPr id="2" name="Title 1">
            <a:extLst>
              <a:ext uri="{FF2B5EF4-FFF2-40B4-BE49-F238E27FC236}">
                <a16:creationId xmlns:a16="http://schemas.microsoft.com/office/drawing/2014/main" id="{B22809D7-1090-EEC5-5F85-7A689E33226E}"/>
              </a:ext>
            </a:extLst>
          </p:cNvPr>
          <p:cNvSpPr txBox="1">
            <a:spLocks/>
          </p:cNvSpPr>
          <p:nvPr/>
        </p:nvSpPr>
        <p:spPr>
          <a:xfrm>
            <a:off x="838200" y="365126"/>
            <a:ext cx="10515600" cy="711828"/>
          </a:xfrm>
          <a:prstGeom prst="rect">
            <a:avLst/>
          </a:prstGeom>
          <a:solidFill>
            <a:schemeClr val="bg1">
              <a:lumMod val="85000"/>
            </a:schemeClr>
          </a:solidFill>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GB" sz="4000" b="1" dirty="0">
                <a:solidFill>
                  <a:srgbClr val="003366"/>
                </a:solidFill>
                <a:latin typeface="Amasis MT Pro Medium" panose="02040604050005020304" pitchFamily="18" charset="0"/>
              </a:rPr>
              <a:t>Water molecule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BB628-F6E4-BDE3-8E48-362CD5E8FAD3}"/>
              </a:ext>
            </a:extLst>
          </p:cNvPr>
          <p:cNvSpPr>
            <a:spLocks noGrp="1"/>
          </p:cNvSpPr>
          <p:nvPr>
            <p:ph type="title"/>
          </p:nvPr>
        </p:nvSpPr>
        <p:spPr/>
        <p:txBody>
          <a:bodyPr/>
          <a:lstStyle/>
          <a:p>
            <a:r>
              <a:rPr lang="en-GB" dirty="0">
                <a:solidFill>
                  <a:srgbClr val="003366"/>
                </a:solidFill>
                <a:latin typeface="Amasis MT Pro Medium" panose="02040604050005020304" pitchFamily="18" charset="0"/>
              </a:rPr>
              <a:t>Structure</a:t>
            </a:r>
          </a:p>
        </p:txBody>
      </p:sp>
      <p:sp>
        <p:nvSpPr>
          <p:cNvPr id="3" name="Content Placeholder 2">
            <a:extLst>
              <a:ext uri="{FF2B5EF4-FFF2-40B4-BE49-F238E27FC236}">
                <a16:creationId xmlns:a16="http://schemas.microsoft.com/office/drawing/2014/main" id="{3E9F9CE3-E1F2-0027-361B-F70852495952}"/>
              </a:ext>
            </a:extLst>
          </p:cNvPr>
          <p:cNvSpPr>
            <a:spLocks noGrp="1"/>
          </p:cNvSpPr>
          <p:nvPr>
            <p:ph idx="1"/>
          </p:nvPr>
        </p:nvSpPr>
        <p:spPr>
          <a:solidFill>
            <a:schemeClr val="tx1">
              <a:lumMod val="95000"/>
              <a:lumOff val="5000"/>
            </a:schemeClr>
          </a:solidFill>
        </p:spPr>
        <p:txBody>
          <a:bodyPr>
            <a:normAutofit/>
          </a:bodyPr>
          <a:lstStyle/>
          <a:p>
            <a:pPr algn="just">
              <a:buSzPct val="70000"/>
              <a:buFont typeface="Wingdings" panose="05000000000000000000" pitchFamily="2" charset="2"/>
              <a:buChar char="Ø"/>
            </a:pPr>
            <a:r>
              <a:rPr lang="en-GB" dirty="0">
                <a:solidFill>
                  <a:schemeClr val="bg1"/>
                </a:solidFill>
                <a:latin typeface="Arial" panose="020B0604020202020204" pitchFamily="34" charset="0"/>
                <a:cs typeface="Arial" panose="020B0604020202020204" pitchFamily="34" charset="0"/>
              </a:rPr>
              <a:t>A water molecule consists of two </a:t>
            </a:r>
            <a:r>
              <a:rPr lang="en-GB" u="sng" dirty="0">
                <a:solidFill>
                  <a:schemeClr val="accent1">
                    <a:lumMod val="60000"/>
                    <a:lumOff val="40000"/>
                  </a:schemeClr>
                </a:solidFill>
                <a:latin typeface="Arial" panose="020B0604020202020204" pitchFamily="34" charset="0"/>
                <a:cs typeface="Arial" panose="020B0604020202020204" pitchFamily="34" charset="0"/>
              </a:rPr>
              <a:t>Hydrogen atoms</a:t>
            </a:r>
            <a:r>
              <a:rPr lang="en-GB" dirty="0">
                <a:solidFill>
                  <a:srgbClr val="FF9900"/>
                </a:solidFill>
                <a:latin typeface="Arial" panose="020B0604020202020204" pitchFamily="34" charset="0"/>
                <a:cs typeface="Arial" panose="020B0604020202020204" pitchFamily="34" charset="0"/>
              </a:rPr>
              <a:t> </a:t>
            </a:r>
            <a:r>
              <a:rPr lang="en-GB" dirty="0">
                <a:solidFill>
                  <a:schemeClr val="bg1"/>
                </a:solidFill>
                <a:latin typeface="Arial" panose="020B0604020202020204" pitchFamily="34" charset="0"/>
                <a:cs typeface="Arial" panose="020B0604020202020204" pitchFamily="34" charset="0"/>
              </a:rPr>
              <a:t>covalently bonded to an </a:t>
            </a:r>
            <a:r>
              <a:rPr lang="en-GB" u="sng" dirty="0">
                <a:solidFill>
                  <a:schemeClr val="accent1">
                    <a:lumMod val="60000"/>
                    <a:lumOff val="40000"/>
                  </a:schemeClr>
                </a:solidFill>
                <a:latin typeface="Arial" panose="020B0604020202020204" pitchFamily="34" charset="0"/>
                <a:cs typeface="Arial" panose="020B0604020202020204" pitchFamily="34" charset="0"/>
              </a:rPr>
              <a:t>Oxygen atom</a:t>
            </a:r>
            <a:r>
              <a:rPr lang="en-GB" dirty="0">
                <a:solidFill>
                  <a:schemeClr val="bg1"/>
                </a:solidFill>
                <a:latin typeface="Arial" panose="020B0604020202020204" pitchFamily="34" charset="0"/>
                <a:cs typeface="Arial" panose="020B0604020202020204" pitchFamily="34" charset="0"/>
              </a:rPr>
              <a:t>.</a:t>
            </a:r>
          </a:p>
          <a:p>
            <a:pPr algn="just">
              <a:buSzPct val="70000"/>
              <a:buFont typeface="Wingdings" panose="05000000000000000000" pitchFamily="2" charset="2"/>
              <a:buChar char="Ø"/>
            </a:pPr>
            <a:endParaRPr lang="en-MY" sz="3600" dirty="0">
              <a:solidFill>
                <a:schemeClr val="bg1"/>
              </a:solidFill>
              <a:latin typeface="Amasis MT Pro Medium" panose="02040604050005020304" pitchFamily="18" charset="0"/>
            </a:endParaRPr>
          </a:p>
        </p:txBody>
      </p:sp>
      <p:pic>
        <p:nvPicPr>
          <p:cNvPr id="4" name="Google Shape;121;p5">
            <a:extLst>
              <a:ext uri="{FF2B5EF4-FFF2-40B4-BE49-F238E27FC236}">
                <a16:creationId xmlns:a16="http://schemas.microsoft.com/office/drawing/2014/main" id="{71259229-86FE-954A-B6DC-7885FA82A7D7}"/>
              </a:ext>
            </a:extLst>
          </p:cNvPr>
          <p:cNvPicPr preferRelativeResize="0"/>
          <p:nvPr/>
        </p:nvPicPr>
        <p:blipFill rotWithShape="1">
          <a:blip r:embed="rId3">
            <a:alphaModFix/>
          </a:blip>
          <a:srcRect/>
          <a:stretch/>
        </p:blipFill>
        <p:spPr>
          <a:xfrm>
            <a:off x="1666321" y="3244736"/>
            <a:ext cx="3539900" cy="2847025"/>
          </a:xfrm>
          <a:prstGeom prst="rect">
            <a:avLst/>
          </a:prstGeom>
          <a:noFill/>
          <a:ln>
            <a:noFill/>
          </a:ln>
        </p:spPr>
      </p:pic>
      <p:pic>
        <p:nvPicPr>
          <p:cNvPr id="5" name="Google Shape;122;p5" descr="Difference between Covalent and Hydrogen Bond | Easy Biology Class">
            <a:extLst>
              <a:ext uri="{FF2B5EF4-FFF2-40B4-BE49-F238E27FC236}">
                <a16:creationId xmlns:a16="http://schemas.microsoft.com/office/drawing/2014/main" id="{C6341465-95A6-ED74-71AD-AEFF33679C0C}"/>
              </a:ext>
            </a:extLst>
          </p:cNvPr>
          <p:cNvPicPr preferRelativeResize="0"/>
          <p:nvPr/>
        </p:nvPicPr>
        <p:blipFill rotWithShape="1">
          <a:blip r:embed="rId4">
            <a:alphaModFix/>
          </a:blip>
          <a:srcRect/>
          <a:stretch/>
        </p:blipFill>
        <p:spPr>
          <a:xfrm>
            <a:off x="5935285" y="3042746"/>
            <a:ext cx="5762503" cy="3305803"/>
          </a:xfrm>
          <a:prstGeom prst="rect">
            <a:avLst/>
          </a:prstGeom>
          <a:noFill/>
          <a:ln>
            <a:noFill/>
          </a:ln>
        </p:spPr>
      </p:pic>
    </p:spTree>
    <p:extLst>
      <p:ext uri="{BB962C8B-B14F-4D97-AF65-F5344CB8AC3E}">
        <p14:creationId xmlns:p14="http://schemas.microsoft.com/office/powerpoint/2010/main" val="28975664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DD638D3-1DE0-F6EB-52D1-AAED042A54DB}"/>
              </a:ext>
            </a:extLst>
          </p:cNvPr>
          <p:cNvGrpSpPr/>
          <p:nvPr/>
        </p:nvGrpSpPr>
        <p:grpSpPr>
          <a:xfrm>
            <a:off x="1651000" y="482600"/>
            <a:ext cx="8890000" cy="5892800"/>
            <a:chOff x="1651000" y="482600"/>
            <a:chExt cx="8890000" cy="5892800"/>
          </a:xfrm>
        </p:grpSpPr>
        <p:pic>
          <p:nvPicPr>
            <p:cNvPr id="1026" name="Picture 2" descr="Molecular Geometry, Lewis Structure, and Bond Angle of Water">
              <a:extLst>
                <a:ext uri="{FF2B5EF4-FFF2-40B4-BE49-F238E27FC236}">
                  <a16:creationId xmlns:a16="http://schemas.microsoft.com/office/drawing/2014/main" id="{C6DE73E4-73B9-1EE5-7307-04575DA0ED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0" y="482600"/>
              <a:ext cx="8890000" cy="58928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Molecular Geometry, Lewis Structure, and Bond Angle of Water">
              <a:extLst>
                <a:ext uri="{FF2B5EF4-FFF2-40B4-BE49-F238E27FC236}">
                  <a16:creationId xmlns:a16="http://schemas.microsoft.com/office/drawing/2014/main" id="{631B0A1F-FEE4-FE52-26BA-2C842F4D7B6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2657" r="71838" b="7328"/>
            <a:stretch>
              <a:fillRect/>
            </a:stretch>
          </p:blipFill>
          <p:spPr bwMode="auto">
            <a:xfrm>
              <a:off x="1651000" y="5195956"/>
              <a:ext cx="2503557" cy="1179444"/>
            </a:xfrm>
            <a:prstGeom prst="rect">
              <a:avLst/>
            </a:prstGeom>
            <a:noFill/>
            <a:extLst>
              <a:ext uri="{909E8E84-426E-40DD-AFC4-6F175D3DCCD1}">
                <a14:hiddenFill xmlns:a14="http://schemas.microsoft.com/office/drawing/2010/main">
                  <a:solidFill>
                    <a:srgbClr val="FFFFFF"/>
                  </a:solidFill>
                </a14:hiddenFill>
              </a:ext>
            </a:extLst>
          </p:spPr>
        </p:pic>
      </p:grpSp>
      <p:sp>
        <p:nvSpPr>
          <p:cNvPr id="5" name="TextBox 4">
            <a:extLst>
              <a:ext uri="{FF2B5EF4-FFF2-40B4-BE49-F238E27FC236}">
                <a16:creationId xmlns:a16="http://schemas.microsoft.com/office/drawing/2014/main" id="{452FFBB7-9698-A77F-F49F-4D380E34E5F2}"/>
              </a:ext>
            </a:extLst>
          </p:cNvPr>
          <p:cNvSpPr txBox="1"/>
          <p:nvPr/>
        </p:nvSpPr>
        <p:spPr>
          <a:xfrm>
            <a:off x="1782419" y="4436408"/>
            <a:ext cx="2503557" cy="1938992"/>
          </a:xfrm>
          <a:prstGeom prst="rect">
            <a:avLst/>
          </a:prstGeom>
          <a:noFill/>
        </p:spPr>
        <p:txBody>
          <a:bodyPr wrap="square">
            <a:spAutoFit/>
          </a:bodyPr>
          <a:lstStyle/>
          <a:p>
            <a:pPr algn="just"/>
            <a:r>
              <a:rPr lang="en-GB" sz="2000" b="0" i="0" dirty="0">
                <a:effectLst/>
                <a:latin typeface="Inter"/>
              </a:rPr>
              <a:t>Because lone pairs push bonding pairs closer together, the H–O–H angle decreases to </a:t>
            </a:r>
            <a:r>
              <a:rPr lang="en-GB" sz="2000" b="1" i="0" dirty="0">
                <a:effectLst/>
                <a:latin typeface="Inter"/>
              </a:rPr>
              <a:t>about 104.5°</a:t>
            </a:r>
            <a:r>
              <a:rPr lang="en-GB" sz="2000" b="0" i="0" dirty="0">
                <a:effectLst/>
                <a:latin typeface="Inter"/>
              </a:rPr>
              <a:t>. </a:t>
            </a:r>
            <a:endParaRPr lang="en-MV" sz="2000" dirty="0"/>
          </a:p>
        </p:txBody>
      </p:sp>
    </p:spTree>
    <p:extLst>
      <p:ext uri="{BB962C8B-B14F-4D97-AF65-F5344CB8AC3E}">
        <p14:creationId xmlns:p14="http://schemas.microsoft.com/office/powerpoint/2010/main" val="20896881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5"/>
          <p:cNvSpPr/>
          <p:nvPr/>
        </p:nvSpPr>
        <p:spPr>
          <a:xfrm>
            <a:off x="817075" y="1215414"/>
            <a:ext cx="10301100" cy="4903912"/>
          </a:xfrm>
          <a:prstGeom prst="rect">
            <a:avLst/>
          </a:prstGeom>
          <a:solidFill>
            <a:srgbClr val="0C0C0C"/>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 name="Title 1">
            <a:extLst>
              <a:ext uri="{FF2B5EF4-FFF2-40B4-BE49-F238E27FC236}">
                <a16:creationId xmlns:a16="http://schemas.microsoft.com/office/drawing/2014/main" id="{3E71744A-B2EC-8C27-FA1B-978DE19FA55A}"/>
              </a:ext>
            </a:extLst>
          </p:cNvPr>
          <p:cNvSpPr txBox="1">
            <a:spLocks/>
          </p:cNvSpPr>
          <p:nvPr/>
        </p:nvSpPr>
        <p:spPr>
          <a:xfrm>
            <a:off x="838200" y="365126"/>
            <a:ext cx="10515600" cy="711828"/>
          </a:xfrm>
          <a:prstGeom prst="rect">
            <a:avLst/>
          </a:prstGeom>
          <a:solidFill>
            <a:schemeClr val="bg1">
              <a:lumMod val="85000"/>
            </a:schemeClr>
          </a:solidFill>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GB" sz="4000" b="1" dirty="0">
                <a:solidFill>
                  <a:srgbClr val="003366"/>
                </a:solidFill>
                <a:latin typeface="Amasis MT Pro Medium" panose="02040604050005020304" pitchFamily="18" charset="0"/>
              </a:rPr>
              <a:t>Water molecule</a:t>
            </a:r>
          </a:p>
        </p:txBody>
      </p:sp>
      <p:pic>
        <p:nvPicPr>
          <p:cNvPr id="7" name="Picture 6" descr="A diagram of a model of a water molecule&#10;&#10;AI-generated content may be incorrect.">
            <a:extLst>
              <a:ext uri="{FF2B5EF4-FFF2-40B4-BE49-F238E27FC236}">
                <a16:creationId xmlns:a16="http://schemas.microsoft.com/office/drawing/2014/main" id="{FD0AA445-66D6-D13E-A885-256A5165CD1C}"/>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contrast="-40000"/>
                    </a14:imgEffect>
                  </a14:imgLayer>
                </a14:imgProps>
              </a:ext>
            </a:extLst>
          </a:blip>
          <a:stretch>
            <a:fillRect/>
          </a:stretch>
        </p:blipFill>
        <p:spPr>
          <a:xfrm>
            <a:off x="1548224" y="1410431"/>
            <a:ext cx="8838802" cy="4513877"/>
          </a:xfrm>
          <a:prstGeom prst="rect">
            <a:avLst/>
          </a:prstGeom>
        </p:spPr>
      </p:pic>
    </p:spTree>
    <p:extLst>
      <p:ext uri="{BB962C8B-B14F-4D97-AF65-F5344CB8AC3E}">
        <p14:creationId xmlns:p14="http://schemas.microsoft.com/office/powerpoint/2010/main" val="3872014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BB628-F6E4-BDE3-8E48-362CD5E8FAD3}"/>
              </a:ext>
            </a:extLst>
          </p:cNvPr>
          <p:cNvSpPr>
            <a:spLocks noGrp="1"/>
          </p:cNvSpPr>
          <p:nvPr>
            <p:ph type="title"/>
          </p:nvPr>
        </p:nvSpPr>
        <p:spPr/>
        <p:txBody>
          <a:bodyPr/>
          <a:lstStyle/>
          <a:p>
            <a:r>
              <a:rPr lang="en-GB" dirty="0">
                <a:solidFill>
                  <a:srgbClr val="003366"/>
                </a:solidFill>
                <a:latin typeface="Amasis MT Pro Medium" panose="02040604050005020304" pitchFamily="18" charset="0"/>
              </a:rPr>
              <a:t>Dipole nature of the water molecule</a:t>
            </a:r>
          </a:p>
        </p:txBody>
      </p:sp>
      <p:graphicFrame>
        <p:nvGraphicFramePr>
          <p:cNvPr id="15" name="Google Shape;147;p7">
            <a:extLst>
              <a:ext uri="{FF2B5EF4-FFF2-40B4-BE49-F238E27FC236}">
                <a16:creationId xmlns:a16="http://schemas.microsoft.com/office/drawing/2014/main" id="{0D19F0F2-BDE8-B8F8-329F-B30A078458BC}"/>
              </a:ext>
            </a:extLst>
          </p:cNvPr>
          <p:cNvGraphicFramePr/>
          <p:nvPr/>
        </p:nvGraphicFramePr>
        <p:xfrm>
          <a:off x="274880" y="1851239"/>
          <a:ext cx="11674026" cy="4894544"/>
        </p:xfrm>
        <a:graphic>
          <a:graphicData uri="http://schemas.openxmlformats.org/drawingml/2006/table">
            <a:tbl>
              <a:tblPr firstRow="1" bandRow="1">
                <a:solidFill>
                  <a:schemeClr val="tx1"/>
                </a:solidFill>
              </a:tblPr>
              <a:tblGrid>
                <a:gridCol w="5837013">
                  <a:extLst>
                    <a:ext uri="{9D8B030D-6E8A-4147-A177-3AD203B41FA5}">
                      <a16:colId xmlns:a16="http://schemas.microsoft.com/office/drawing/2014/main" val="20000"/>
                    </a:ext>
                  </a:extLst>
                </a:gridCol>
                <a:gridCol w="5837013">
                  <a:extLst>
                    <a:ext uri="{9D8B030D-6E8A-4147-A177-3AD203B41FA5}">
                      <a16:colId xmlns:a16="http://schemas.microsoft.com/office/drawing/2014/main" val="20001"/>
                    </a:ext>
                  </a:extLst>
                </a:gridCol>
              </a:tblGrid>
              <a:tr h="409547">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US" sz="2400" b="1" dirty="0">
                          <a:solidFill>
                            <a:srgbClr val="C9E4FF"/>
                          </a:solidFill>
                          <a:latin typeface="Arial"/>
                          <a:ea typeface="Arial"/>
                          <a:cs typeface="Arial"/>
                          <a:sym typeface="Arial"/>
                        </a:rPr>
                        <a:t>Covalent bonding </a:t>
                      </a:r>
                      <a:endParaRPr sz="2400" b="1" dirty="0">
                        <a:solidFill>
                          <a:srgbClr val="C9E4FF"/>
                        </a:solidFill>
                        <a:latin typeface="Arial"/>
                        <a:ea typeface="Arial"/>
                        <a:cs typeface="Arial"/>
                        <a:sym typeface="Aria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US" sz="2400" b="1" dirty="0">
                          <a:solidFill>
                            <a:srgbClr val="C9E4FF"/>
                          </a:solidFill>
                          <a:latin typeface="Arial"/>
                          <a:ea typeface="Arial"/>
                          <a:cs typeface="Arial"/>
                          <a:sym typeface="Arial"/>
                        </a:rPr>
                        <a:t>Example</a:t>
                      </a:r>
                      <a:endParaRPr sz="2400" b="1" dirty="0">
                        <a:solidFill>
                          <a:srgbClr val="C9E4FF"/>
                        </a:solidFill>
                        <a:latin typeface="Arial"/>
                        <a:ea typeface="Arial"/>
                        <a:cs typeface="Arial"/>
                        <a:sym typeface="Aria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extLst>
                  <a:ext uri="{0D108BD9-81ED-4DB2-BD59-A6C34878D82A}">
                    <a16:rowId xmlns:a16="http://schemas.microsoft.com/office/drawing/2014/main" val="10000"/>
                  </a:ext>
                </a:extLst>
              </a:tr>
              <a:tr h="4437334">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85750" marR="0" lvl="0" indent="-285750" algn="just" rtl="0">
                        <a:spcBef>
                          <a:spcPts val="0"/>
                        </a:spcBef>
                        <a:spcAft>
                          <a:spcPts val="0"/>
                        </a:spcAft>
                        <a:buClr>
                          <a:schemeClr val="lt1"/>
                        </a:buClr>
                        <a:buSzPts val="1800"/>
                        <a:buFont typeface="Arial"/>
                        <a:buChar char="•"/>
                      </a:pPr>
                      <a:r>
                        <a:rPr lang="en-US" sz="2300" dirty="0">
                          <a:solidFill>
                            <a:schemeClr val="bg1"/>
                          </a:solidFill>
                        </a:rPr>
                        <a:t>In water molecules, oxygen and hydrogen form covalent bonds.</a:t>
                      </a:r>
                    </a:p>
                    <a:p>
                      <a:pPr marL="285750" marR="0" lvl="0" indent="-285750" algn="just" rtl="0">
                        <a:spcBef>
                          <a:spcPts val="0"/>
                        </a:spcBef>
                        <a:spcAft>
                          <a:spcPts val="0"/>
                        </a:spcAft>
                        <a:buClr>
                          <a:schemeClr val="lt1"/>
                        </a:buClr>
                        <a:buSzPts val="1800"/>
                        <a:buFont typeface="Arial"/>
                        <a:buChar char="•"/>
                      </a:pPr>
                      <a:r>
                        <a:rPr lang="en-US" sz="2300" dirty="0">
                          <a:solidFill>
                            <a:schemeClr val="bg1"/>
                          </a:solidFill>
                        </a:rPr>
                        <a:t>These atoms share electrons.</a:t>
                      </a:r>
                      <a:endParaRPr sz="2300" dirty="0">
                        <a:solidFill>
                          <a:schemeClr val="bg1"/>
                        </a:solidFill>
                      </a:endParaRPr>
                    </a:p>
                    <a:p>
                      <a:pPr marL="285750" marR="0" lvl="0" indent="-285750" algn="just" rtl="0">
                        <a:spcBef>
                          <a:spcPts val="0"/>
                        </a:spcBef>
                        <a:spcAft>
                          <a:spcPts val="0"/>
                        </a:spcAft>
                        <a:buClr>
                          <a:schemeClr val="lt1"/>
                        </a:buClr>
                        <a:buSzPts val="1800"/>
                        <a:buFont typeface="Arial"/>
                        <a:buChar char="•"/>
                      </a:pPr>
                      <a:r>
                        <a:rPr lang="en-US" sz="2300" dirty="0">
                          <a:solidFill>
                            <a:schemeClr val="bg1"/>
                          </a:solidFill>
                        </a:rPr>
                        <a:t>Covalent bonds are strong and the molecules formed are usually neutral.</a:t>
                      </a:r>
                      <a:endParaRPr sz="2300" dirty="0">
                        <a:solidFill>
                          <a:schemeClr val="bg1"/>
                        </a:solidFill>
                      </a:endParaRPr>
                    </a:p>
                    <a:p>
                      <a:pPr marL="285750" marR="0" lvl="0" indent="-285750" algn="just" rtl="0">
                        <a:spcBef>
                          <a:spcPts val="0"/>
                        </a:spcBef>
                        <a:spcAft>
                          <a:spcPts val="0"/>
                        </a:spcAft>
                        <a:buClr>
                          <a:schemeClr val="lt1"/>
                        </a:buClr>
                        <a:buSzPts val="1800"/>
                        <a:buFont typeface="Arial"/>
                        <a:buChar char="•"/>
                      </a:pPr>
                      <a:r>
                        <a:rPr lang="en-US" sz="2300" dirty="0">
                          <a:solidFill>
                            <a:schemeClr val="bg1"/>
                          </a:solidFill>
                        </a:rPr>
                        <a:t>Some covalent bonds are not shared evenly.</a:t>
                      </a:r>
                      <a:endParaRPr sz="2300" dirty="0">
                        <a:solidFill>
                          <a:schemeClr val="bg1"/>
                        </a:solidFill>
                      </a:endParaRPr>
                    </a:p>
                    <a:p>
                      <a:pPr marL="285750" marR="0" lvl="0" indent="-285750" algn="just" rtl="0">
                        <a:spcBef>
                          <a:spcPts val="0"/>
                        </a:spcBef>
                        <a:spcAft>
                          <a:spcPts val="0"/>
                        </a:spcAft>
                        <a:buClr>
                          <a:schemeClr val="lt1"/>
                        </a:buClr>
                        <a:buSzPts val="1800"/>
                        <a:buFont typeface="Arial"/>
                        <a:buChar char="•"/>
                      </a:pPr>
                      <a:r>
                        <a:rPr lang="en-US" sz="2300" dirty="0">
                          <a:solidFill>
                            <a:schemeClr val="bg1"/>
                          </a:solidFill>
                        </a:rPr>
                        <a:t>So this results in a molecule with a slightly negative and slightly positive part.</a:t>
                      </a:r>
                      <a:endParaRPr sz="2300" dirty="0">
                        <a:solidFill>
                          <a:schemeClr val="bg1"/>
                        </a:solidFill>
                      </a:endParaRPr>
                    </a:p>
                    <a:p>
                      <a:pPr marL="285750" marR="0" lvl="0" indent="-285750" algn="just" rtl="0">
                        <a:spcBef>
                          <a:spcPts val="0"/>
                        </a:spcBef>
                        <a:spcAft>
                          <a:spcPts val="0"/>
                        </a:spcAft>
                        <a:buClr>
                          <a:schemeClr val="lt1"/>
                        </a:buClr>
                        <a:buSzPts val="1800"/>
                        <a:buFont typeface="Arial"/>
                        <a:buChar char="•"/>
                      </a:pPr>
                      <a:r>
                        <a:rPr lang="en-US" sz="2300" dirty="0">
                          <a:solidFill>
                            <a:schemeClr val="bg1"/>
                          </a:solidFill>
                        </a:rPr>
                        <a:t>This separation of charge is called </a:t>
                      </a:r>
                      <a:r>
                        <a:rPr lang="en-US" sz="2300" u="sng" dirty="0">
                          <a:solidFill>
                            <a:schemeClr val="accent1">
                              <a:lumMod val="60000"/>
                              <a:lumOff val="40000"/>
                            </a:schemeClr>
                          </a:solidFill>
                        </a:rPr>
                        <a:t>dipole</a:t>
                      </a:r>
                      <a:r>
                        <a:rPr lang="en-US" sz="2300" dirty="0">
                          <a:solidFill>
                            <a:schemeClr val="bg1"/>
                          </a:solidFill>
                        </a:rPr>
                        <a:t>.</a:t>
                      </a:r>
                      <a:endParaRPr sz="2300" dirty="0">
                        <a:solidFill>
                          <a:schemeClr val="bg1"/>
                        </a:solidFill>
                      </a:endParaRPr>
                    </a:p>
                    <a:p>
                      <a:pPr marL="285750" marR="0" lvl="0" indent="-285750" algn="just" rtl="0">
                        <a:spcBef>
                          <a:spcPts val="0"/>
                        </a:spcBef>
                        <a:spcAft>
                          <a:spcPts val="0"/>
                        </a:spcAft>
                        <a:buClr>
                          <a:schemeClr val="lt1"/>
                        </a:buClr>
                        <a:buSzPts val="1800"/>
                        <a:buFont typeface="Arial"/>
                        <a:buChar char="•"/>
                      </a:pPr>
                      <a:r>
                        <a:rPr lang="en-US" sz="2300" dirty="0">
                          <a:solidFill>
                            <a:schemeClr val="bg1"/>
                          </a:solidFill>
                        </a:rPr>
                        <a:t>The molecule is describe as a </a:t>
                      </a:r>
                      <a:r>
                        <a:rPr lang="en-US" sz="2300" u="sng" dirty="0">
                          <a:solidFill>
                            <a:schemeClr val="accent1">
                              <a:lumMod val="60000"/>
                              <a:lumOff val="40000"/>
                            </a:schemeClr>
                          </a:solidFill>
                        </a:rPr>
                        <a:t>polar molecule</a:t>
                      </a:r>
                      <a:r>
                        <a:rPr lang="en-US" sz="2300" u="sng" dirty="0">
                          <a:solidFill>
                            <a:schemeClr val="bg1"/>
                          </a:solidFill>
                        </a:rPr>
                        <a:t>.</a:t>
                      </a:r>
                      <a:endParaRPr sz="2300" dirty="0">
                        <a:solidFill>
                          <a:schemeClr val="bg1"/>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rtl="0">
                        <a:spcBef>
                          <a:spcPts val="0"/>
                        </a:spcBef>
                        <a:spcAft>
                          <a:spcPts val="0"/>
                        </a:spcAft>
                        <a:buNone/>
                      </a:pPr>
                      <a:endParaRPr sz="1800" dirty="0">
                        <a:solidFill>
                          <a:schemeClr val="bg1"/>
                        </a:solidFill>
                      </a:endParaRPr>
                    </a:p>
                    <a:p>
                      <a:pPr marL="0" marR="0" lvl="0" indent="0" algn="l" rtl="0">
                        <a:spcBef>
                          <a:spcPts val="0"/>
                        </a:spcBef>
                        <a:spcAft>
                          <a:spcPts val="0"/>
                        </a:spcAft>
                        <a:buNone/>
                      </a:pPr>
                      <a:endParaRPr sz="1800" dirty="0">
                        <a:solidFill>
                          <a:schemeClr val="bg1"/>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extLst>
                  <a:ext uri="{0D108BD9-81ED-4DB2-BD59-A6C34878D82A}">
                    <a16:rowId xmlns:a16="http://schemas.microsoft.com/office/drawing/2014/main" val="10001"/>
                  </a:ext>
                </a:extLst>
              </a:tr>
            </a:tbl>
          </a:graphicData>
        </a:graphic>
      </p:graphicFrame>
      <p:pic>
        <p:nvPicPr>
          <p:cNvPr id="17" name="Google Shape;148;p7">
            <a:extLst>
              <a:ext uri="{FF2B5EF4-FFF2-40B4-BE49-F238E27FC236}">
                <a16:creationId xmlns:a16="http://schemas.microsoft.com/office/drawing/2014/main" id="{02812372-4D3C-F501-FBA5-2F1207A47AA3}"/>
              </a:ext>
            </a:extLst>
          </p:cNvPr>
          <p:cNvPicPr preferRelativeResize="0"/>
          <p:nvPr/>
        </p:nvPicPr>
        <p:blipFill rotWithShape="1">
          <a:blip r:embed="rId3">
            <a:alphaModFix/>
          </a:blip>
          <a:srcRect t="35691"/>
          <a:stretch/>
        </p:blipFill>
        <p:spPr>
          <a:xfrm>
            <a:off x="6376471" y="2471008"/>
            <a:ext cx="5572435" cy="3660521"/>
          </a:xfrm>
          <a:prstGeom prst="rect">
            <a:avLst/>
          </a:prstGeom>
          <a:noFill/>
          <a:ln>
            <a:noFill/>
          </a:ln>
        </p:spPr>
      </p:pic>
    </p:spTree>
    <p:extLst>
      <p:ext uri="{BB962C8B-B14F-4D97-AF65-F5344CB8AC3E}">
        <p14:creationId xmlns:p14="http://schemas.microsoft.com/office/powerpoint/2010/main" val="37855934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45205FC-620B-FE18-48AF-7F9C185339A6}"/>
              </a:ext>
            </a:extLst>
          </p:cNvPr>
          <p:cNvSpPr/>
          <p:nvPr/>
        </p:nvSpPr>
        <p:spPr>
          <a:xfrm>
            <a:off x="838200" y="2013924"/>
            <a:ext cx="10596942" cy="421297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white"/>
              </a:solidFill>
              <a:effectLst/>
              <a:uLnTx/>
              <a:uFillTx/>
              <a:latin typeface="The Hand"/>
              <a:ea typeface="+mn-ea"/>
              <a:cs typeface="+mn-cs"/>
            </a:endParaRPr>
          </a:p>
        </p:txBody>
      </p:sp>
      <p:sp>
        <p:nvSpPr>
          <p:cNvPr id="2" name="Title 1">
            <a:extLst>
              <a:ext uri="{FF2B5EF4-FFF2-40B4-BE49-F238E27FC236}">
                <a16:creationId xmlns:a16="http://schemas.microsoft.com/office/drawing/2014/main" id="{8E8BB628-F6E4-BDE3-8E48-362CD5E8FAD3}"/>
              </a:ext>
            </a:extLst>
          </p:cNvPr>
          <p:cNvSpPr>
            <a:spLocks noGrp="1"/>
          </p:cNvSpPr>
          <p:nvPr>
            <p:ph type="title"/>
          </p:nvPr>
        </p:nvSpPr>
        <p:spPr/>
        <p:txBody>
          <a:bodyPr/>
          <a:lstStyle/>
          <a:p>
            <a:r>
              <a:rPr lang="en-GB" dirty="0">
                <a:solidFill>
                  <a:srgbClr val="003366"/>
                </a:solidFill>
                <a:latin typeface="Amasis MT Pro Medium" panose="02040604050005020304" pitchFamily="18" charset="0"/>
              </a:rPr>
              <a:t>Dipole nature of the water molecule</a:t>
            </a:r>
          </a:p>
        </p:txBody>
      </p:sp>
      <p:pic>
        <p:nvPicPr>
          <p:cNvPr id="4" name="Google Shape;162;g89c35d42c3_0_13">
            <a:extLst>
              <a:ext uri="{FF2B5EF4-FFF2-40B4-BE49-F238E27FC236}">
                <a16:creationId xmlns:a16="http://schemas.microsoft.com/office/drawing/2014/main" id="{6D4DF559-FEAE-CFAE-BAE3-B20479CB474D}"/>
              </a:ext>
            </a:extLst>
          </p:cNvPr>
          <p:cNvPicPr preferRelativeResize="0"/>
          <p:nvPr/>
        </p:nvPicPr>
        <p:blipFill rotWithShape="1">
          <a:blip r:embed="rId4">
            <a:alphaModFix/>
          </a:blip>
          <a:srcRect/>
          <a:stretch/>
        </p:blipFill>
        <p:spPr>
          <a:xfrm>
            <a:off x="6616337" y="2013923"/>
            <a:ext cx="5421086" cy="4401205"/>
          </a:xfrm>
          <a:prstGeom prst="rect">
            <a:avLst/>
          </a:prstGeom>
          <a:noFill/>
          <a:ln>
            <a:noFill/>
          </a:ln>
        </p:spPr>
      </p:pic>
      <p:sp>
        <p:nvSpPr>
          <p:cNvPr id="6" name="TextBox 5">
            <a:extLst>
              <a:ext uri="{FF2B5EF4-FFF2-40B4-BE49-F238E27FC236}">
                <a16:creationId xmlns:a16="http://schemas.microsoft.com/office/drawing/2014/main" id="{5B2A3E63-DA6F-1D2A-F7B7-B6BCA0C8F28A}"/>
              </a:ext>
            </a:extLst>
          </p:cNvPr>
          <p:cNvSpPr txBox="1"/>
          <p:nvPr/>
        </p:nvSpPr>
        <p:spPr>
          <a:xfrm>
            <a:off x="177136" y="2013924"/>
            <a:ext cx="6439201" cy="4401205"/>
          </a:xfrm>
          <a:prstGeom prst="rect">
            <a:avLst/>
          </a:prstGeom>
          <a:solidFill>
            <a:schemeClr val="tx1"/>
          </a:solid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Pct val="70000"/>
              <a:buFont typeface="Wingdings" panose="05000000000000000000" pitchFamily="2" charset="2"/>
              <a:buChar char="Ø"/>
              <a:tabLst/>
              <a:defRPr/>
            </a:pPr>
            <a:r>
              <a:rPr kumimoji="0" lang="en-GB" sz="2800" b="0" i="0" u="none" strike="noStrike" kern="120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rPr>
              <a:t>The hydrogen end of the molecule is slightly positive</a:t>
            </a:r>
            <a:r>
              <a:rPr kumimoji="0" lang="en-GB" sz="2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t>
            </a:r>
          </a:p>
          <a:p>
            <a:pPr marL="0" marR="0" lvl="0" indent="0" algn="just" defTabSz="914400" rtl="0" eaLnBrk="1" fontAlgn="auto" latinLnBrk="0" hangingPunct="1">
              <a:lnSpc>
                <a:spcPct val="100000"/>
              </a:lnSpc>
              <a:spcBef>
                <a:spcPts val="0"/>
              </a:spcBef>
              <a:spcAft>
                <a:spcPts val="0"/>
              </a:spcAft>
              <a:buClrTx/>
              <a:buSzPct val="70000"/>
              <a:buFont typeface="Wingdings" panose="05000000000000000000" pitchFamily="2" charset="2"/>
              <a:buChar char="Ø"/>
              <a:tabLst/>
              <a:defRPr/>
            </a:pPr>
            <a:r>
              <a:rPr kumimoji="0" lang="en-GB" sz="2800" b="0" i="0" u="none" strike="noStrike" kern="120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rPr>
              <a:t>The oxygen end is slightly negative because the electrons are more concentrated at that end</a:t>
            </a:r>
            <a:r>
              <a:rPr kumimoji="0" lang="en-GB" sz="2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p>
          <a:p>
            <a:pPr marL="0" marR="0" lvl="0" indent="0" algn="just" defTabSz="914400" rtl="0" eaLnBrk="1" fontAlgn="auto" latinLnBrk="0" hangingPunct="1">
              <a:lnSpc>
                <a:spcPct val="100000"/>
              </a:lnSpc>
              <a:spcBef>
                <a:spcPts val="0"/>
              </a:spcBef>
              <a:spcAft>
                <a:spcPts val="0"/>
              </a:spcAft>
              <a:buClrTx/>
              <a:buSzPct val="70000"/>
              <a:buFont typeface="Wingdings" panose="05000000000000000000" pitchFamily="2" charset="2"/>
              <a:buChar char="Ø"/>
              <a:tabLst/>
              <a:defRPr/>
            </a:pPr>
            <a:r>
              <a:rPr kumimoji="0" lang="en-GB" sz="2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Water is therefore called a </a:t>
            </a:r>
            <a:r>
              <a:rPr kumimoji="0" lang="en-GB" sz="2800" b="1" i="1" u="sng" strike="noStrike" kern="1200" cap="none" spc="0" normalizeH="0" baseline="0" noProof="0" dirty="0">
                <a:ln>
                  <a:noFill/>
                </a:ln>
                <a:solidFill>
                  <a:srgbClr val="E4650E">
                    <a:lumMod val="60000"/>
                    <a:lumOff val="40000"/>
                  </a:srgbClr>
                </a:solidFill>
                <a:effectLst/>
                <a:uLnTx/>
                <a:uFillTx/>
                <a:latin typeface="Arial" panose="020B0604020202020204" pitchFamily="34" charset="0"/>
                <a:ea typeface="+mn-ea"/>
                <a:cs typeface="Arial" panose="020B0604020202020204" pitchFamily="34" charset="0"/>
              </a:rPr>
              <a:t>Polar molecule</a:t>
            </a:r>
            <a:r>
              <a:rPr kumimoji="0" lang="en-GB" sz="2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t>
            </a:r>
          </a:p>
          <a:p>
            <a:pPr marL="0" marR="0" lvl="0" indent="0" algn="just" defTabSz="914400" rtl="0" eaLnBrk="1" fontAlgn="auto" latinLnBrk="0" hangingPunct="1">
              <a:lnSpc>
                <a:spcPct val="100000"/>
              </a:lnSpc>
              <a:spcBef>
                <a:spcPts val="0"/>
              </a:spcBef>
              <a:spcAft>
                <a:spcPts val="0"/>
              </a:spcAft>
              <a:buClrTx/>
              <a:buSzPct val="70000"/>
              <a:buFont typeface="Wingdings" panose="05000000000000000000" pitchFamily="2" charset="2"/>
              <a:buChar char="Ø"/>
              <a:tabLst/>
              <a:defRPr/>
            </a:pPr>
            <a:r>
              <a:rPr kumimoji="0" lang="en-GB" sz="2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It is this polarity that accounts for many of its biologically important properties.</a:t>
            </a:r>
          </a:p>
        </p:txBody>
      </p:sp>
    </p:spTree>
    <p:extLst>
      <p:ext uri="{BB962C8B-B14F-4D97-AF65-F5344CB8AC3E}">
        <p14:creationId xmlns:p14="http://schemas.microsoft.com/office/powerpoint/2010/main" val="3475249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BB628-F6E4-BDE3-8E48-362CD5E8FAD3}"/>
              </a:ext>
            </a:extLst>
          </p:cNvPr>
          <p:cNvSpPr>
            <a:spLocks noGrp="1"/>
          </p:cNvSpPr>
          <p:nvPr>
            <p:ph type="title"/>
          </p:nvPr>
        </p:nvSpPr>
        <p:spPr/>
        <p:txBody>
          <a:bodyPr/>
          <a:lstStyle/>
          <a:p>
            <a:r>
              <a:rPr lang="en-GB" dirty="0">
                <a:solidFill>
                  <a:srgbClr val="003366"/>
                </a:solidFill>
                <a:latin typeface="Amasis MT Pro Medium" panose="02040604050005020304" pitchFamily="18" charset="0"/>
              </a:rPr>
              <a:t>Dipole nature of the water molecule</a:t>
            </a:r>
          </a:p>
        </p:txBody>
      </p:sp>
      <p:pic>
        <p:nvPicPr>
          <p:cNvPr id="3" name="Picture 2">
            <a:extLst>
              <a:ext uri="{FF2B5EF4-FFF2-40B4-BE49-F238E27FC236}">
                <a16:creationId xmlns:a16="http://schemas.microsoft.com/office/drawing/2014/main" id="{621E4A63-B8AB-C925-8878-DCD89A1E54E4}"/>
              </a:ext>
            </a:extLst>
          </p:cNvPr>
          <p:cNvPicPr>
            <a:picLocks noChangeAspect="1"/>
          </p:cNvPicPr>
          <p:nvPr/>
        </p:nvPicPr>
        <p:blipFill>
          <a:blip r:embed="rId2"/>
          <a:stretch>
            <a:fillRect/>
          </a:stretch>
        </p:blipFill>
        <p:spPr>
          <a:xfrm>
            <a:off x="2024743" y="1899522"/>
            <a:ext cx="8471263" cy="4742941"/>
          </a:xfrm>
          <a:prstGeom prst="rect">
            <a:avLst/>
          </a:prstGeom>
        </p:spPr>
      </p:pic>
    </p:spTree>
    <p:extLst>
      <p:ext uri="{BB962C8B-B14F-4D97-AF65-F5344CB8AC3E}">
        <p14:creationId xmlns:p14="http://schemas.microsoft.com/office/powerpoint/2010/main" val="24335127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45205FC-620B-FE18-48AF-7F9C185339A6}"/>
              </a:ext>
            </a:extLst>
          </p:cNvPr>
          <p:cNvSpPr/>
          <p:nvPr/>
        </p:nvSpPr>
        <p:spPr>
          <a:xfrm>
            <a:off x="838200" y="1831258"/>
            <a:ext cx="10596942" cy="4421047"/>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white"/>
              </a:solidFill>
              <a:effectLst/>
              <a:uLnTx/>
              <a:uFillTx/>
              <a:latin typeface="The Hand"/>
              <a:ea typeface="+mn-ea"/>
              <a:cs typeface="+mn-cs"/>
            </a:endParaRPr>
          </a:p>
        </p:txBody>
      </p:sp>
      <p:sp>
        <p:nvSpPr>
          <p:cNvPr id="2" name="Title 1">
            <a:extLst>
              <a:ext uri="{FF2B5EF4-FFF2-40B4-BE49-F238E27FC236}">
                <a16:creationId xmlns:a16="http://schemas.microsoft.com/office/drawing/2014/main" id="{8E8BB628-F6E4-BDE3-8E48-362CD5E8FAD3}"/>
              </a:ext>
            </a:extLst>
          </p:cNvPr>
          <p:cNvSpPr>
            <a:spLocks noGrp="1"/>
          </p:cNvSpPr>
          <p:nvPr>
            <p:ph type="title"/>
          </p:nvPr>
        </p:nvSpPr>
        <p:spPr/>
        <p:txBody>
          <a:bodyPr/>
          <a:lstStyle/>
          <a:p>
            <a:r>
              <a:rPr lang="en-GB" dirty="0">
                <a:solidFill>
                  <a:srgbClr val="003366"/>
                </a:solidFill>
                <a:latin typeface="Amasis MT Pro Medium" panose="02040604050005020304" pitchFamily="18" charset="0"/>
              </a:rPr>
              <a:t>Dipole nature of the water molecule</a:t>
            </a:r>
          </a:p>
        </p:txBody>
      </p:sp>
      <p:sp>
        <p:nvSpPr>
          <p:cNvPr id="6" name="TextBox 5">
            <a:extLst>
              <a:ext uri="{FF2B5EF4-FFF2-40B4-BE49-F238E27FC236}">
                <a16:creationId xmlns:a16="http://schemas.microsoft.com/office/drawing/2014/main" id="{5B2A3E63-DA6F-1D2A-F7B7-B6BCA0C8F28A}"/>
              </a:ext>
            </a:extLst>
          </p:cNvPr>
          <p:cNvSpPr txBox="1"/>
          <p:nvPr/>
        </p:nvSpPr>
        <p:spPr>
          <a:xfrm>
            <a:off x="1006671" y="2242004"/>
            <a:ext cx="4658724" cy="1384995"/>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Pct val="70000"/>
              <a:buFont typeface="Wingdings" panose="05000000000000000000" pitchFamily="2" charset="2"/>
              <a:buChar char="Ø"/>
              <a:tabLst/>
              <a:defRPr/>
            </a:pPr>
            <a:r>
              <a:rPr kumimoji="0" lang="en-GB" sz="2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One major effect of polarity is water molecules form </a:t>
            </a:r>
            <a:r>
              <a:rPr kumimoji="0" lang="en-GB" sz="2800" b="0" i="0" u="sng" strike="noStrike" kern="1200" cap="none" spc="0" normalizeH="0" baseline="0" noProof="0" dirty="0">
                <a:ln>
                  <a:noFill/>
                </a:ln>
                <a:solidFill>
                  <a:srgbClr val="E4650E">
                    <a:lumMod val="60000"/>
                    <a:lumOff val="40000"/>
                  </a:srgbClr>
                </a:solidFill>
                <a:effectLst/>
                <a:uLnTx/>
                <a:uFillTx/>
                <a:latin typeface="Arial" panose="020B0604020202020204" pitchFamily="34" charset="0"/>
                <a:ea typeface="+mn-ea"/>
                <a:cs typeface="Arial" panose="020B0604020202020204" pitchFamily="34" charset="0"/>
              </a:rPr>
              <a:t>hydrogen bonds</a:t>
            </a:r>
            <a:r>
              <a:rPr kumimoji="0" lang="en-GB" sz="2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t>
            </a:r>
          </a:p>
        </p:txBody>
      </p:sp>
      <p:pic>
        <p:nvPicPr>
          <p:cNvPr id="9218" name="Picture 2" descr="Ah, science jokes. | Biology jokes, Science puns, Chemistry jokes">
            <a:extLst>
              <a:ext uri="{FF2B5EF4-FFF2-40B4-BE49-F238E27FC236}">
                <a16:creationId xmlns:a16="http://schemas.microsoft.com/office/drawing/2014/main" id="{ED2EE497-8DEC-5826-E50F-347C82BFF7A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283" t="5580" r="8971" b="7486"/>
          <a:stretch/>
        </p:blipFill>
        <p:spPr bwMode="auto">
          <a:xfrm>
            <a:off x="5665395" y="1971483"/>
            <a:ext cx="5296156" cy="41656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05623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45205FC-620B-FE18-48AF-7F9C185339A6}"/>
              </a:ext>
            </a:extLst>
          </p:cNvPr>
          <p:cNvSpPr/>
          <p:nvPr/>
        </p:nvSpPr>
        <p:spPr>
          <a:xfrm>
            <a:off x="838200" y="1831258"/>
            <a:ext cx="10596942" cy="4421047"/>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white"/>
              </a:solidFill>
              <a:effectLst/>
              <a:uLnTx/>
              <a:uFillTx/>
              <a:latin typeface="The Hand"/>
              <a:ea typeface="+mn-ea"/>
              <a:cs typeface="+mn-cs"/>
            </a:endParaRPr>
          </a:p>
        </p:txBody>
      </p:sp>
      <p:sp>
        <p:nvSpPr>
          <p:cNvPr id="2" name="Title 1">
            <a:extLst>
              <a:ext uri="{FF2B5EF4-FFF2-40B4-BE49-F238E27FC236}">
                <a16:creationId xmlns:a16="http://schemas.microsoft.com/office/drawing/2014/main" id="{8E8BB628-F6E4-BDE3-8E48-362CD5E8FAD3}"/>
              </a:ext>
            </a:extLst>
          </p:cNvPr>
          <p:cNvSpPr>
            <a:spLocks noGrp="1"/>
          </p:cNvSpPr>
          <p:nvPr>
            <p:ph type="title"/>
          </p:nvPr>
        </p:nvSpPr>
        <p:spPr/>
        <p:txBody>
          <a:bodyPr/>
          <a:lstStyle/>
          <a:p>
            <a:r>
              <a:rPr lang="en-GB" dirty="0">
                <a:solidFill>
                  <a:srgbClr val="003366"/>
                </a:solidFill>
                <a:latin typeface="Amasis MT Pro Medium" panose="02040604050005020304" pitchFamily="18" charset="0"/>
              </a:rPr>
              <a:t>Dipole nature of the water molecule</a:t>
            </a:r>
          </a:p>
        </p:txBody>
      </p:sp>
      <p:sp>
        <p:nvSpPr>
          <p:cNvPr id="6" name="TextBox 5">
            <a:extLst>
              <a:ext uri="{FF2B5EF4-FFF2-40B4-BE49-F238E27FC236}">
                <a16:creationId xmlns:a16="http://schemas.microsoft.com/office/drawing/2014/main" id="{5B2A3E63-DA6F-1D2A-F7B7-B6BCA0C8F28A}"/>
              </a:ext>
            </a:extLst>
          </p:cNvPr>
          <p:cNvSpPr txBox="1"/>
          <p:nvPr/>
        </p:nvSpPr>
        <p:spPr>
          <a:xfrm>
            <a:off x="932004" y="1861515"/>
            <a:ext cx="10327991" cy="1692771"/>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Pct val="70000"/>
              <a:buFont typeface="Wingdings" panose="05000000000000000000" pitchFamily="2" charset="2"/>
              <a:buChar char="Ø"/>
              <a:tabLst/>
              <a:defRPr/>
            </a:pPr>
            <a:r>
              <a:rPr kumimoji="0" lang="en-GB" sz="2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 charge differences cause water molecules to be </a:t>
            </a:r>
            <a:r>
              <a:rPr kumimoji="0" lang="en-GB" sz="2600" b="0" i="0" u="sng" strike="noStrike" kern="1200" cap="none" spc="0" normalizeH="0" baseline="0" noProof="0" dirty="0">
                <a:ln>
                  <a:noFill/>
                </a:ln>
                <a:solidFill>
                  <a:srgbClr val="E4650E">
                    <a:lumMod val="60000"/>
                    <a:lumOff val="40000"/>
                  </a:srgbClr>
                </a:solidFill>
                <a:effectLst/>
                <a:uLnTx/>
                <a:uFillTx/>
                <a:latin typeface="Arial" panose="020B0604020202020204" pitchFamily="34" charset="0"/>
                <a:ea typeface="+mn-ea"/>
                <a:cs typeface="Arial" panose="020B0604020202020204" pitchFamily="34" charset="0"/>
              </a:rPr>
              <a:t>attracted</a:t>
            </a:r>
            <a:r>
              <a:rPr kumimoji="0" lang="en-GB" sz="2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to </a:t>
            </a:r>
            <a:r>
              <a:rPr kumimoji="0" lang="en-GB" sz="2600" b="0" i="0" u="sng" strike="noStrike" kern="1200" cap="none" spc="0" normalizeH="0" baseline="0" noProof="0" dirty="0">
                <a:ln>
                  <a:noFill/>
                </a:ln>
                <a:solidFill>
                  <a:srgbClr val="E4650E">
                    <a:lumMod val="60000"/>
                    <a:lumOff val="40000"/>
                  </a:srgbClr>
                </a:solidFill>
                <a:effectLst/>
                <a:uLnTx/>
                <a:uFillTx/>
                <a:latin typeface="Arial" panose="020B0604020202020204" pitchFamily="34" charset="0"/>
                <a:ea typeface="+mn-ea"/>
                <a:cs typeface="Arial" panose="020B0604020202020204" pitchFamily="34" charset="0"/>
              </a:rPr>
              <a:t>each other </a:t>
            </a:r>
            <a:r>
              <a:rPr kumimoji="0" lang="en-GB" sz="2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and to </a:t>
            </a:r>
            <a:r>
              <a:rPr kumimoji="0" lang="en-GB" sz="2600" b="0" i="0" u="sng" strike="noStrike" kern="1200" cap="none" spc="0" normalizeH="0" baseline="0" noProof="0" dirty="0">
                <a:ln>
                  <a:noFill/>
                </a:ln>
                <a:solidFill>
                  <a:srgbClr val="E4650E">
                    <a:lumMod val="60000"/>
                    <a:lumOff val="40000"/>
                  </a:srgbClr>
                </a:solidFill>
                <a:effectLst/>
                <a:uLnTx/>
                <a:uFillTx/>
                <a:latin typeface="Arial" panose="020B0604020202020204" pitchFamily="34" charset="0"/>
                <a:ea typeface="+mn-ea"/>
                <a:cs typeface="Arial" panose="020B0604020202020204" pitchFamily="34" charset="0"/>
              </a:rPr>
              <a:t>other polar molecules and ionic substances</a:t>
            </a:r>
            <a:r>
              <a:rPr kumimoji="0" lang="en-GB" sz="2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t>
            </a:r>
          </a:p>
          <a:p>
            <a:pPr marL="0" marR="0" lvl="0" indent="0" algn="just" defTabSz="914400" rtl="0" eaLnBrk="1" fontAlgn="auto" latinLnBrk="0" hangingPunct="1">
              <a:lnSpc>
                <a:spcPct val="100000"/>
              </a:lnSpc>
              <a:spcBef>
                <a:spcPts val="0"/>
              </a:spcBef>
              <a:spcAft>
                <a:spcPts val="0"/>
              </a:spcAft>
              <a:buClrTx/>
              <a:buSzPct val="70000"/>
              <a:buFont typeface="Wingdings" panose="05000000000000000000" pitchFamily="2" charset="2"/>
              <a:buChar char="Ø"/>
              <a:tabLst/>
              <a:defRPr/>
            </a:pPr>
            <a:r>
              <a:rPr kumimoji="0" lang="en-GB" sz="2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Each individual hydrogen bond is weak but there are many of them so the molecules of water stick together.</a:t>
            </a:r>
          </a:p>
        </p:txBody>
      </p:sp>
      <p:pic>
        <p:nvPicPr>
          <p:cNvPr id="3" name="Google Shape;170;p9" descr="File:210 Hydrogen Bonds Between Water Molecules-01.jpg - Wikimedia ...">
            <a:extLst>
              <a:ext uri="{FF2B5EF4-FFF2-40B4-BE49-F238E27FC236}">
                <a16:creationId xmlns:a16="http://schemas.microsoft.com/office/drawing/2014/main" id="{79BA339E-7F22-E9FC-49F3-2148263B44FB}"/>
              </a:ext>
            </a:extLst>
          </p:cNvPr>
          <p:cNvPicPr preferRelativeResize="0"/>
          <p:nvPr/>
        </p:nvPicPr>
        <p:blipFill rotWithShape="1">
          <a:blip r:embed="rId3">
            <a:alphaModFix/>
          </a:blip>
          <a:srcRect/>
          <a:stretch/>
        </p:blipFill>
        <p:spPr>
          <a:xfrm>
            <a:off x="1653139" y="3656800"/>
            <a:ext cx="4247976" cy="2492990"/>
          </a:xfrm>
          <a:prstGeom prst="rect">
            <a:avLst/>
          </a:prstGeom>
          <a:noFill/>
          <a:ln>
            <a:noFill/>
          </a:ln>
        </p:spPr>
      </p:pic>
      <p:pic>
        <p:nvPicPr>
          <p:cNvPr id="5" name="Google Shape;171;p9">
            <a:extLst>
              <a:ext uri="{FF2B5EF4-FFF2-40B4-BE49-F238E27FC236}">
                <a16:creationId xmlns:a16="http://schemas.microsoft.com/office/drawing/2014/main" id="{2436906B-79E1-BDF9-AFB2-75C85C8C937F}"/>
              </a:ext>
            </a:extLst>
          </p:cNvPr>
          <p:cNvPicPr preferRelativeResize="0"/>
          <p:nvPr/>
        </p:nvPicPr>
        <p:blipFill rotWithShape="1">
          <a:blip r:embed="rId4">
            <a:alphaModFix/>
          </a:blip>
          <a:srcRect/>
          <a:stretch/>
        </p:blipFill>
        <p:spPr>
          <a:xfrm>
            <a:off x="6179871" y="3656800"/>
            <a:ext cx="4522905" cy="2492990"/>
          </a:xfrm>
          <a:prstGeom prst="rect">
            <a:avLst/>
          </a:prstGeom>
          <a:noFill/>
          <a:ln>
            <a:noFill/>
          </a:ln>
        </p:spPr>
      </p:pic>
    </p:spTree>
    <p:extLst>
      <p:ext uri="{BB962C8B-B14F-4D97-AF65-F5344CB8AC3E}">
        <p14:creationId xmlns:p14="http://schemas.microsoft.com/office/powerpoint/2010/main" val="40737699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45205FC-620B-FE18-48AF-7F9C185339A6}"/>
              </a:ext>
            </a:extLst>
          </p:cNvPr>
          <p:cNvSpPr/>
          <p:nvPr/>
        </p:nvSpPr>
        <p:spPr>
          <a:xfrm>
            <a:off x="402478" y="2013924"/>
            <a:ext cx="11711787" cy="468758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white"/>
              </a:solidFill>
              <a:effectLst/>
              <a:uLnTx/>
              <a:uFillTx/>
              <a:latin typeface="The Hand"/>
              <a:ea typeface="+mn-ea"/>
              <a:cs typeface="+mn-cs"/>
            </a:endParaRPr>
          </a:p>
        </p:txBody>
      </p:sp>
      <p:sp>
        <p:nvSpPr>
          <p:cNvPr id="2" name="Title 1">
            <a:extLst>
              <a:ext uri="{FF2B5EF4-FFF2-40B4-BE49-F238E27FC236}">
                <a16:creationId xmlns:a16="http://schemas.microsoft.com/office/drawing/2014/main" id="{8E8BB628-F6E4-BDE3-8E48-362CD5E8FAD3}"/>
              </a:ext>
            </a:extLst>
          </p:cNvPr>
          <p:cNvSpPr>
            <a:spLocks noGrp="1"/>
          </p:cNvSpPr>
          <p:nvPr>
            <p:ph type="title"/>
          </p:nvPr>
        </p:nvSpPr>
        <p:spPr/>
        <p:txBody>
          <a:bodyPr/>
          <a:lstStyle/>
          <a:p>
            <a:r>
              <a:rPr lang="en-GB" dirty="0">
                <a:solidFill>
                  <a:srgbClr val="003366"/>
                </a:solidFill>
                <a:latin typeface="Amasis MT Pro Medium" panose="02040604050005020304" pitchFamily="18" charset="0"/>
              </a:rPr>
              <a:t>Dipole nature of the water molecule</a:t>
            </a:r>
          </a:p>
        </p:txBody>
      </p:sp>
      <p:pic>
        <p:nvPicPr>
          <p:cNvPr id="3" name="Google Shape;178;p10" descr="Why does water form hydrogen bonds? | Socratic">
            <a:extLst>
              <a:ext uri="{FF2B5EF4-FFF2-40B4-BE49-F238E27FC236}">
                <a16:creationId xmlns:a16="http://schemas.microsoft.com/office/drawing/2014/main" id="{23D584F8-A2FB-1F2A-1D2C-C944C71E4ADA}"/>
              </a:ext>
            </a:extLst>
          </p:cNvPr>
          <p:cNvPicPr preferRelativeResize="0"/>
          <p:nvPr/>
        </p:nvPicPr>
        <p:blipFill rotWithShape="1">
          <a:blip r:embed="rId3">
            <a:alphaModFix/>
          </a:blip>
          <a:srcRect/>
          <a:stretch/>
        </p:blipFill>
        <p:spPr>
          <a:xfrm>
            <a:off x="657039" y="1953565"/>
            <a:ext cx="3832265" cy="4145268"/>
          </a:xfrm>
          <a:prstGeom prst="rect">
            <a:avLst/>
          </a:prstGeom>
          <a:noFill/>
          <a:ln>
            <a:noFill/>
          </a:ln>
        </p:spPr>
      </p:pic>
      <p:pic>
        <p:nvPicPr>
          <p:cNvPr id="4" name="Google Shape;179;p10" descr="Water molecules and their interaction with salt molecules">
            <a:extLst>
              <a:ext uri="{FF2B5EF4-FFF2-40B4-BE49-F238E27FC236}">
                <a16:creationId xmlns:a16="http://schemas.microsoft.com/office/drawing/2014/main" id="{08D4DECD-0725-8B8E-91BA-EF54652E3F1E}"/>
              </a:ext>
            </a:extLst>
          </p:cNvPr>
          <p:cNvPicPr preferRelativeResize="0"/>
          <p:nvPr/>
        </p:nvPicPr>
        <p:blipFill rotWithShape="1">
          <a:blip r:embed="rId4">
            <a:alphaModFix/>
          </a:blip>
          <a:srcRect/>
          <a:stretch/>
        </p:blipFill>
        <p:spPr>
          <a:xfrm>
            <a:off x="7389354" y="1853348"/>
            <a:ext cx="3964446" cy="4430224"/>
          </a:xfrm>
          <a:prstGeom prst="rect">
            <a:avLst/>
          </a:prstGeom>
          <a:noFill/>
          <a:ln>
            <a:noFill/>
          </a:ln>
        </p:spPr>
      </p:pic>
      <p:sp>
        <p:nvSpPr>
          <p:cNvPr id="8" name="TextBox 7">
            <a:extLst>
              <a:ext uri="{FF2B5EF4-FFF2-40B4-BE49-F238E27FC236}">
                <a16:creationId xmlns:a16="http://schemas.microsoft.com/office/drawing/2014/main" id="{7DF68BFA-94F2-24E6-E89B-C23DE13707EC}"/>
              </a:ext>
            </a:extLst>
          </p:cNvPr>
          <p:cNvSpPr txBox="1"/>
          <p:nvPr/>
        </p:nvSpPr>
        <p:spPr>
          <a:xfrm>
            <a:off x="577636" y="6244093"/>
            <a:ext cx="11036727"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prstClr val="black"/>
              </a:buClr>
              <a:buSzPts val="1200"/>
              <a:buFontTx/>
              <a:buNone/>
              <a:tabLst/>
              <a:defRPr/>
            </a:pPr>
            <a:r>
              <a:rPr kumimoji="0" lang="en-GB" sz="2000" b="1"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 Water to water attraction 			         (b) Water to other molecules attraction</a:t>
            </a:r>
          </a:p>
        </p:txBody>
      </p:sp>
    </p:spTree>
    <p:extLst>
      <p:ext uri="{BB962C8B-B14F-4D97-AF65-F5344CB8AC3E}">
        <p14:creationId xmlns:p14="http://schemas.microsoft.com/office/powerpoint/2010/main" val="16014417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45205FC-620B-FE18-48AF-7F9C185339A6}"/>
              </a:ext>
            </a:extLst>
          </p:cNvPr>
          <p:cNvSpPr/>
          <p:nvPr/>
        </p:nvSpPr>
        <p:spPr>
          <a:xfrm>
            <a:off x="838200" y="2013923"/>
            <a:ext cx="10596942" cy="4525691"/>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white"/>
              </a:solidFill>
              <a:effectLst/>
              <a:uLnTx/>
              <a:uFillTx/>
              <a:latin typeface="The Hand"/>
              <a:ea typeface="+mn-ea"/>
              <a:cs typeface="+mn-cs"/>
            </a:endParaRPr>
          </a:p>
        </p:txBody>
      </p:sp>
      <p:sp>
        <p:nvSpPr>
          <p:cNvPr id="2" name="Title 1">
            <a:extLst>
              <a:ext uri="{FF2B5EF4-FFF2-40B4-BE49-F238E27FC236}">
                <a16:creationId xmlns:a16="http://schemas.microsoft.com/office/drawing/2014/main" id="{8E8BB628-F6E4-BDE3-8E48-362CD5E8FAD3}"/>
              </a:ext>
            </a:extLst>
          </p:cNvPr>
          <p:cNvSpPr>
            <a:spLocks noGrp="1"/>
          </p:cNvSpPr>
          <p:nvPr>
            <p:ph type="title"/>
          </p:nvPr>
        </p:nvSpPr>
        <p:spPr>
          <a:xfrm>
            <a:off x="838200" y="365125"/>
            <a:ext cx="10809660" cy="1325563"/>
          </a:xfrm>
        </p:spPr>
        <p:txBody>
          <a:bodyPr>
            <a:normAutofit fontScale="90000"/>
          </a:bodyPr>
          <a:lstStyle/>
          <a:p>
            <a:r>
              <a:rPr lang="en-GB" dirty="0">
                <a:solidFill>
                  <a:srgbClr val="003366"/>
                </a:solidFill>
                <a:latin typeface="Amasis MT Pro Medium" panose="02040604050005020304" pitchFamily="18" charset="0"/>
              </a:rPr>
              <a:t>Properties of water: </a:t>
            </a:r>
            <a:br>
              <a:rPr lang="en-GB" dirty="0">
                <a:solidFill>
                  <a:srgbClr val="003366"/>
                </a:solidFill>
                <a:latin typeface="Amasis MT Pro Medium" panose="02040604050005020304" pitchFamily="18" charset="0"/>
              </a:rPr>
            </a:br>
            <a:r>
              <a:rPr lang="en-GB" dirty="0">
                <a:solidFill>
                  <a:srgbClr val="003366"/>
                </a:solidFill>
                <a:latin typeface="Amasis MT Pro Medium" panose="02040604050005020304" pitchFamily="18" charset="0"/>
              </a:rPr>
              <a:t>POLAR SOLVENT</a:t>
            </a:r>
          </a:p>
        </p:txBody>
      </p:sp>
      <p:sp>
        <p:nvSpPr>
          <p:cNvPr id="6" name="TextBox 5">
            <a:extLst>
              <a:ext uri="{FF2B5EF4-FFF2-40B4-BE49-F238E27FC236}">
                <a16:creationId xmlns:a16="http://schemas.microsoft.com/office/drawing/2014/main" id="{5B2A3E63-DA6F-1D2A-F7B7-B6BCA0C8F28A}"/>
              </a:ext>
            </a:extLst>
          </p:cNvPr>
          <p:cNvSpPr txBox="1"/>
          <p:nvPr/>
        </p:nvSpPr>
        <p:spPr>
          <a:xfrm>
            <a:off x="937662" y="2217131"/>
            <a:ext cx="10021146" cy="3835922"/>
          </a:xfrm>
          <a:prstGeom prst="rect">
            <a:avLst/>
          </a:prstGeom>
          <a:noFill/>
        </p:spPr>
        <p:txBody>
          <a:bodyPr wrap="square">
            <a:spAutoFit/>
          </a:bodyPr>
          <a:lstStyle/>
          <a:p>
            <a:pPr marL="228600" marR="0" lvl="0" indent="-228600" algn="just" defTabSz="914400" rtl="0" eaLnBrk="1" fontAlgn="auto" latinLnBrk="0" hangingPunct="1">
              <a:lnSpc>
                <a:spcPct val="90000"/>
              </a:lnSpc>
              <a:spcBef>
                <a:spcPts val="1000"/>
              </a:spcBef>
              <a:spcAft>
                <a:spcPts val="0"/>
              </a:spcAft>
              <a:buClr>
                <a:prstClr val="white"/>
              </a:buClr>
              <a:buSzPts val="3200"/>
              <a:buFont typeface="Arial"/>
              <a:buChar char="•"/>
              <a:tabLst/>
              <a:defRPr/>
            </a:pPr>
            <a:r>
              <a:rPr kumimoji="0" lang="en-GB" sz="3200" b="0" i="0" u="none" strike="noStrike" kern="1200" cap="none" spc="0" normalizeH="0" baseline="0" noProof="0" dirty="0">
                <a:ln>
                  <a:noFill/>
                </a:ln>
                <a:solidFill>
                  <a:prstClr val="white"/>
                </a:solidFill>
                <a:effectLst/>
                <a:uLnTx/>
                <a:uFillTx/>
                <a:latin typeface="Calibri"/>
                <a:ea typeface="Calibri"/>
                <a:cs typeface="Calibri"/>
                <a:sym typeface="Calibri"/>
              </a:rPr>
              <a:t>Water is a </a:t>
            </a:r>
            <a:r>
              <a:rPr kumimoji="0" lang="en-GB" sz="3200" b="0" i="0" u="sng" strike="noStrike" kern="1200" cap="none" spc="0" normalizeH="0" baseline="0" noProof="0" dirty="0">
                <a:ln>
                  <a:noFill/>
                </a:ln>
                <a:solidFill>
                  <a:srgbClr val="E4650E">
                    <a:lumMod val="60000"/>
                    <a:lumOff val="40000"/>
                  </a:srgbClr>
                </a:solidFill>
                <a:effectLst/>
                <a:uLnTx/>
                <a:uFillTx/>
                <a:latin typeface="Calibri"/>
                <a:ea typeface="Calibri"/>
                <a:cs typeface="Calibri"/>
                <a:sym typeface="Calibri"/>
              </a:rPr>
              <a:t>polar solvent</a:t>
            </a:r>
            <a:r>
              <a:rPr kumimoji="0" lang="en-GB" sz="3200" b="0" i="0" u="none" strike="noStrike" kern="1200" cap="none" spc="0" normalizeH="0" baseline="0" noProof="0" dirty="0">
                <a:ln>
                  <a:noFill/>
                </a:ln>
                <a:solidFill>
                  <a:prstClr val="white"/>
                </a:solidFill>
                <a:effectLst/>
                <a:uLnTx/>
                <a:uFillTx/>
                <a:latin typeface="Calibri"/>
                <a:ea typeface="Calibri"/>
                <a:cs typeface="Calibri"/>
                <a:sym typeface="Calibri"/>
              </a:rPr>
              <a:t>.</a:t>
            </a:r>
            <a:endParaRPr kumimoji="0" lang="en-GB" sz="3200" b="0" i="0" u="none" strike="noStrike" kern="1200" cap="none" spc="0" normalizeH="0" baseline="0" noProof="0" dirty="0">
              <a:ln>
                <a:noFill/>
              </a:ln>
              <a:solidFill>
                <a:prstClr val="black"/>
              </a:solidFill>
              <a:effectLst/>
              <a:uLnTx/>
              <a:uFillTx/>
              <a:latin typeface="The Hand"/>
              <a:ea typeface="+mn-ea"/>
              <a:cs typeface="+mn-cs"/>
            </a:endParaRPr>
          </a:p>
          <a:p>
            <a:pPr marL="228600" marR="0" lvl="0" indent="-228600" algn="just" defTabSz="914400" rtl="0" eaLnBrk="1" fontAlgn="auto" latinLnBrk="0" hangingPunct="1">
              <a:lnSpc>
                <a:spcPct val="90000"/>
              </a:lnSpc>
              <a:spcBef>
                <a:spcPts val="1000"/>
              </a:spcBef>
              <a:spcAft>
                <a:spcPts val="0"/>
              </a:spcAft>
              <a:buClr>
                <a:prstClr val="white"/>
              </a:buClr>
              <a:buSzPts val="3200"/>
              <a:buFont typeface="Arial"/>
              <a:buChar char="•"/>
              <a:tabLst/>
              <a:defRPr/>
            </a:pPr>
            <a:r>
              <a:rPr kumimoji="0" lang="en-GB" sz="3200" b="0" i="0" u="none" strike="noStrike" kern="1200" cap="none" spc="0" normalizeH="0" baseline="0" noProof="0" dirty="0">
                <a:ln>
                  <a:noFill/>
                </a:ln>
                <a:solidFill>
                  <a:prstClr val="white"/>
                </a:solidFill>
                <a:effectLst/>
                <a:uLnTx/>
                <a:uFillTx/>
                <a:latin typeface="Calibri"/>
                <a:ea typeface="Calibri"/>
                <a:cs typeface="Calibri"/>
                <a:sym typeface="Calibri"/>
              </a:rPr>
              <a:t>Many ionic substances will </a:t>
            </a:r>
            <a:endParaRPr kumimoji="0" lang="en-GB" sz="3200" b="0" i="0" u="none" strike="noStrike" kern="1200" cap="none" spc="0" normalizeH="0" baseline="0" noProof="0" dirty="0">
              <a:ln>
                <a:noFill/>
              </a:ln>
              <a:solidFill>
                <a:prstClr val="black"/>
              </a:solidFill>
              <a:effectLst/>
              <a:uLnTx/>
              <a:uFillTx/>
              <a:latin typeface="The Hand"/>
              <a:ea typeface="+mn-ea"/>
              <a:cs typeface="+mn-cs"/>
            </a:endParaRPr>
          </a:p>
          <a:p>
            <a:pPr marL="0" marR="0" lvl="0" indent="0" algn="just" defTabSz="914400" rtl="0" eaLnBrk="1" fontAlgn="auto" latinLnBrk="0" hangingPunct="1">
              <a:lnSpc>
                <a:spcPct val="90000"/>
              </a:lnSpc>
              <a:spcBef>
                <a:spcPts val="1000"/>
              </a:spcBef>
              <a:spcAft>
                <a:spcPts val="0"/>
              </a:spcAft>
              <a:buClr>
                <a:prstClr val="white"/>
              </a:buClr>
              <a:buSzPts val="3200"/>
              <a:buFont typeface="Arial"/>
              <a:buNone/>
              <a:tabLst/>
              <a:defRPr/>
            </a:pPr>
            <a:r>
              <a:rPr kumimoji="0" lang="en-GB" sz="3200" b="0" i="0" u="none" strike="noStrike" kern="1200" cap="none" spc="0" normalizeH="0" baseline="0" noProof="0" dirty="0">
                <a:ln>
                  <a:noFill/>
                </a:ln>
                <a:solidFill>
                  <a:prstClr val="white"/>
                </a:solidFill>
                <a:effectLst/>
                <a:uLnTx/>
                <a:uFillTx/>
                <a:latin typeface="Calibri"/>
                <a:ea typeface="Calibri"/>
                <a:cs typeface="Calibri"/>
                <a:sym typeface="Calibri"/>
              </a:rPr>
              <a:t>  dissolve in it.</a:t>
            </a:r>
            <a:endParaRPr kumimoji="0" lang="en-GB" sz="3200" b="0" i="0" u="none" strike="noStrike" kern="1200" cap="none" spc="0" normalizeH="0" baseline="0" noProof="0" dirty="0">
              <a:ln>
                <a:noFill/>
              </a:ln>
              <a:solidFill>
                <a:prstClr val="black"/>
              </a:solidFill>
              <a:effectLst/>
              <a:uLnTx/>
              <a:uFillTx/>
              <a:latin typeface="The Hand"/>
              <a:ea typeface="+mn-ea"/>
              <a:cs typeface="+mn-cs"/>
            </a:endParaRPr>
          </a:p>
          <a:p>
            <a:pPr marL="228600" marR="0" lvl="0" indent="-228600" algn="just" defTabSz="914400" rtl="0" eaLnBrk="1" fontAlgn="auto" latinLnBrk="0" hangingPunct="1">
              <a:lnSpc>
                <a:spcPct val="90000"/>
              </a:lnSpc>
              <a:spcBef>
                <a:spcPts val="1000"/>
              </a:spcBef>
              <a:spcAft>
                <a:spcPts val="0"/>
              </a:spcAft>
              <a:buClr>
                <a:prstClr val="white"/>
              </a:buClr>
              <a:buSzPts val="3200"/>
              <a:buFont typeface="Arial"/>
              <a:buChar char="•"/>
              <a:tabLst/>
              <a:defRPr/>
            </a:pPr>
            <a:r>
              <a:rPr kumimoji="0" lang="en-GB" sz="3200" b="0" i="0" u="none" strike="noStrike" kern="1200" cap="none" spc="0" normalizeH="0" baseline="0" noProof="0" dirty="0">
                <a:ln>
                  <a:noFill/>
                </a:ln>
                <a:solidFill>
                  <a:prstClr val="white"/>
                </a:solidFill>
                <a:effectLst/>
                <a:uLnTx/>
                <a:uFillTx/>
                <a:latin typeface="Calibri"/>
                <a:ea typeface="Calibri"/>
                <a:cs typeface="Calibri"/>
                <a:sym typeface="Calibri"/>
              </a:rPr>
              <a:t>Many covalently bonded</a:t>
            </a:r>
            <a:endParaRPr kumimoji="0" lang="en-GB" sz="3200" b="0" i="0" u="none" strike="noStrike" kern="1200" cap="none" spc="0" normalizeH="0" baseline="0" noProof="0" dirty="0">
              <a:ln>
                <a:noFill/>
              </a:ln>
              <a:solidFill>
                <a:prstClr val="black"/>
              </a:solidFill>
              <a:effectLst/>
              <a:uLnTx/>
              <a:uFillTx/>
              <a:latin typeface="The Hand"/>
              <a:ea typeface="+mn-ea"/>
              <a:cs typeface="+mn-cs"/>
            </a:endParaRPr>
          </a:p>
          <a:p>
            <a:pPr marL="0" marR="0" lvl="0" indent="0" algn="just" defTabSz="914400" rtl="0" eaLnBrk="1" fontAlgn="auto" latinLnBrk="0" hangingPunct="1">
              <a:lnSpc>
                <a:spcPct val="90000"/>
              </a:lnSpc>
              <a:spcBef>
                <a:spcPts val="1000"/>
              </a:spcBef>
              <a:spcAft>
                <a:spcPts val="0"/>
              </a:spcAft>
              <a:buClr>
                <a:prstClr val="white"/>
              </a:buClr>
              <a:buSzPts val="3200"/>
              <a:buFont typeface="Arial"/>
              <a:buNone/>
              <a:tabLst/>
              <a:defRPr/>
            </a:pPr>
            <a:r>
              <a:rPr kumimoji="0" lang="en-GB" sz="3200" b="0" i="0" u="none" strike="noStrike" kern="1200" cap="none" spc="0" normalizeH="0" baseline="0" noProof="0" dirty="0">
                <a:ln>
                  <a:noFill/>
                </a:ln>
                <a:solidFill>
                  <a:prstClr val="white"/>
                </a:solidFill>
                <a:effectLst/>
                <a:uLnTx/>
                <a:uFillTx/>
                <a:latin typeface="Calibri"/>
                <a:ea typeface="Calibri"/>
                <a:cs typeface="Calibri"/>
                <a:sym typeface="Calibri"/>
              </a:rPr>
              <a:t>  substances are also polar and will dissolve in water.</a:t>
            </a:r>
            <a:endParaRPr kumimoji="0" lang="en-GB" sz="3200" b="0" i="0" u="none" strike="noStrike" kern="1200" cap="none" spc="0" normalizeH="0" baseline="0" noProof="0" dirty="0">
              <a:ln>
                <a:noFill/>
              </a:ln>
              <a:solidFill>
                <a:prstClr val="black"/>
              </a:solidFill>
              <a:effectLst/>
              <a:uLnTx/>
              <a:uFillTx/>
              <a:latin typeface="The Hand"/>
              <a:ea typeface="+mn-ea"/>
              <a:cs typeface="+mn-cs"/>
            </a:endParaRPr>
          </a:p>
          <a:p>
            <a:pPr marL="228600" marR="0" lvl="0" indent="-228600" algn="just" defTabSz="914400" rtl="0" eaLnBrk="1" fontAlgn="auto" latinLnBrk="0" hangingPunct="1">
              <a:lnSpc>
                <a:spcPct val="90000"/>
              </a:lnSpc>
              <a:spcBef>
                <a:spcPts val="1000"/>
              </a:spcBef>
              <a:spcAft>
                <a:spcPts val="0"/>
              </a:spcAft>
              <a:buClr>
                <a:prstClr val="white"/>
              </a:buClr>
              <a:buSzPts val="3200"/>
              <a:buFont typeface="Arial"/>
              <a:buChar char="•"/>
              <a:tabLst/>
              <a:defRPr/>
            </a:pPr>
            <a:r>
              <a:rPr kumimoji="0" lang="en-GB" sz="32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Such polar substances are said to be </a:t>
            </a:r>
            <a:r>
              <a:rPr kumimoji="0" lang="en-GB" sz="3200" b="0" i="0" u="sng" strike="noStrike" kern="1200" cap="none" spc="0" normalizeH="0" baseline="0" noProof="0" dirty="0">
                <a:ln>
                  <a:noFill/>
                </a:ln>
                <a:solidFill>
                  <a:srgbClr val="E4650E">
                    <a:lumMod val="60000"/>
                    <a:lumOff val="40000"/>
                  </a:srgbClr>
                </a:solidFill>
                <a:effectLst/>
                <a:uLnTx/>
                <a:uFillTx/>
                <a:latin typeface="Calibri" panose="020F0502020204030204" pitchFamily="34" charset="0"/>
                <a:ea typeface="+mn-ea"/>
                <a:cs typeface="Calibri" panose="020F0502020204030204" pitchFamily="34" charset="0"/>
              </a:rPr>
              <a:t>hydrophilic</a:t>
            </a:r>
            <a:r>
              <a:rPr kumimoji="0" lang="en-GB" sz="32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 ‘water-loving’. </a:t>
            </a:r>
          </a:p>
        </p:txBody>
      </p:sp>
      <p:pic>
        <p:nvPicPr>
          <p:cNvPr id="7170" name="Picture 2" descr="Solutions, Solubility, and Colligative Properties | Chemistry |  Visionlearning">
            <a:extLst>
              <a:ext uri="{FF2B5EF4-FFF2-40B4-BE49-F238E27FC236}">
                <a16:creationId xmlns:a16="http://schemas.microsoft.com/office/drawing/2014/main" id="{9D060DB0-EF6C-C57A-7ACC-2EBA8A3E11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8380" y="2013923"/>
            <a:ext cx="6439928" cy="2216241"/>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90580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45205FC-620B-FE18-48AF-7F9C185339A6}"/>
              </a:ext>
            </a:extLst>
          </p:cNvPr>
          <p:cNvSpPr/>
          <p:nvPr/>
        </p:nvSpPr>
        <p:spPr>
          <a:xfrm>
            <a:off x="402478" y="2013924"/>
            <a:ext cx="11711787" cy="468758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white"/>
              </a:solidFill>
              <a:effectLst/>
              <a:uLnTx/>
              <a:uFillTx/>
              <a:latin typeface="The Hand"/>
              <a:ea typeface="+mn-ea"/>
              <a:cs typeface="+mn-cs"/>
              <a:sym typeface="Arial"/>
            </a:endParaRPr>
          </a:p>
        </p:txBody>
      </p:sp>
      <p:sp>
        <p:nvSpPr>
          <p:cNvPr id="2" name="Title 1">
            <a:extLst>
              <a:ext uri="{FF2B5EF4-FFF2-40B4-BE49-F238E27FC236}">
                <a16:creationId xmlns:a16="http://schemas.microsoft.com/office/drawing/2014/main" id="{8E8BB628-F6E4-BDE3-8E48-362CD5E8FAD3}"/>
              </a:ext>
            </a:extLst>
          </p:cNvPr>
          <p:cNvSpPr>
            <a:spLocks noGrp="1"/>
          </p:cNvSpPr>
          <p:nvPr>
            <p:ph type="title"/>
          </p:nvPr>
        </p:nvSpPr>
        <p:spPr/>
        <p:txBody>
          <a:bodyPr>
            <a:noAutofit/>
          </a:bodyPr>
          <a:lstStyle/>
          <a:p>
            <a:r>
              <a:rPr lang="en-GB" sz="4000" dirty="0">
                <a:solidFill>
                  <a:srgbClr val="003366"/>
                </a:solidFill>
                <a:latin typeface="Amasis MT Pro Medium" panose="02040604050005020304" pitchFamily="18" charset="0"/>
              </a:rPr>
              <a:t>It is important to note that </a:t>
            </a:r>
            <a:r>
              <a:rPr lang="en-GB" sz="4000" b="1" i="1" u="sng" dirty="0">
                <a:solidFill>
                  <a:srgbClr val="003366"/>
                </a:solidFill>
                <a:latin typeface="Amasis MT Pro Medium" panose="02040604050005020304" pitchFamily="18" charset="0"/>
              </a:rPr>
              <a:t>polar molecules </a:t>
            </a:r>
            <a:r>
              <a:rPr lang="en-GB" sz="4000" dirty="0">
                <a:solidFill>
                  <a:srgbClr val="003366"/>
                </a:solidFill>
                <a:latin typeface="Amasis MT Pro Medium" panose="02040604050005020304" pitchFamily="18" charset="0"/>
              </a:rPr>
              <a:t>are not the same as </a:t>
            </a:r>
            <a:r>
              <a:rPr lang="en-GB" sz="4000" b="1" i="1" u="sng" dirty="0">
                <a:solidFill>
                  <a:srgbClr val="003366"/>
                </a:solidFill>
                <a:latin typeface="Amasis MT Pro Medium" panose="02040604050005020304" pitchFamily="18" charset="0"/>
              </a:rPr>
              <a:t>ionic molecules</a:t>
            </a:r>
            <a:r>
              <a:rPr lang="en-GB" sz="4000" dirty="0">
                <a:solidFill>
                  <a:srgbClr val="003366"/>
                </a:solidFill>
                <a:latin typeface="Amasis MT Pro Medium" panose="02040604050005020304" pitchFamily="18" charset="0"/>
              </a:rPr>
              <a:t>!!</a:t>
            </a:r>
          </a:p>
        </p:txBody>
      </p:sp>
      <p:pic>
        <p:nvPicPr>
          <p:cNvPr id="9218" name="Picture 2" descr="Polar Covalent Bonds">
            <a:extLst>
              <a:ext uri="{FF2B5EF4-FFF2-40B4-BE49-F238E27FC236}">
                <a16:creationId xmlns:a16="http://schemas.microsoft.com/office/drawing/2014/main" id="{59F79022-67D0-56D4-D942-A165F7B237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805651"/>
            <a:ext cx="6075828" cy="505234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560B9B4-0060-1BA2-CBF5-C752BBD4B945}"/>
              </a:ext>
            </a:extLst>
          </p:cNvPr>
          <p:cNvSpPr txBox="1"/>
          <p:nvPr/>
        </p:nvSpPr>
        <p:spPr>
          <a:xfrm>
            <a:off x="6075829" y="2304403"/>
            <a:ext cx="5804911" cy="3970318"/>
          </a:xfrm>
          <a:prstGeom prst="rect">
            <a:avLst/>
          </a:prstGeom>
          <a:noFill/>
        </p:spPr>
        <p:txBody>
          <a:bodyPr wrap="square">
            <a:spAutoFit/>
          </a:bodyPr>
          <a:lstStyle/>
          <a:p>
            <a:pPr marL="514350" marR="0" lvl="0" indent="-514350" algn="just" defTabSz="914400" rtl="0" eaLnBrk="1" fontAlgn="auto" latinLnBrk="0" hangingPunct="1">
              <a:lnSpc>
                <a:spcPct val="100000"/>
              </a:lnSpc>
              <a:spcBef>
                <a:spcPts val="0"/>
              </a:spcBef>
              <a:spcAft>
                <a:spcPts val="0"/>
              </a:spcAft>
              <a:buClr>
                <a:schemeClr val="bg1"/>
              </a:buClr>
              <a:buSzPct val="80000"/>
              <a:buFont typeface="+mj-lt"/>
              <a:buAutoNum type="arabicPeriod"/>
              <a:tabLst/>
              <a:defRPr/>
            </a:pPr>
            <a:r>
              <a:rPr kumimoji="0" lang="en-GB" sz="1800" b="1" i="1" u="sng" strike="noStrike" kern="1200" cap="none" spc="0" normalizeH="0" baseline="0" noProof="0" dirty="0">
                <a:ln>
                  <a:noFill/>
                </a:ln>
                <a:solidFill>
                  <a:schemeClr val="accent1">
                    <a:lumMod val="75000"/>
                  </a:schemeClr>
                </a:solidFill>
                <a:effectLst/>
                <a:uLnTx/>
                <a:uFillTx/>
                <a:latin typeface="Arial" panose="020B0604020202020204" pitchFamily="34" charset="0"/>
                <a:ea typeface="+mn-ea"/>
                <a:cs typeface="Arial" panose="020B0604020202020204" pitchFamily="34" charset="0"/>
                <a:sym typeface="Arial"/>
              </a:rPr>
              <a:t>Ionic compounds </a:t>
            </a:r>
            <a:r>
              <a:rPr kumimoji="0" lang="en-GB" sz="180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sym typeface="Arial"/>
              </a:rPr>
              <a:t>are held together by ionic bonds that arise due to electrostatic forces between ions. In such cases, one of the atoms loses an electron to form a cation and another atom gains an atom to form an anion. </a:t>
            </a:r>
            <a:r>
              <a:rPr kumimoji="0" lang="en-GB" sz="1800" b="1" i="1" u="sng" strike="noStrike" kern="1200" cap="none" spc="0" normalizeH="0" baseline="0" noProof="0" dirty="0" err="1">
                <a:ln>
                  <a:noFill/>
                </a:ln>
                <a:solidFill>
                  <a:schemeClr val="accent1">
                    <a:lumMod val="60000"/>
                    <a:lumOff val="40000"/>
                  </a:schemeClr>
                </a:solidFill>
                <a:effectLst/>
                <a:uLnTx/>
                <a:uFillTx/>
                <a:latin typeface="Arial" panose="020B0604020202020204" pitchFamily="34" charset="0"/>
                <a:ea typeface="+mn-ea"/>
                <a:cs typeface="Arial" panose="020B0604020202020204" pitchFamily="34" charset="0"/>
                <a:sym typeface="Arial"/>
              </a:rPr>
              <a:t>Eg</a:t>
            </a:r>
            <a:r>
              <a:rPr kumimoji="0" lang="en-GB" sz="1800" b="1" i="1" u="sng" strike="noStrike" kern="1200" cap="none" spc="0" normalizeH="0" baseline="0" noProof="0" dirty="0">
                <a:ln>
                  <a:noFill/>
                </a:ln>
                <a:solidFill>
                  <a:schemeClr val="accent1">
                    <a:lumMod val="60000"/>
                    <a:lumOff val="40000"/>
                  </a:schemeClr>
                </a:solidFill>
                <a:effectLst/>
                <a:uLnTx/>
                <a:uFillTx/>
                <a:latin typeface="Arial" panose="020B0604020202020204" pitchFamily="34" charset="0"/>
                <a:ea typeface="+mn-ea"/>
                <a:cs typeface="Arial" panose="020B0604020202020204" pitchFamily="34" charset="0"/>
                <a:sym typeface="Arial"/>
              </a:rPr>
              <a:t>: Na+/Cl-</a:t>
            </a:r>
          </a:p>
          <a:p>
            <a:pPr marL="514350" marR="0" lvl="0" indent="-514350" algn="just" defTabSz="914400" rtl="0" eaLnBrk="1" fontAlgn="auto" latinLnBrk="0" hangingPunct="1">
              <a:lnSpc>
                <a:spcPct val="100000"/>
              </a:lnSpc>
              <a:spcBef>
                <a:spcPts val="0"/>
              </a:spcBef>
              <a:spcAft>
                <a:spcPts val="0"/>
              </a:spcAft>
              <a:buClr>
                <a:schemeClr val="bg1"/>
              </a:buClr>
              <a:buSzPct val="80000"/>
              <a:buFont typeface="+mj-lt"/>
              <a:buAutoNum type="arabicPeriod"/>
              <a:tabLst/>
              <a:defRPr/>
            </a:pPr>
            <a:r>
              <a:rPr kumimoji="0" lang="en-GB" sz="1800" b="1" i="1" u="sng" strike="noStrike" kern="1200" cap="none" spc="0" normalizeH="0" baseline="0" noProof="0" dirty="0">
                <a:ln>
                  <a:noFill/>
                </a:ln>
                <a:solidFill>
                  <a:schemeClr val="accent1">
                    <a:lumMod val="75000"/>
                  </a:schemeClr>
                </a:solidFill>
                <a:effectLst/>
                <a:uLnTx/>
                <a:uFillTx/>
                <a:latin typeface="Arial" panose="020B0604020202020204" pitchFamily="34" charset="0"/>
                <a:ea typeface="+mn-ea"/>
                <a:cs typeface="Arial" panose="020B0604020202020204" pitchFamily="34" charset="0"/>
                <a:sym typeface="Arial"/>
              </a:rPr>
              <a:t>In polar compounds</a:t>
            </a:r>
            <a:r>
              <a:rPr lang="en-GB" sz="1800" b="1" kern="1200" dirty="0">
                <a:solidFill>
                  <a:prstClr val="white"/>
                </a:solidFill>
                <a:latin typeface="Arial" panose="020B0604020202020204" pitchFamily="34" charset="0"/>
                <a:ea typeface="+mn-ea"/>
                <a:cs typeface="Arial" panose="020B0604020202020204" pitchFamily="34" charset="0"/>
              </a:rPr>
              <a:t> </a:t>
            </a:r>
            <a:r>
              <a:rPr kumimoji="0" lang="en-GB" sz="180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sym typeface="Arial"/>
              </a:rPr>
              <a:t>the electron pair is shared by two chemical species. However, the electron pair is shared in an unequal manner owing to the differences in the electronegativities of the two chemically bonded species. This results in one side of molecule to have a partially positive charge while the other side have a partially</a:t>
            </a:r>
            <a:r>
              <a:rPr lang="en-GB" sz="1800" kern="1200" dirty="0">
                <a:solidFill>
                  <a:prstClr val="white"/>
                </a:solidFill>
                <a:latin typeface="Arial" panose="020B0604020202020204" pitchFamily="34" charset="0"/>
                <a:ea typeface="+mn-ea"/>
                <a:cs typeface="Arial" panose="020B0604020202020204" pitchFamily="34" charset="0"/>
              </a:rPr>
              <a:t> </a:t>
            </a:r>
            <a:r>
              <a:rPr kumimoji="0" lang="en-GB" sz="180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sym typeface="Arial"/>
              </a:rPr>
              <a:t>negative charge. </a:t>
            </a:r>
            <a:r>
              <a:rPr kumimoji="0" lang="en-GB" sz="1800" b="1" i="1" u="sng" strike="noStrike" kern="1200" cap="none" spc="0" normalizeH="0" baseline="0" noProof="0" dirty="0" err="1">
                <a:ln>
                  <a:noFill/>
                </a:ln>
                <a:solidFill>
                  <a:schemeClr val="accent1">
                    <a:lumMod val="60000"/>
                    <a:lumOff val="40000"/>
                  </a:schemeClr>
                </a:solidFill>
                <a:effectLst/>
                <a:uLnTx/>
                <a:uFillTx/>
                <a:latin typeface="Arial" panose="020B0604020202020204" pitchFamily="34" charset="0"/>
                <a:ea typeface="+mn-ea"/>
                <a:cs typeface="Arial" panose="020B0604020202020204" pitchFamily="34" charset="0"/>
                <a:sym typeface="Arial"/>
              </a:rPr>
              <a:t>Eg</a:t>
            </a:r>
            <a:r>
              <a:rPr kumimoji="0" lang="en-GB" sz="1800" b="1" i="1" u="sng" strike="noStrike" kern="1200" cap="none" spc="0" normalizeH="0" baseline="0" noProof="0" dirty="0">
                <a:ln>
                  <a:noFill/>
                </a:ln>
                <a:solidFill>
                  <a:schemeClr val="accent1">
                    <a:lumMod val="60000"/>
                    <a:lumOff val="40000"/>
                  </a:schemeClr>
                </a:solidFill>
                <a:effectLst/>
                <a:uLnTx/>
                <a:uFillTx/>
                <a:latin typeface="Arial" panose="020B0604020202020204" pitchFamily="34" charset="0"/>
                <a:ea typeface="+mn-ea"/>
                <a:cs typeface="Arial" panose="020B0604020202020204" pitchFamily="34" charset="0"/>
                <a:sym typeface="Arial"/>
              </a:rPr>
              <a:t>: glucose/amino acids/molecules with OH/NH</a:t>
            </a:r>
            <a:r>
              <a:rPr kumimoji="0" lang="en-GB" b="1" i="1" u="sng" strike="noStrike" kern="1200" cap="none" spc="0" normalizeH="0" baseline="0" noProof="0" dirty="0">
                <a:ln>
                  <a:noFill/>
                </a:ln>
                <a:solidFill>
                  <a:schemeClr val="accent1">
                    <a:lumMod val="60000"/>
                    <a:lumOff val="40000"/>
                  </a:schemeClr>
                </a:solidFill>
                <a:effectLst/>
                <a:uLnTx/>
                <a:uFillTx/>
                <a:latin typeface="Arial" panose="020B0604020202020204" pitchFamily="34" charset="0"/>
                <a:ea typeface="+mn-ea"/>
                <a:cs typeface="Arial" panose="020B0604020202020204" pitchFamily="34" charset="0"/>
                <a:sym typeface="Arial"/>
              </a:rPr>
              <a:t>2</a:t>
            </a:r>
            <a:r>
              <a:rPr kumimoji="0" lang="en-GB" sz="1800" b="1" i="1" u="sng" strike="noStrike" kern="1200" cap="none" spc="0" normalizeH="0" baseline="0" noProof="0" dirty="0">
                <a:ln>
                  <a:noFill/>
                </a:ln>
                <a:solidFill>
                  <a:schemeClr val="accent1">
                    <a:lumMod val="60000"/>
                    <a:lumOff val="40000"/>
                  </a:schemeClr>
                </a:solidFill>
                <a:effectLst/>
                <a:uLnTx/>
                <a:uFillTx/>
                <a:latin typeface="Arial" panose="020B0604020202020204" pitchFamily="34" charset="0"/>
                <a:ea typeface="+mn-ea"/>
                <a:cs typeface="Arial" panose="020B0604020202020204" pitchFamily="34" charset="0"/>
                <a:sym typeface="Arial"/>
              </a:rPr>
              <a:t> groups</a:t>
            </a:r>
            <a:r>
              <a:rPr kumimoji="0" lang="en-GB" sz="180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sym typeface="Arial"/>
              </a:rPr>
              <a:t>.</a:t>
            </a:r>
          </a:p>
        </p:txBody>
      </p:sp>
    </p:spTree>
    <p:extLst>
      <p:ext uri="{BB962C8B-B14F-4D97-AF65-F5344CB8AC3E}">
        <p14:creationId xmlns:p14="http://schemas.microsoft.com/office/powerpoint/2010/main" val="6448299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1"/>
          <p:cNvSpPr/>
          <p:nvPr/>
        </p:nvSpPr>
        <p:spPr>
          <a:xfrm>
            <a:off x="1006081" y="184753"/>
            <a:ext cx="10044333" cy="6488493"/>
          </a:xfrm>
          <a:prstGeom prst="rect">
            <a:avLst/>
          </a:prstGeom>
          <a:solidFill>
            <a:srgbClr val="0C0C0C"/>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bg1"/>
              </a:solidFill>
              <a:latin typeface="Calibri"/>
              <a:ea typeface="Calibri"/>
              <a:cs typeface="Calibri"/>
              <a:sym typeface="Calibri"/>
            </a:endParaRPr>
          </a:p>
        </p:txBody>
      </p:sp>
      <p:sp>
        <p:nvSpPr>
          <p:cNvPr id="2" name="TextBox 1">
            <a:extLst>
              <a:ext uri="{FF2B5EF4-FFF2-40B4-BE49-F238E27FC236}">
                <a16:creationId xmlns:a16="http://schemas.microsoft.com/office/drawing/2014/main" id="{3457652D-BE2D-90FD-0ACE-9341EF912E5A}"/>
              </a:ext>
            </a:extLst>
          </p:cNvPr>
          <p:cNvSpPr txBox="1"/>
          <p:nvPr/>
        </p:nvSpPr>
        <p:spPr>
          <a:xfrm>
            <a:off x="6455983" y="612843"/>
            <a:ext cx="4472985" cy="5262979"/>
          </a:xfrm>
          <a:prstGeom prst="rect">
            <a:avLst/>
          </a:prstGeom>
          <a:noFill/>
          <a:ln w="28575">
            <a:solidFill>
              <a:schemeClr val="accent6">
                <a:lumMod val="75000"/>
              </a:schemeClr>
            </a:solidFill>
          </a:ln>
        </p:spPr>
        <p:txBody>
          <a:bodyPr wrap="square" rtlCol="0">
            <a:spAutoFit/>
          </a:bodyPr>
          <a:lstStyle/>
          <a:p>
            <a:pPr marL="285750" indent="-285750" algn="just">
              <a:buClr>
                <a:schemeClr val="bg1"/>
              </a:buClr>
              <a:buFont typeface="Wingdings" panose="05000000000000000000" pitchFamily="2" charset="2"/>
              <a:buChar char="q"/>
            </a:pPr>
            <a:r>
              <a:rPr lang="en-GB" sz="2400" b="1" dirty="0">
                <a:solidFill>
                  <a:srgbClr val="FFC000"/>
                </a:solidFill>
              </a:rPr>
              <a:t>Water is a polar solvent and ions are charged.</a:t>
            </a:r>
          </a:p>
          <a:p>
            <a:pPr marL="285750" indent="-285750" algn="just">
              <a:buClr>
                <a:schemeClr val="bg1"/>
              </a:buClr>
              <a:buFont typeface="Wingdings" panose="05000000000000000000" pitchFamily="2" charset="2"/>
              <a:buChar char="q"/>
            </a:pPr>
            <a:r>
              <a:rPr lang="en-GB" sz="2400" dirty="0">
                <a:solidFill>
                  <a:schemeClr val="bg1"/>
                </a:solidFill>
              </a:rPr>
              <a:t>Water separates the ions from the lattice. </a:t>
            </a:r>
          </a:p>
          <a:p>
            <a:pPr marL="285750" indent="-285750" algn="just">
              <a:buClr>
                <a:schemeClr val="bg1"/>
              </a:buClr>
              <a:buFont typeface="Wingdings" panose="05000000000000000000" pitchFamily="2" charset="2"/>
              <a:buChar char="q"/>
            </a:pPr>
            <a:r>
              <a:rPr lang="en-GB" sz="2400" dirty="0">
                <a:solidFill>
                  <a:schemeClr val="bg1"/>
                </a:solidFill>
              </a:rPr>
              <a:t>Water surrounds/ clusters around the ions.</a:t>
            </a:r>
          </a:p>
          <a:p>
            <a:pPr marL="285750" indent="-285750" algn="just">
              <a:buClr>
                <a:schemeClr val="bg1"/>
              </a:buClr>
              <a:buFont typeface="Wingdings" panose="05000000000000000000" pitchFamily="2" charset="2"/>
              <a:buChar char="q"/>
            </a:pPr>
            <a:r>
              <a:rPr lang="en-GB" sz="2400" b="1" dirty="0">
                <a:solidFill>
                  <a:srgbClr val="FFC000"/>
                </a:solidFill>
              </a:rPr>
              <a:t>Sodium ions will bind to / be attracted to the oxygen of water.</a:t>
            </a:r>
          </a:p>
          <a:p>
            <a:pPr marL="285750" indent="-285750" algn="just">
              <a:buClr>
                <a:schemeClr val="bg1"/>
              </a:buClr>
              <a:buFont typeface="Wingdings" panose="05000000000000000000" pitchFamily="2" charset="2"/>
              <a:buChar char="q"/>
            </a:pPr>
            <a:r>
              <a:rPr lang="en-GB" sz="2400" b="1" dirty="0">
                <a:solidFill>
                  <a:srgbClr val="FFC000"/>
                </a:solidFill>
              </a:rPr>
              <a:t> And chloride ions will bind to / be attracted to the hydrogens of water.</a:t>
            </a:r>
          </a:p>
          <a:p>
            <a:pPr marL="285750" indent="-285750" algn="just">
              <a:buClr>
                <a:schemeClr val="bg1"/>
              </a:buClr>
              <a:buFont typeface="Wingdings" panose="05000000000000000000" pitchFamily="2" charset="2"/>
              <a:buChar char="q"/>
            </a:pPr>
            <a:r>
              <a:rPr lang="en-GB" sz="2400" dirty="0">
                <a:solidFill>
                  <a:schemeClr val="bg1"/>
                </a:solidFill>
              </a:rPr>
              <a:t>This way, Na+ and Cl− ions dissolves in water. </a:t>
            </a:r>
            <a:endParaRPr lang="en-MY" sz="2400" dirty="0">
              <a:solidFill>
                <a:schemeClr val="bg1"/>
              </a:solidFill>
            </a:endParaRPr>
          </a:p>
        </p:txBody>
      </p:sp>
      <p:pic>
        <p:nvPicPr>
          <p:cNvPr id="5" name="Picture 4" descr="A diagram of different chemical elements&#10;&#10;AI-generated content may be incorrect.">
            <a:extLst>
              <a:ext uri="{FF2B5EF4-FFF2-40B4-BE49-F238E27FC236}">
                <a16:creationId xmlns:a16="http://schemas.microsoft.com/office/drawing/2014/main" id="{1578AA16-4AC5-F06F-2E44-EB34B043AE45}"/>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contrast="-20000"/>
                    </a14:imgEffect>
                  </a14:imgLayer>
                </a14:imgProps>
              </a:ext>
            </a:extLst>
          </a:blip>
          <a:stretch>
            <a:fillRect/>
          </a:stretch>
        </p:blipFill>
        <p:spPr>
          <a:xfrm>
            <a:off x="584053" y="0"/>
            <a:ext cx="5750485" cy="6858000"/>
          </a:xfrm>
          <a:prstGeom prst="rect">
            <a:avLst/>
          </a:prstGeom>
        </p:spPr>
      </p:pic>
    </p:spTree>
    <p:extLst>
      <p:ext uri="{BB962C8B-B14F-4D97-AF65-F5344CB8AC3E}">
        <p14:creationId xmlns:p14="http://schemas.microsoft.com/office/powerpoint/2010/main" val="7372581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5;p11">
            <a:extLst>
              <a:ext uri="{FF2B5EF4-FFF2-40B4-BE49-F238E27FC236}">
                <a16:creationId xmlns:a16="http://schemas.microsoft.com/office/drawing/2014/main" id="{A816AA99-35B8-51B1-225A-97DF7F5DC268}"/>
              </a:ext>
            </a:extLst>
          </p:cNvPr>
          <p:cNvSpPr/>
          <p:nvPr/>
        </p:nvSpPr>
        <p:spPr>
          <a:xfrm>
            <a:off x="1006081" y="184753"/>
            <a:ext cx="10044333" cy="6488493"/>
          </a:xfrm>
          <a:prstGeom prst="rect">
            <a:avLst/>
          </a:prstGeom>
          <a:solidFill>
            <a:srgbClr val="0C0C0C"/>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bg1"/>
              </a:solidFill>
              <a:latin typeface="Calibri"/>
              <a:ea typeface="Calibri"/>
              <a:cs typeface="Calibri"/>
              <a:sym typeface="Calibri"/>
            </a:endParaRPr>
          </a:p>
        </p:txBody>
      </p:sp>
      <p:grpSp>
        <p:nvGrpSpPr>
          <p:cNvPr id="4" name="Group 3">
            <a:extLst>
              <a:ext uri="{FF2B5EF4-FFF2-40B4-BE49-F238E27FC236}">
                <a16:creationId xmlns:a16="http://schemas.microsoft.com/office/drawing/2014/main" id="{295A76EC-8BCC-CBB9-EA2C-E8CAEEB1C2A8}"/>
              </a:ext>
            </a:extLst>
          </p:cNvPr>
          <p:cNvGrpSpPr/>
          <p:nvPr/>
        </p:nvGrpSpPr>
        <p:grpSpPr>
          <a:xfrm>
            <a:off x="1006080" y="184753"/>
            <a:ext cx="10044333" cy="6488493"/>
            <a:chOff x="1600200" y="312609"/>
            <a:chExt cx="8686800" cy="6232779"/>
          </a:xfrm>
        </p:grpSpPr>
        <p:pic>
          <p:nvPicPr>
            <p:cNvPr id="3074" name="Picture 2" descr="Solvent Properties | BioNinja">
              <a:extLst>
                <a:ext uri="{FF2B5EF4-FFF2-40B4-BE49-F238E27FC236}">
                  <a16:creationId xmlns:a16="http://schemas.microsoft.com/office/drawing/2014/main" id="{2CCA1931-A71B-2258-9A5A-CE66E516EB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312609"/>
              <a:ext cx="8686800" cy="623277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1E4F3782-398E-7F04-6FC0-BE670E63C9F9}"/>
                </a:ext>
              </a:extLst>
            </p:cNvPr>
            <p:cNvSpPr/>
            <p:nvPr/>
          </p:nvSpPr>
          <p:spPr>
            <a:xfrm>
              <a:off x="7818120" y="3233057"/>
              <a:ext cx="1632857" cy="3788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grpSp>
    </p:spTree>
    <p:extLst>
      <p:ext uri="{BB962C8B-B14F-4D97-AF65-F5344CB8AC3E}">
        <p14:creationId xmlns:p14="http://schemas.microsoft.com/office/powerpoint/2010/main" val="12457110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85;p11">
            <a:extLst>
              <a:ext uri="{FF2B5EF4-FFF2-40B4-BE49-F238E27FC236}">
                <a16:creationId xmlns:a16="http://schemas.microsoft.com/office/drawing/2014/main" id="{88945CE9-14B5-AFA5-C8C2-BAD3283C71CB}"/>
              </a:ext>
            </a:extLst>
          </p:cNvPr>
          <p:cNvSpPr/>
          <p:nvPr/>
        </p:nvSpPr>
        <p:spPr>
          <a:xfrm>
            <a:off x="1006081" y="184753"/>
            <a:ext cx="10044333" cy="6488493"/>
          </a:xfrm>
          <a:prstGeom prst="rect">
            <a:avLst/>
          </a:prstGeom>
          <a:solidFill>
            <a:srgbClr val="0C0C0C"/>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bg1"/>
              </a:solidFill>
              <a:latin typeface="Calibri"/>
              <a:ea typeface="Calibri"/>
              <a:cs typeface="Calibri"/>
              <a:sym typeface="Calibri"/>
            </a:endParaRPr>
          </a:p>
        </p:txBody>
      </p:sp>
      <p:grpSp>
        <p:nvGrpSpPr>
          <p:cNvPr id="7" name="Group 6">
            <a:extLst>
              <a:ext uri="{FF2B5EF4-FFF2-40B4-BE49-F238E27FC236}">
                <a16:creationId xmlns:a16="http://schemas.microsoft.com/office/drawing/2014/main" id="{CE7D4D73-F4E9-852C-7041-A5369034E22F}"/>
              </a:ext>
            </a:extLst>
          </p:cNvPr>
          <p:cNvGrpSpPr/>
          <p:nvPr/>
        </p:nvGrpSpPr>
        <p:grpSpPr>
          <a:xfrm>
            <a:off x="1654550" y="0"/>
            <a:ext cx="8747393" cy="6858001"/>
            <a:chOff x="2062365" y="-1"/>
            <a:chExt cx="8747393" cy="6858001"/>
          </a:xfrm>
        </p:grpSpPr>
        <p:sp>
          <p:nvSpPr>
            <p:cNvPr id="6" name="Rectangle 5">
              <a:extLst>
                <a:ext uri="{FF2B5EF4-FFF2-40B4-BE49-F238E27FC236}">
                  <a16:creationId xmlns:a16="http://schemas.microsoft.com/office/drawing/2014/main" id="{2153437A-299E-0A34-A452-DDFA3372E6A1}"/>
                </a:ext>
              </a:extLst>
            </p:cNvPr>
            <p:cNvSpPr/>
            <p:nvPr/>
          </p:nvSpPr>
          <p:spPr>
            <a:xfrm>
              <a:off x="2062365" y="0"/>
              <a:ext cx="8747393" cy="6858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V"/>
            </a:p>
          </p:txBody>
        </p:sp>
        <p:pic>
          <p:nvPicPr>
            <p:cNvPr id="1026" name="Picture 2" descr="Period 3 Chlorides | Cambridge (CIE) AS Chemistry Revision Notes 2023">
              <a:extLst>
                <a:ext uri="{FF2B5EF4-FFF2-40B4-BE49-F238E27FC236}">
                  <a16:creationId xmlns:a16="http://schemas.microsoft.com/office/drawing/2014/main" id="{7BD222F5-2285-D7CC-9C7D-BFEA45F6D85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694"/>
            <a:stretch>
              <a:fillRect/>
            </a:stretch>
          </p:blipFill>
          <p:spPr bwMode="auto">
            <a:xfrm>
              <a:off x="2062366" y="-1"/>
              <a:ext cx="8747392" cy="685799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9111076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99AB1CFB-76F7-855D-6C6B-FF74BCE5C192}"/>
            </a:ext>
          </a:extLst>
        </p:cNvPr>
        <p:cNvGrpSpPr/>
        <p:nvPr/>
      </p:nvGrpSpPr>
      <p:grpSpPr>
        <a:xfrm>
          <a:off x="0" y="0"/>
          <a:ext cx="0" cy="0"/>
          <a:chOff x="0" y="0"/>
          <a:chExt cx="0" cy="0"/>
        </a:xfrm>
      </p:grpSpPr>
      <p:sp>
        <p:nvSpPr>
          <p:cNvPr id="185" name="Google Shape;185;p11">
            <a:extLst>
              <a:ext uri="{FF2B5EF4-FFF2-40B4-BE49-F238E27FC236}">
                <a16:creationId xmlns:a16="http://schemas.microsoft.com/office/drawing/2014/main" id="{98DAFBBE-331C-32AF-2AE3-5FFBCF6A5259}"/>
              </a:ext>
            </a:extLst>
          </p:cNvPr>
          <p:cNvSpPr/>
          <p:nvPr/>
        </p:nvSpPr>
        <p:spPr>
          <a:xfrm>
            <a:off x="1006081" y="184753"/>
            <a:ext cx="10044333" cy="6488493"/>
          </a:xfrm>
          <a:prstGeom prst="rect">
            <a:avLst/>
          </a:prstGeom>
          <a:solidFill>
            <a:srgbClr val="0C0C0C"/>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bg1"/>
              </a:solidFill>
              <a:latin typeface="Calibri"/>
              <a:ea typeface="Calibri"/>
              <a:cs typeface="Calibri"/>
              <a:sym typeface="Calibri"/>
            </a:endParaRPr>
          </a:p>
        </p:txBody>
      </p:sp>
      <p:sp>
        <p:nvSpPr>
          <p:cNvPr id="2" name="TextBox 1">
            <a:extLst>
              <a:ext uri="{FF2B5EF4-FFF2-40B4-BE49-F238E27FC236}">
                <a16:creationId xmlns:a16="http://schemas.microsoft.com/office/drawing/2014/main" id="{F6585E29-D391-B777-5DC4-ECEFE27A16C4}"/>
              </a:ext>
            </a:extLst>
          </p:cNvPr>
          <p:cNvSpPr txBox="1"/>
          <p:nvPr/>
        </p:nvSpPr>
        <p:spPr>
          <a:xfrm>
            <a:off x="1141586" y="822163"/>
            <a:ext cx="9787382" cy="5016758"/>
          </a:xfrm>
          <a:prstGeom prst="rect">
            <a:avLst/>
          </a:prstGeom>
          <a:noFill/>
          <a:ln w="28575">
            <a:solidFill>
              <a:schemeClr val="accent6">
                <a:lumMod val="75000"/>
              </a:schemeClr>
            </a:solidFill>
          </a:ln>
        </p:spPr>
        <p:txBody>
          <a:bodyPr wrap="square" rtlCol="0">
            <a:spAutoFit/>
          </a:bodyPr>
          <a:lstStyle/>
          <a:p>
            <a:pPr marL="285750" indent="-285750" algn="just">
              <a:buClr>
                <a:schemeClr val="bg1"/>
              </a:buClr>
              <a:buFont typeface="Wingdings" panose="05000000000000000000" pitchFamily="2" charset="2"/>
              <a:buChar char="q"/>
            </a:pPr>
            <a:r>
              <a:rPr lang="en-GB" sz="3200" dirty="0">
                <a:solidFill>
                  <a:schemeClr val="bg1"/>
                </a:solidFill>
              </a:rPr>
              <a:t>The surrounded molecules break apart e.g. sodium chloride molecules break into sodium ions and chloride ions</a:t>
            </a:r>
          </a:p>
          <a:p>
            <a:pPr marL="285750" indent="-285750" algn="just">
              <a:buClr>
                <a:schemeClr val="bg1"/>
              </a:buClr>
              <a:buFont typeface="Wingdings" panose="05000000000000000000" pitchFamily="2" charset="2"/>
              <a:buChar char="q"/>
            </a:pPr>
            <a:r>
              <a:rPr lang="en-GB" sz="3200" dirty="0">
                <a:solidFill>
                  <a:schemeClr val="bg1"/>
                </a:solidFill>
              </a:rPr>
              <a:t>The ions surrounded by water molecules have dissolved.</a:t>
            </a:r>
          </a:p>
          <a:p>
            <a:pPr marL="285750" indent="-285750" algn="just">
              <a:buClr>
                <a:schemeClr val="bg1"/>
              </a:buClr>
              <a:buFont typeface="Wingdings" panose="05000000000000000000" pitchFamily="2" charset="2"/>
              <a:buChar char="q"/>
            </a:pPr>
            <a:r>
              <a:rPr lang="en-GB" sz="3200" dirty="0">
                <a:solidFill>
                  <a:schemeClr val="bg1"/>
                </a:solidFill>
              </a:rPr>
              <a:t>This allows chemical reactions to occur within cells as the dissolved solutes are more chemically reactive when they are free to move about.</a:t>
            </a:r>
          </a:p>
          <a:p>
            <a:pPr marL="285750" indent="-285750" algn="just">
              <a:buClr>
                <a:schemeClr val="bg1"/>
              </a:buClr>
              <a:buFont typeface="Wingdings" panose="05000000000000000000" pitchFamily="2" charset="2"/>
              <a:buChar char="q"/>
            </a:pPr>
            <a:r>
              <a:rPr lang="en-GB" sz="3200" dirty="0">
                <a:solidFill>
                  <a:schemeClr val="bg1"/>
                </a:solidFill>
              </a:rPr>
              <a:t>Metabolites can be transported efficiently in a dissolved state.</a:t>
            </a:r>
            <a:endParaRPr lang="en-MY" sz="3200" dirty="0">
              <a:solidFill>
                <a:schemeClr val="bg1"/>
              </a:solidFill>
            </a:endParaRPr>
          </a:p>
        </p:txBody>
      </p:sp>
    </p:spTree>
    <p:extLst>
      <p:ext uri="{BB962C8B-B14F-4D97-AF65-F5344CB8AC3E}">
        <p14:creationId xmlns:p14="http://schemas.microsoft.com/office/powerpoint/2010/main" val="25971776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of the different types of sugar&#10;&#10;AI-generated content may be incorrect.">
            <a:extLst>
              <a:ext uri="{FF2B5EF4-FFF2-40B4-BE49-F238E27FC236}">
                <a16:creationId xmlns:a16="http://schemas.microsoft.com/office/drawing/2014/main" id="{11AD9A98-4B51-3EF8-F1DC-FC1438BD86ED}"/>
              </a:ext>
            </a:extLst>
          </p:cNvPr>
          <p:cNvPicPr>
            <a:picLocks noChangeAspect="1"/>
          </p:cNvPicPr>
          <p:nvPr/>
        </p:nvPicPr>
        <p:blipFill>
          <a:blip r:embed="rId2"/>
          <a:srcRect r="63321" b="51437"/>
          <a:stretch>
            <a:fillRect/>
          </a:stretch>
        </p:blipFill>
        <p:spPr>
          <a:xfrm>
            <a:off x="127622" y="267389"/>
            <a:ext cx="3283195" cy="3368178"/>
          </a:xfrm>
          <a:prstGeom prst="rect">
            <a:avLst/>
          </a:prstGeom>
        </p:spPr>
      </p:pic>
      <p:sp>
        <p:nvSpPr>
          <p:cNvPr id="6" name="TextBox 5">
            <a:extLst>
              <a:ext uri="{FF2B5EF4-FFF2-40B4-BE49-F238E27FC236}">
                <a16:creationId xmlns:a16="http://schemas.microsoft.com/office/drawing/2014/main" id="{FD79BD39-804D-4C96-6CAA-88A5948148D4}"/>
              </a:ext>
            </a:extLst>
          </p:cNvPr>
          <p:cNvSpPr txBox="1"/>
          <p:nvPr/>
        </p:nvSpPr>
        <p:spPr>
          <a:xfrm>
            <a:off x="3767770" y="267389"/>
            <a:ext cx="7954412" cy="1384995"/>
          </a:xfrm>
          <a:prstGeom prst="rect">
            <a:avLst/>
          </a:prstGeom>
          <a:solidFill>
            <a:schemeClr val="tx1"/>
          </a:solidFill>
          <a:ln w="28575">
            <a:solidFill>
              <a:schemeClr val="accent6">
                <a:lumMod val="75000"/>
              </a:schemeClr>
            </a:solidFill>
          </a:ln>
        </p:spPr>
        <p:txBody>
          <a:bodyPr wrap="square" rtlCol="0">
            <a:spAutoFit/>
          </a:bodyPr>
          <a:lstStyle/>
          <a:p>
            <a:pPr marL="285750" indent="-285750" algn="just">
              <a:buClr>
                <a:schemeClr val="bg1"/>
              </a:buClr>
              <a:buFont typeface="Wingdings" panose="05000000000000000000" pitchFamily="2" charset="2"/>
              <a:buChar char="q"/>
            </a:pPr>
            <a:r>
              <a:rPr lang="en-GB" sz="2800" dirty="0">
                <a:solidFill>
                  <a:schemeClr val="bg1"/>
                </a:solidFill>
              </a:rPr>
              <a:t>Hydroxyl (OH) groups in glucose forms </a:t>
            </a:r>
            <a:r>
              <a:rPr lang="en-GB" sz="2800" b="1" i="1" dirty="0">
                <a:solidFill>
                  <a:srgbClr val="FFC000"/>
                </a:solidFill>
              </a:rPr>
              <a:t>hydrogen bonds </a:t>
            </a:r>
            <a:r>
              <a:rPr lang="en-GB" sz="2800" dirty="0">
                <a:solidFill>
                  <a:schemeClr val="bg1"/>
                </a:solidFill>
              </a:rPr>
              <a:t>with water and dissolves in water. </a:t>
            </a:r>
            <a:endParaRPr lang="en-MY" sz="2800" dirty="0">
              <a:solidFill>
                <a:schemeClr val="bg1"/>
              </a:solidFill>
            </a:endParaRPr>
          </a:p>
        </p:txBody>
      </p:sp>
      <p:grpSp>
        <p:nvGrpSpPr>
          <p:cNvPr id="19" name="Group 18">
            <a:extLst>
              <a:ext uri="{FF2B5EF4-FFF2-40B4-BE49-F238E27FC236}">
                <a16:creationId xmlns:a16="http://schemas.microsoft.com/office/drawing/2014/main" id="{16B683FA-4334-B58D-0FB4-7171A5B6E7D7}"/>
              </a:ext>
            </a:extLst>
          </p:cNvPr>
          <p:cNvGrpSpPr/>
          <p:nvPr/>
        </p:nvGrpSpPr>
        <p:grpSpPr>
          <a:xfrm>
            <a:off x="3518960" y="2089839"/>
            <a:ext cx="8545418" cy="4646975"/>
            <a:chOff x="3518960" y="2089839"/>
            <a:chExt cx="8545418" cy="4646975"/>
          </a:xfrm>
        </p:grpSpPr>
        <p:grpSp>
          <p:nvGrpSpPr>
            <p:cNvPr id="14" name="Group 13">
              <a:extLst>
                <a:ext uri="{FF2B5EF4-FFF2-40B4-BE49-F238E27FC236}">
                  <a16:creationId xmlns:a16="http://schemas.microsoft.com/office/drawing/2014/main" id="{0634C3A6-39B4-0016-4948-CD30C982E872}"/>
                </a:ext>
              </a:extLst>
            </p:cNvPr>
            <p:cNvGrpSpPr/>
            <p:nvPr/>
          </p:nvGrpSpPr>
          <p:grpSpPr>
            <a:xfrm>
              <a:off x="3518960" y="2089839"/>
              <a:ext cx="8545418" cy="4646975"/>
              <a:chOff x="3518960" y="2089839"/>
              <a:chExt cx="8545418" cy="4646975"/>
            </a:xfrm>
          </p:grpSpPr>
          <p:pic>
            <p:nvPicPr>
              <p:cNvPr id="5" name="Picture 4" descr="Showed hydrogen bonding between glucose and water molecules.">
                <a:extLst>
                  <a:ext uri="{FF2B5EF4-FFF2-40B4-BE49-F238E27FC236}">
                    <a16:creationId xmlns:a16="http://schemas.microsoft.com/office/drawing/2014/main" id="{DBCE11FC-C1C1-6692-1EAF-DD009C46E23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811" r="9035"/>
              <a:stretch>
                <a:fillRect/>
              </a:stretch>
            </p:blipFill>
            <p:spPr bwMode="auto">
              <a:xfrm>
                <a:off x="3518960" y="2089839"/>
                <a:ext cx="8545418" cy="4646975"/>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11549D9B-4DFD-A6F1-FFFC-6EEFD96C5718}"/>
                  </a:ext>
                </a:extLst>
              </p:cNvPr>
              <p:cNvCxnSpPr>
                <a:cxnSpLocks/>
              </p:cNvCxnSpPr>
              <p:nvPr/>
            </p:nvCxnSpPr>
            <p:spPr>
              <a:xfrm flipV="1">
                <a:off x="6555036" y="4693186"/>
                <a:ext cx="143219" cy="4627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3214CC7-455F-1D7B-4805-3E08A1137833}"/>
                  </a:ext>
                </a:extLst>
              </p:cNvPr>
              <p:cNvCxnSpPr>
                <a:cxnSpLocks/>
              </p:cNvCxnSpPr>
              <p:nvPr/>
            </p:nvCxnSpPr>
            <p:spPr>
              <a:xfrm flipH="1" flipV="1">
                <a:off x="7159127" y="4693186"/>
                <a:ext cx="112006" cy="4627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5" name="Picture 14" descr="Showed hydrogen bonding between glucose and water molecules.">
              <a:extLst>
                <a:ext uri="{FF2B5EF4-FFF2-40B4-BE49-F238E27FC236}">
                  <a16:creationId xmlns:a16="http://schemas.microsoft.com/office/drawing/2014/main" id="{616A0E56-CC4C-BDD1-0C2C-5E9E6FD91D9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811" t="2059" r="76196" b="70016"/>
            <a:stretch>
              <a:fillRect/>
            </a:stretch>
          </p:blipFill>
          <p:spPr bwMode="auto">
            <a:xfrm>
              <a:off x="4861182" y="2489811"/>
              <a:ext cx="1473517" cy="156439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Showed hydrogen bonding between glucose and water molecules.">
              <a:extLst>
                <a:ext uri="{FF2B5EF4-FFF2-40B4-BE49-F238E27FC236}">
                  <a16:creationId xmlns:a16="http://schemas.microsoft.com/office/drawing/2014/main" id="{E009B3FD-265A-8690-C416-31F1F8F2A51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811" t="2059" r="76196" b="70016"/>
            <a:stretch>
              <a:fillRect/>
            </a:stretch>
          </p:blipFill>
          <p:spPr bwMode="auto">
            <a:xfrm>
              <a:off x="6426725" y="5513939"/>
              <a:ext cx="271530" cy="545337"/>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Showed hydrogen bonding between glucose and water molecules.">
              <a:extLst>
                <a:ext uri="{FF2B5EF4-FFF2-40B4-BE49-F238E27FC236}">
                  <a16:creationId xmlns:a16="http://schemas.microsoft.com/office/drawing/2014/main" id="{F532183E-0988-1402-4FD6-1BC2E28A177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811" t="2059" r="76196" b="70016"/>
            <a:stretch>
              <a:fillRect/>
            </a:stretch>
          </p:blipFill>
          <p:spPr bwMode="auto">
            <a:xfrm>
              <a:off x="7732005" y="4618819"/>
              <a:ext cx="1478795" cy="1233889"/>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Showed hydrogen bonding between glucose and water molecules.">
              <a:extLst>
                <a:ext uri="{FF2B5EF4-FFF2-40B4-BE49-F238E27FC236}">
                  <a16:creationId xmlns:a16="http://schemas.microsoft.com/office/drawing/2014/main" id="{0EC1F802-6D48-7BAC-2C99-63121F49B98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811" t="2059" r="76196" b="70016"/>
            <a:stretch>
              <a:fillRect/>
            </a:stretch>
          </p:blipFill>
          <p:spPr bwMode="auto">
            <a:xfrm>
              <a:off x="8255536" y="4963096"/>
              <a:ext cx="1478795" cy="123388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5630730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B01E6-F0E4-62B9-C276-DD6972F1A036}"/>
            </a:ext>
          </a:extLst>
        </p:cNvPr>
        <p:cNvGrpSpPr/>
        <p:nvPr/>
      </p:nvGrpSpPr>
      <p:grpSpPr>
        <a:xfrm>
          <a:off x="0" y="0"/>
          <a:ext cx="0" cy="0"/>
          <a:chOff x="0" y="0"/>
          <a:chExt cx="0" cy="0"/>
        </a:xfrm>
      </p:grpSpPr>
      <p:pic>
        <p:nvPicPr>
          <p:cNvPr id="3" name="Picture 2" descr="A diagram of the different types of sugar&#10;&#10;AI-generated content may be incorrect.">
            <a:extLst>
              <a:ext uri="{FF2B5EF4-FFF2-40B4-BE49-F238E27FC236}">
                <a16:creationId xmlns:a16="http://schemas.microsoft.com/office/drawing/2014/main" id="{1BE33009-50E3-94C5-1EB5-57DB440A744D}"/>
              </a:ext>
            </a:extLst>
          </p:cNvPr>
          <p:cNvPicPr>
            <a:picLocks noChangeAspect="1"/>
          </p:cNvPicPr>
          <p:nvPr/>
        </p:nvPicPr>
        <p:blipFill>
          <a:blip r:embed="rId2"/>
          <a:srcRect l="16265" t="54189" r="6548"/>
          <a:stretch>
            <a:fillRect/>
          </a:stretch>
        </p:blipFill>
        <p:spPr>
          <a:xfrm>
            <a:off x="59581" y="2258459"/>
            <a:ext cx="6058968" cy="3061590"/>
          </a:xfrm>
          <a:prstGeom prst="rect">
            <a:avLst/>
          </a:prstGeom>
        </p:spPr>
      </p:pic>
      <p:sp>
        <p:nvSpPr>
          <p:cNvPr id="5" name="TextBox 4">
            <a:extLst>
              <a:ext uri="{FF2B5EF4-FFF2-40B4-BE49-F238E27FC236}">
                <a16:creationId xmlns:a16="http://schemas.microsoft.com/office/drawing/2014/main" id="{001B9E4D-3B71-A719-5806-7778579DEED2}"/>
              </a:ext>
            </a:extLst>
          </p:cNvPr>
          <p:cNvSpPr txBox="1"/>
          <p:nvPr/>
        </p:nvSpPr>
        <p:spPr>
          <a:xfrm>
            <a:off x="3767770" y="267389"/>
            <a:ext cx="7954412" cy="1384995"/>
          </a:xfrm>
          <a:prstGeom prst="rect">
            <a:avLst/>
          </a:prstGeom>
          <a:solidFill>
            <a:schemeClr val="tx1"/>
          </a:solidFill>
          <a:ln w="28575">
            <a:solidFill>
              <a:schemeClr val="accent6">
                <a:lumMod val="75000"/>
              </a:schemeClr>
            </a:solidFill>
          </a:ln>
        </p:spPr>
        <p:txBody>
          <a:bodyPr wrap="square" rtlCol="0">
            <a:spAutoFit/>
          </a:bodyPr>
          <a:lstStyle/>
          <a:p>
            <a:pPr marL="285750" indent="-285750" algn="just">
              <a:buClr>
                <a:schemeClr val="bg1"/>
              </a:buClr>
              <a:buFont typeface="Wingdings" panose="05000000000000000000" pitchFamily="2" charset="2"/>
              <a:buChar char="q"/>
            </a:pPr>
            <a:r>
              <a:rPr lang="en-GB" sz="2800">
                <a:solidFill>
                  <a:schemeClr val="bg1"/>
                </a:solidFill>
              </a:rPr>
              <a:t>Hydroxyl (OH) groups in sucrose forms </a:t>
            </a:r>
            <a:r>
              <a:rPr lang="en-GB" sz="2800" b="1" i="1">
                <a:solidFill>
                  <a:srgbClr val="FFC000"/>
                </a:solidFill>
              </a:rPr>
              <a:t>hydrogen bonds </a:t>
            </a:r>
            <a:r>
              <a:rPr lang="en-GB" sz="2800">
                <a:solidFill>
                  <a:schemeClr val="bg1"/>
                </a:solidFill>
              </a:rPr>
              <a:t>with water and dissolves in water. </a:t>
            </a:r>
            <a:endParaRPr lang="en-MY" sz="2800" dirty="0">
              <a:solidFill>
                <a:schemeClr val="bg1"/>
              </a:solidFill>
            </a:endParaRPr>
          </a:p>
        </p:txBody>
      </p:sp>
      <p:grpSp>
        <p:nvGrpSpPr>
          <p:cNvPr id="20" name="Group 19">
            <a:extLst>
              <a:ext uri="{FF2B5EF4-FFF2-40B4-BE49-F238E27FC236}">
                <a16:creationId xmlns:a16="http://schemas.microsoft.com/office/drawing/2014/main" id="{25117408-9ECF-10DC-8F55-A79D78B4A521}"/>
              </a:ext>
            </a:extLst>
          </p:cNvPr>
          <p:cNvGrpSpPr/>
          <p:nvPr/>
        </p:nvGrpSpPr>
        <p:grpSpPr>
          <a:xfrm>
            <a:off x="6295055" y="1652384"/>
            <a:ext cx="5250621" cy="5205616"/>
            <a:chOff x="6295055" y="1652384"/>
            <a:chExt cx="5250621" cy="5205616"/>
          </a:xfrm>
        </p:grpSpPr>
        <p:grpSp>
          <p:nvGrpSpPr>
            <p:cNvPr id="17" name="Group 16">
              <a:extLst>
                <a:ext uri="{FF2B5EF4-FFF2-40B4-BE49-F238E27FC236}">
                  <a16:creationId xmlns:a16="http://schemas.microsoft.com/office/drawing/2014/main" id="{21C63F4D-0A42-0CCA-45F7-0E0E38B29DE9}"/>
                </a:ext>
              </a:extLst>
            </p:cNvPr>
            <p:cNvGrpSpPr/>
            <p:nvPr/>
          </p:nvGrpSpPr>
          <p:grpSpPr>
            <a:xfrm>
              <a:off x="6295055" y="1652384"/>
              <a:ext cx="5250621" cy="5205616"/>
              <a:chOff x="6295055" y="1652384"/>
              <a:chExt cx="5250621" cy="5205616"/>
            </a:xfrm>
          </p:grpSpPr>
          <p:grpSp>
            <p:nvGrpSpPr>
              <p:cNvPr id="13" name="Group 12">
                <a:extLst>
                  <a:ext uri="{FF2B5EF4-FFF2-40B4-BE49-F238E27FC236}">
                    <a16:creationId xmlns:a16="http://schemas.microsoft.com/office/drawing/2014/main" id="{59D713E7-4B0A-D3B8-6674-7ED2FCCAE355}"/>
                  </a:ext>
                </a:extLst>
              </p:cNvPr>
              <p:cNvGrpSpPr/>
              <p:nvPr/>
            </p:nvGrpSpPr>
            <p:grpSpPr>
              <a:xfrm>
                <a:off x="6295055" y="1652384"/>
                <a:ext cx="5250621" cy="5205616"/>
                <a:chOff x="6295055" y="1652384"/>
                <a:chExt cx="5250621" cy="5205616"/>
              </a:xfrm>
            </p:grpSpPr>
            <p:grpSp>
              <p:nvGrpSpPr>
                <p:cNvPr id="11" name="Group 10">
                  <a:extLst>
                    <a:ext uri="{FF2B5EF4-FFF2-40B4-BE49-F238E27FC236}">
                      <a16:creationId xmlns:a16="http://schemas.microsoft.com/office/drawing/2014/main" id="{6AC4FE0A-BF66-8CB5-B78B-8A508E626293}"/>
                    </a:ext>
                  </a:extLst>
                </p:cNvPr>
                <p:cNvGrpSpPr/>
                <p:nvPr/>
              </p:nvGrpSpPr>
              <p:grpSpPr>
                <a:xfrm>
                  <a:off x="6295055" y="1652384"/>
                  <a:ext cx="5250621" cy="5205616"/>
                  <a:chOff x="6295055" y="1652384"/>
                  <a:chExt cx="5250621" cy="5205616"/>
                </a:xfrm>
              </p:grpSpPr>
              <p:pic>
                <p:nvPicPr>
                  <p:cNvPr id="6" name="Picture 2" descr="Why Are Sugary Solutions Sticky? » ScienceABC">
                    <a:extLst>
                      <a:ext uri="{FF2B5EF4-FFF2-40B4-BE49-F238E27FC236}">
                        <a16:creationId xmlns:a16="http://schemas.microsoft.com/office/drawing/2014/main" id="{C100B20B-E5C5-6A13-1905-E158D1A665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5055" y="1652384"/>
                    <a:ext cx="5250621" cy="520561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Why Are Sugary Solutions Sticky? » ScienceABC">
                    <a:extLst>
                      <a:ext uri="{FF2B5EF4-FFF2-40B4-BE49-F238E27FC236}">
                        <a16:creationId xmlns:a16="http://schemas.microsoft.com/office/drawing/2014/main" id="{4DE654BE-01C1-0205-8C49-FBA48192305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74821" b="73931"/>
                  <a:stretch>
                    <a:fillRect/>
                  </a:stretch>
                </p:blipFill>
                <p:spPr bwMode="auto">
                  <a:xfrm>
                    <a:off x="7946458" y="1897654"/>
                    <a:ext cx="1322024" cy="153134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Why Are Sugary Solutions Sticky? » ScienceABC">
                    <a:extLst>
                      <a:ext uri="{FF2B5EF4-FFF2-40B4-BE49-F238E27FC236}">
                        <a16:creationId xmlns:a16="http://schemas.microsoft.com/office/drawing/2014/main" id="{DF5B2411-E4A0-8A6A-062A-CD29B9F69F3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74821" b="73931"/>
                  <a:stretch>
                    <a:fillRect/>
                  </a:stretch>
                </p:blipFill>
                <p:spPr bwMode="auto">
                  <a:xfrm>
                    <a:off x="7946458" y="3138211"/>
                    <a:ext cx="394830" cy="457345"/>
                  </a:xfrm>
                  <a:prstGeom prst="rect">
                    <a:avLst/>
                  </a:prstGeom>
                  <a:noFill/>
                  <a:extLst>
                    <a:ext uri="{909E8E84-426E-40DD-AFC4-6F175D3DCCD1}">
                      <a14:hiddenFill xmlns:a14="http://schemas.microsoft.com/office/drawing/2010/main">
                        <a:solidFill>
                          <a:srgbClr val="FFFFFF"/>
                        </a:solidFill>
                      </a14:hiddenFill>
                    </a:ext>
                  </a:extLst>
                </p:spPr>
              </p:pic>
            </p:grpSp>
            <p:pic>
              <p:nvPicPr>
                <p:cNvPr id="7" name="Picture 2" descr="Why Are Sugary Solutions Sticky? » ScienceABC">
                  <a:extLst>
                    <a:ext uri="{FF2B5EF4-FFF2-40B4-BE49-F238E27FC236}">
                      <a16:creationId xmlns:a16="http://schemas.microsoft.com/office/drawing/2014/main" id="{207E54F7-E9D7-CBFB-BC80-C4A8597F22B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0794" t="6387" r="44027" b="64196"/>
                <a:stretch>
                  <a:fillRect/>
                </a:stretch>
              </p:blipFill>
              <p:spPr bwMode="auto">
                <a:xfrm>
                  <a:off x="7482860" y="1652384"/>
                  <a:ext cx="1322025" cy="150858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Why Are Sugary Solutions Sticky? » ScienceABC">
                  <a:extLst>
                    <a:ext uri="{FF2B5EF4-FFF2-40B4-BE49-F238E27FC236}">
                      <a16:creationId xmlns:a16="http://schemas.microsoft.com/office/drawing/2014/main" id="{163615D4-B599-7E34-A75F-E2FFBC5EC5A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74821" b="73931"/>
                <a:stretch>
                  <a:fillRect/>
                </a:stretch>
              </p:blipFill>
              <p:spPr bwMode="auto">
                <a:xfrm>
                  <a:off x="8479008" y="3015576"/>
                  <a:ext cx="394830" cy="457345"/>
                </a:xfrm>
                <a:prstGeom prst="rect">
                  <a:avLst/>
                </a:prstGeom>
                <a:noFill/>
                <a:extLst>
                  <a:ext uri="{909E8E84-426E-40DD-AFC4-6F175D3DCCD1}">
                    <a14:hiddenFill xmlns:a14="http://schemas.microsoft.com/office/drawing/2010/main">
                      <a:solidFill>
                        <a:srgbClr val="FFFFFF"/>
                      </a:solidFill>
                    </a14:hiddenFill>
                  </a:ext>
                </a:extLst>
              </p:spPr>
            </p:pic>
          </p:grpSp>
          <p:pic>
            <p:nvPicPr>
              <p:cNvPr id="15" name="Picture 2" descr="Why Are Sugary Solutions Sticky? » ScienceABC">
                <a:extLst>
                  <a:ext uri="{FF2B5EF4-FFF2-40B4-BE49-F238E27FC236}">
                    <a16:creationId xmlns:a16="http://schemas.microsoft.com/office/drawing/2014/main" id="{EE88C902-1FF3-6094-42DC-549B9240354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0794" t="6387" r="44027" b="63752"/>
              <a:stretch>
                <a:fillRect/>
              </a:stretch>
            </p:blipFill>
            <p:spPr bwMode="auto">
              <a:xfrm>
                <a:off x="9504233" y="1897654"/>
                <a:ext cx="1322024" cy="1531346"/>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Why Are Sugary Solutions Sticky? » ScienceABC">
                <a:extLst>
                  <a:ext uri="{FF2B5EF4-FFF2-40B4-BE49-F238E27FC236}">
                    <a16:creationId xmlns:a16="http://schemas.microsoft.com/office/drawing/2014/main" id="{277ECA8F-C630-D559-6F0B-6F68EBDD0A0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0794" t="25214" r="59665" b="64196"/>
              <a:stretch>
                <a:fillRect/>
              </a:stretch>
            </p:blipFill>
            <p:spPr bwMode="auto">
              <a:xfrm rot="1686475">
                <a:off x="7611979" y="5333461"/>
                <a:ext cx="415992" cy="450990"/>
              </a:xfrm>
              <a:prstGeom prst="rect">
                <a:avLst/>
              </a:prstGeom>
              <a:noFill/>
              <a:extLst>
                <a:ext uri="{909E8E84-426E-40DD-AFC4-6F175D3DCCD1}">
                  <a14:hiddenFill xmlns:a14="http://schemas.microsoft.com/office/drawing/2010/main">
                    <a:solidFill>
                      <a:srgbClr val="FFFFFF"/>
                    </a:solidFill>
                  </a14:hiddenFill>
                </a:ext>
              </a:extLst>
            </p:spPr>
          </p:pic>
        </p:grpSp>
        <p:pic>
          <p:nvPicPr>
            <p:cNvPr id="18" name="Picture 2" descr="Why Are Sugary Solutions Sticky? » ScienceABC">
              <a:extLst>
                <a:ext uri="{FF2B5EF4-FFF2-40B4-BE49-F238E27FC236}">
                  <a16:creationId xmlns:a16="http://schemas.microsoft.com/office/drawing/2014/main" id="{5F913E3A-987D-2EF2-5493-3AC03C8BBDE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74821" b="73931"/>
            <a:stretch>
              <a:fillRect/>
            </a:stretch>
          </p:blipFill>
          <p:spPr bwMode="auto">
            <a:xfrm>
              <a:off x="10526574" y="3037379"/>
              <a:ext cx="394830" cy="45734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9503668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descr="Question #f4252 + Example">
            <a:extLst>
              <a:ext uri="{FF2B5EF4-FFF2-40B4-BE49-F238E27FC236}">
                <a16:creationId xmlns:a16="http://schemas.microsoft.com/office/drawing/2014/main" id="{BAA13477-2D9A-8B18-73D7-406AC835B82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6667" b="19091"/>
          <a:stretch/>
        </p:blipFill>
        <p:spPr bwMode="auto">
          <a:xfrm>
            <a:off x="416257" y="167574"/>
            <a:ext cx="11567747" cy="4779740"/>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Chapter 5, Lesson 4: Why Does Water Dissolve Sugar?">
            <a:extLst>
              <a:ext uri="{FF2B5EF4-FFF2-40B4-BE49-F238E27FC236}">
                <a16:creationId xmlns:a16="http://schemas.microsoft.com/office/drawing/2014/main" id="{D084CF49-7B92-D9E5-4D4B-73A149844B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2526" y="4155175"/>
            <a:ext cx="2190750" cy="20955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B803E04-2F4F-0C55-F9A8-04AD391A5C5D}"/>
              </a:ext>
            </a:extLst>
          </p:cNvPr>
          <p:cNvSpPr txBox="1"/>
          <p:nvPr/>
        </p:nvSpPr>
        <p:spPr>
          <a:xfrm>
            <a:off x="688659" y="6387151"/>
            <a:ext cx="2538483" cy="369332"/>
          </a:xfrm>
          <a:prstGeom prst="rect">
            <a:avLst/>
          </a:prstGeom>
          <a:solidFill>
            <a:schemeClr val="bg1"/>
          </a:solidFill>
        </p:spPr>
        <p:txBody>
          <a:bodyPr wrap="square" rtlCol="0">
            <a:spAutoFit/>
          </a:bodyPr>
          <a:lstStyle/>
          <a:p>
            <a:r>
              <a:rPr lang="en-GB" sz="1800" b="1" dirty="0"/>
              <a:t>Polar sugar molecule </a:t>
            </a:r>
            <a:endParaRPr lang="en-MY" sz="1800" b="1" dirty="0"/>
          </a:p>
        </p:txBody>
      </p:sp>
      <p:sp>
        <p:nvSpPr>
          <p:cNvPr id="3" name="TextBox 2">
            <a:extLst>
              <a:ext uri="{FF2B5EF4-FFF2-40B4-BE49-F238E27FC236}">
                <a16:creationId xmlns:a16="http://schemas.microsoft.com/office/drawing/2014/main" id="{2F2309CE-5E5D-E99E-7D08-3A3F1EAE03B3}"/>
              </a:ext>
            </a:extLst>
          </p:cNvPr>
          <p:cNvSpPr txBox="1"/>
          <p:nvPr/>
        </p:nvSpPr>
        <p:spPr>
          <a:xfrm>
            <a:off x="3363620" y="5125267"/>
            <a:ext cx="8756862" cy="1631216"/>
          </a:xfrm>
          <a:prstGeom prst="rect">
            <a:avLst/>
          </a:prstGeom>
          <a:solidFill>
            <a:schemeClr val="bg1"/>
          </a:solidFill>
          <a:ln w="28575">
            <a:solidFill>
              <a:srgbClr val="002060"/>
            </a:solidFill>
          </a:ln>
        </p:spPr>
        <p:txBody>
          <a:bodyPr wrap="square" rtlCol="0">
            <a:spAutoFit/>
          </a:bodyPr>
          <a:lstStyle/>
          <a:p>
            <a:pPr marL="285750" indent="-285750">
              <a:buClrTx/>
              <a:buFont typeface="Wingdings" panose="05000000000000000000" pitchFamily="2" charset="2"/>
              <a:buChar char="q"/>
            </a:pPr>
            <a:r>
              <a:rPr lang="en-GB" sz="2000" dirty="0">
                <a:solidFill>
                  <a:schemeClr val="tx1"/>
                </a:solidFill>
              </a:rPr>
              <a:t>Sugars such as glucose/sucrose are larger than NaCl, hence can be surrounded by more water molecules.</a:t>
            </a:r>
          </a:p>
          <a:p>
            <a:pPr marL="285750" indent="-285750">
              <a:buClrTx/>
              <a:buFont typeface="Wingdings" panose="05000000000000000000" pitchFamily="2" charset="2"/>
              <a:buChar char="q"/>
            </a:pPr>
            <a:r>
              <a:rPr lang="en-GB" sz="2000" dirty="0">
                <a:solidFill>
                  <a:schemeClr val="tx1"/>
                </a:solidFill>
              </a:rPr>
              <a:t>Sugars have more hydroxyl groups/ polar groups, therefore they are able to form more H-bonds with </a:t>
            </a:r>
            <a:r>
              <a:rPr lang="en-GB" sz="2000">
                <a:solidFill>
                  <a:schemeClr val="tx1"/>
                </a:solidFill>
              </a:rPr>
              <a:t>water molecules.</a:t>
            </a:r>
            <a:endParaRPr lang="en-GB" sz="2000" dirty="0">
              <a:solidFill>
                <a:schemeClr val="tx1"/>
              </a:solidFill>
            </a:endParaRPr>
          </a:p>
          <a:p>
            <a:pPr marL="285750" indent="-285750">
              <a:buClrTx/>
              <a:buFont typeface="Wingdings" panose="05000000000000000000" pitchFamily="2" charset="2"/>
              <a:buChar char="q"/>
            </a:pPr>
            <a:r>
              <a:rPr lang="en-GB" sz="2000" dirty="0">
                <a:solidFill>
                  <a:schemeClr val="tx1"/>
                </a:solidFill>
              </a:rPr>
              <a:t>Therefore they are more soluble in water than ionic compounds like NaCl.</a:t>
            </a:r>
            <a:endParaRPr lang="en-MY" sz="2000" dirty="0">
              <a:solidFill>
                <a:schemeClr val="tx1"/>
              </a:solidFill>
            </a:endParaRPr>
          </a:p>
        </p:txBody>
      </p:sp>
    </p:spTree>
    <p:extLst>
      <p:ext uri="{BB962C8B-B14F-4D97-AF65-F5344CB8AC3E}">
        <p14:creationId xmlns:p14="http://schemas.microsoft.com/office/powerpoint/2010/main" val="39471163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1424745B-A159-3606-C038-87F12A6849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6788" y="205784"/>
            <a:ext cx="9480593" cy="6652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05798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45205FC-620B-FE18-48AF-7F9C185339A6}"/>
              </a:ext>
            </a:extLst>
          </p:cNvPr>
          <p:cNvSpPr/>
          <p:nvPr/>
        </p:nvSpPr>
        <p:spPr>
          <a:xfrm>
            <a:off x="838200" y="2013923"/>
            <a:ext cx="10596942" cy="4525691"/>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2800" b="0" i="0" u="none" strike="noStrike" kern="1200" cap="none" spc="0" normalizeH="0" baseline="0" noProof="0">
              <a:ln>
                <a:noFill/>
              </a:ln>
              <a:solidFill>
                <a:prstClr val="white"/>
              </a:solidFill>
              <a:effectLst/>
              <a:uLnTx/>
              <a:uFillTx/>
              <a:latin typeface="The Hand"/>
              <a:ea typeface="+mn-ea"/>
              <a:cs typeface="+mn-cs"/>
            </a:endParaRPr>
          </a:p>
        </p:txBody>
      </p:sp>
      <p:sp>
        <p:nvSpPr>
          <p:cNvPr id="2" name="Title 1">
            <a:extLst>
              <a:ext uri="{FF2B5EF4-FFF2-40B4-BE49-F238E27FC236}">
                <a16:creationId xmlns:a16="http://schemas.microsoft.com/office/drawing/2014/main" id="{8E8BB628-F6E4-BDE3-8E48-362CD5E8FAD3}"/>
              </a:ext>
            </a:extLst>
          </p:cNvPr>
          <p:cNvSpPr>
            <a:spLocks noGrp="1"/>
          </p:cNvSpPr>
          <p:nvPr>
            <p:ph type="title"/>
          </p:nvPr>
        </p:nvSpPr>
        <p:spPr>
          <a:xfrm>
            <a:off x="838200" y="365125"/>
            <a:ext cx="10809660" cy="1325563"/>
          </a:xfrm>
        </p:spPr>
        <p:txBody>
          <a:bodyPr>
            <a:normAutofit fontScale="90000"/>
          </a:bodyPr>
          <a:lstStyle/>
          <a:p>
            <a:r>
              <a:rPr lang="en-GB" dirty="0">
                <a:solidFill>
                  <a:srgbClr val="003366"/>
                </a:solidFill>
                <a:latin typeface="Amasis MT Pro Medium" panose="02040604050005020304" pitchFamily="18" charset="0"/>
              </a:rPr>
              <a:t>Properties of water: </a:t>
            </a:r>
            <a:br>
              <a:rPr lang="en-GB" dirty="0">
                <a:solidFill>
                  <a:srgbClr val="003366"/>
                </a:solidFill>
                <a:latin typeface="Amasis MT Pro Medium" panose="02040604050005020304" pitchFamily="18" charset="0"/>
              </a:rPr>
            </a:br>
            <a:r>
              <a:rPr lang="en-GB" dirty="0">
                <a:solidFill>
                  <a:srgbClr val="003366"/>
                </a:solidFill>
                <a:latin typeface="Amasis MT Pro Medium" panose="02040604050005020304" pitchFamily="18" charset="0"/>
              </a:rPr>
              <a:t>POLAR SOLVENT</a:t>
            </a:r>
          </a:p>
        </p:txBody>
      </p:sp>
      <p:pic>
        <p:nvPicPr>
          <p:cNvPr id="7170" name="Picture 2" descr="What are hydrophilic and hydrophobic molecules? - Quora">
            <a:extLst>
              <a:ext uri="{FF2B5EF4-FFF2-40B4-BE49-F238E27FC236}">
                <a16:creationId xmlns:a16="http://schemas.microsoft.com/office/drawing/2014/main" id="{2990E095-66DB-621D-5ACF-907F29F8375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9246" t="21080" r="3848" b="17094"/>
          <a:stretch/>
        </p:blipFill>
        <p:spPr bwMode="auto">
          <a:xfrm>
            <a:off x="5218611" y="2070351"/>
            <a:ext cx="6216531" cy="442252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A338551-78A0-7E25-7F2C-44594A06DDE9}"/>
              </a:ext>
            </a:extLst>
          </p:cNvPr>
          <p:cNvSpPr txBox="1"/>
          <p:nvPr/>
        </p:nvSpPr>
        <p:spPr>
          <a:xfrm>
            <a:off x="890452" y="2217339"/>
            <a:ext cx="4380411" cy="4226798"/>
          </a:xfrm>
          <a:prstGeom prst="rect">
            <a:avLst/>
          </a:prstGeom>
          <a:noFill/>
        </p:spPr>
        <p:txBody>
          <a:bodyPr wrap="square">
            <a:spAutoFit/>
          </a:bodyPr>
          <a:lstStyle/>
          <a:p>
            <a:pPr marL="228600" marR="0" lvl="0" indent="-228600" algn="just" defTabSz="914400" rtl="0" eaLnBrk="1" fontAlgn="auto" latinLnBrk="0" hangingPunct="1">
              <a:lnSpc>
                <a:spcPct val="90000"/>
              </a:lnSpc>
              <a:spcBef>
                <a:spcPts val="1000"/>
              </a:spcBef>
              <a:spcAft>
                <a:spcPts val="0"/>
              </a:spcAft>
              <a:buClr>
                <a:prstClr val="white"/>
              </a:buClr>
              <a:buSzPts val="3200"/>
              <a:buFont typeface="Arial"/>
              <a:buChar char="•"/>
              <a:tabLst/>
              <a:defRPr/>
            </a:pPr>
            <a:r>
              <a:rPr kumimoji="0" lang="en-GB" sz="2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Non-polar, </a:t>
            </a:r>
            <a:r>
              <a:rPr kumimoji="0" lang="en-GB" sz="2800" b="0" i="0" u="sng" strike="noStrike" kern="1200" cap="none" spc="0" normalizeH="0" baseline="0" noProof="0" dirty="0">
                <a:ln>
                  <a:noFill/>
                </a:ln>
                <a:solidFill>
                  <a:srgbClr val="E4650E">
                    <a:lumMod val="60000"/>
                    <a:lumOff val="40000"/>
                  </a:srgbClr>
                </a:solidFill>
                <a:effectLst/>
                <a:uLnTx/>
                <a:uFillTx/>
                <a:latin typeface="Calibri" panose="020F0502020204030204" pitchFamily="34" charset="0"/>
                <a:ea typeface="+mn-ea"/>
                <a:cs typeface="Calibri" panose="020F0502020204030204" pitchFamily="34" charset="0"/>
              </a:rPr>
              <a:t>hydrophobic</a:t>
            </a:r>
            <a:r>
              <a:rPr kumimoji="0" lang="en-GB" sz="2800" b="0" i="0" strike="noStrike" kern="1200" cap="none" spc="0" normalizeH="0" baseline="0" noProof="0" dirty="0">
                <a:ln>
                  <a:noFill/>
                </a:ln>
                <a:solidFill>
                  <a:srgbClr val="E4650E">
                    <a:lumMod val="60000"/>
                    <a:lumOff val="40000"/>
                  </a:srgbClr>
                </a:solidFill>
                <a:effectLst/>
                <a:uLnTx/>
                <a:uFillTx/>
                <a:latin typeface="Calibri" panose="020F0502020204030204" pitchFamily="34" charset="0"/>
                <a:ea typeface="+mn-ea"/>
                <a:cs typeface="Calibri" panose="020F0502020204030204" pitchFamily="34" charset="0"/>
              </a:rPr>
              <a:t> </a:t>
            </a:r>
            <a:r>
              <a:rPr kumimoji="0" lang="en-GB" sz="2800" b="0" i="0" strike="noStrike" kern="1200" cap="none" spc="0" normalizeH="0" baseline="0" noProof="0" dirty="0">
                <a:ln>
                  <a:noFill/>
                </a:ln>
                <a:solidFill>
                  <a:schemeClr val="bg1"/>
                </a:solidFill>
                <a:effectLst/>
                <a:uLnTx/>
                <a:uFillTx/>
                <a:latin typeface="Calibri" panose="020F0502020204030204" pitchFamily="34" charset="0"/>
                <a:ea typeface="+mn-ea"/>
                <a:cs typeface="Calibri" panose="020F0502020204030204" pitchFamily="34" charset="0"/>
              </a:rPr>
              <a:t>-”water hating” </a:t>
            </a:r>
            <a:r>
              <a:rPr kumimoji="0" lang="en-GB" sz="2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substances, such as lipids, do not dissolve in water. </a:t>
            </a:r>
          </a:p>
          <a:p>
            <a:pPr marL="228600" marR="0" lvl="0" indent="-228600" algn="just" defTabSz="914400" rtl="0" eaLnBrk="1" fontAlgn="auto" latinLnBrk="0" hangingPunct="1">
              <a:lnSpc>
                <a:spcPct val="90000"/>
              </a:lnSpc>
              <a:spcBef>
                <a:spcPts val="1000"/>
              </a:spcBef>
              <a:spcAft>
                <a:spcPts val="0"/>
              </a:spcAft>
              <a:buClr>
                <a:prstClr val="white"/>
              </a:buClr>
              <a:buSzPts val="3200"/>
              <a:buFont typeface="Arial"/>
              <a:buChar char="•"/>
              <a:tabLst/>
              <a:defRPr/>
            </a:pPr>
            <a:r>
              <a:rPr lang="en-GB" sz="2800" kern="1200" dirty="0">
                <a:solidFill>
                  <a:prstClr val="white"/>
                </a:solidFill>
                <a:latin typeface="Calibri" panose="020F0502020204030204" pitchFamily="34" charset="0"/>
                <a:ea typeface="+mn-ea"/>
                <a:cs typeface="Calibri" panose="020F0502020204030204" pitchFamily="34" charset="0"/>
              </a:rPr>
              <a:t>Fatty acids have hydrophobic tails, they do not form H-bonds with water.</a:t>
            </a:r>
            <a:endParaRPr kumimoji="0" lang="en-GB" sz="2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a:p>
            <a:pPr marL="228600" marR="0" lvl="0" indent="-228600" algn="just" defTabSz="914400" rtl="0" eaLnBrk="1" fontAlgn="auto" latinLnBrk="0" hangingPunct="1">
              <a:lnSpc>
                <a:spcPct val="90000"/>
              </a:lnSpc>
              <a:spcBef>
                <a:spcPts val="1000"/>
              </a:spcBef>
              <a:spcAft>
                <a:spcPts val="0"/>
              </a:spcAft>
              <a:buClr>
                <a:prstClr val="white"/>
              </a:buClr>
              <a:buSzPts val="3200"/>
              <a:buFont typeface="Arial"/>
              <a:buChar char="•"/>
              <a:tabLst/>
              <a:defRPr/>
            </a:pPr>
            <a:r>
              <a:rPr kumimoji="0" lang="en-GB" sz="2800" b="0" i="0" u="none" strike="noStrike" kern="1200" cap="none" spc="0" normalizeH="0" baseline="0" noProof="0" dirty="0">
                <a:ln>
                  <a:noFill/>
                </a:ln>
                <a:solidFill>
                  <a:prstClr val="white"/>
                </a:solidFill>
                <a:effectLst/>
                <a:uLnTx/>
                <a:uFillTx/>
                <a:latin typeface="Calibri"/>
                <a:ea typeface="Calibri"/>
                <a:cs typeface="Calibri"/>
                <a:sym typeface="Calibri"/>
              </a:rPr>
              <a:t>Water also carries substances such as starch. </a:t>
            </a:r>
          </a:p>
        </p:txBody>
      </p:sp>
    </p:spTree>
    <p:extLst>
      <p:ext uri="{BB962C8B-B14F-4D97-AF65-F5344CB8AC3E}">
        <p14:creationId xmlns:p14="http://schemas.microsoft.com/office/powerpoint/2010/main" val="3020744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45205FC-620B-FE18-48AF-7F9C185339A6}"/>
              </a:ext>
            </a:extLst>
          </p:cNvPr>
          <p:cNvSpPr/>
          <p:nvPr/>
        </p:nvSpPr>
        <p:spPr>
          <a:xfrm>
            <a:off x="838200" y="2013923"/>
            <a:ext cx="10596942" cy="479182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white"/>
              </a:solidFill>
              <a:effectLst/>
              <a:uLnTx/>
              <a:uFillTx/>
              <a:latin typeface="The Hand"/>
              <a:ea typeface="+mn-ea"/>
              <a:cs typeface="+mn-cs"/>
            </a:endParaRPr>
          </a:p>
        </p:txBody>
      </p:sp>
      <p:sp>
        <p:nvSpPr>
          <p:cNvPr id="2" name="Title 1">
            <a:extLst>
              <a:ext uri="{FF2B5EF4-FFF2-40B4-BE49-F238E27FC236}">
                <a16:creationId xmlns:a16="http://schemas.microsoft.com/office/drawing/2014/main" id="{8E8BB628-F6E4-BDE3-8E48-362CD5E8FAD3}"/>
              </a:ext>
            </a:extLst>
          </p:cNvPr>
          <p:cNvSpPr>
            <a:spLocks noGrp="1"/>
          </p:cNvSpPr>
          <p:nvPr>
            <p:ph type="title"/>
          </p:nvPr>
        </p:nvSpPr>
        <p:spPr/>
        <p:txBody>
          <a:bodyPr>
            <a:normAutofit fontScale="90000"/>
          </a:bodyPr>
          <a:lstStyle/>
          <a:p>
            <a:r>
              <a:rPr lang="en-GB" dirty="0">
                <a:solidFill>
                  <a:srgbClr val="003366"/>
                </a:solidFill>
                <a:latin typeface="Amasis MT Pro Medium" panose="02040604050005020304" pitchFamily="18" charset="0"/>
              </a:rPr>
              <a:t>Properties of water: </a:t>
            </a:r>
            <a:br>
              <a:rPr lang="en-GB" dirty="0">
                <a:solidFill>
                  <a:srgbClr val="003366"/>
                </a:solidFill>
                <a:latin typeface="Amasis MT Pro Medium" panose="02040604050005020304" pitchFamily="18" charset="0"/>
              </a:rPr>
            </a:br>
            <a:r>
              <a:rPr lang="en-GB" dirty="0">
                <a:solidFill>
                  <a:srgbClr val="003366"/>
                </a:solidFill>
                <a:latin typeface="Amasis MT Pro Medium" panose="02040604050005020304" pitchFamily="18" charset="0"/>
              </a:rPr>
              <a:t>HIGH SPECIFIC HEAT CAPACITY</a:t>
            </a:r>
          </a:p>
        </p:txBody>
      </p:sp>
      <p:sp>
        <p:nvSpPr>
          <p:cNvPr id="6" name="TextBox 5">
            <a:extLst>
              <a:ext uri="{FF2B5EF4-FFF2-40B4-BE49-F238E27FC236}">
                <a16:creationId xmlns:a16="http://schemas.microsoft.com/office/drawing/2014/main" id="{5B2A3E63-DA6F-1D2A-F7B7-B6BCA0C8F28A}"/>
              </a:ext>
            </a:extLst>
          </p:cNvPr>
          <p:cNvSpPr txBox="1"/>
          <p:nvPr/>
        </p:nvSpPr>
        <p:spPr>
          <a:xfrm>
            <a:off x="967846" y="2124957"/>
            <a:ext cx="4803476" cy="3710759"/>
          </a:xfrm>
          <a:prstGeom prst="rect">
            <a:avLst/>
          </a:prstGeom>
          <a:noFill/>
        </p:spPr>
        <p:txBody>
          <a:bodyPr wrap="square">
            <a:spAutoFit/>
          </a:bodyPr>
          <a:lstStyle/>
          <a:p>
            <a:pPr marL="228600" marR="0" lvl="0" indent="-228600" algn="just" defTabSz="914400" rtl="0" eaLnBrk="1" fontAlgn="auto" latinLnBrk="0" hangingPunct="1">
              <a:lnSpc>
                <a:spcPct val="90000"/>
              </a:lnSpc>
              <a:spcBef>
                <a:spcPts val="1000"/>
              </a:spcBef>
              <a:spcAft>
                <a:spcPts val="0"/>
              </a:spcAft>
              <a:buClr>
                <a:prstClr val="white"/>
              </a:buClr>
              <a:buSzPts val="3200"/>
              <a:buFont typeface="Arial"/>
              <a:buChar char="•"/>
              <a:tabLst/>
              <a:defRPr/>
            </a:pPr>
            <a:r>
              <a:rPr kumimoji="0" lang="en-GB" sz="2800" b="0" i="0" u="none" strike="noStrike" kern="1200" cap="none" spc="0" normalizeH="0" baseline="0" noProof="0" dirty="0">
                <a:ln>
                  <a:noFill/>
                </a:ln>
                <a:solidFill>
                  <a:prstClr val="white"/>
                </a:solidFill>
                <a:effectLst/>
                <a:uLnTx/>
                <a:uFillTx/>
                <a:latin typeface="Calibri"/>
                <a:ea typeface="Calibri"/>
                <a:cs typeface="Calibri"/>
                <a:sym typeface="Calibri"/>
              </a:rPr>
              <a:t>Water is slow to absorb and release heat, hence it has a high specific heat capacity.</a:t>
            </a:r>
          </a:p>
          <a:p>
            <a:pPr marL="228600" marR="0" lvl="0" indent="-228600" algn="just" defTabSz="914400" rtl="0" eaLnBrk="1" fontAlgn="auto" latinLnBrk="0" hangingPunct="1">
              <a:lnSpc>
                <a:spcPct val="90000"/>
              </a:lnSpc>
              <a:spcBef>
                <a:spcPts val="1000"/>
              </a:spcBef>
              <a:spcAft>
                <a:spcPts val="0"/>
              </a:spcAft>
              <a:buClr>
                <a:prstClr val="white"/>
              </a:buClr>
              <a:buSzPts val="3200"/>
              <a:buFont typeface="Arial"/>
              <a:buChar char="•"/>
              <a:tabLst/>
              <a:defRPr/>
            </a:pPr>
            <a:r>
              <a:rPr kumimoji="0" lang="en-GB" sz="2800" b="0" i="0" u="none" strike="noStrike" kern="1200" cap="none" spc="0" normalizeH="0" baseline="0" noProof="0" dirty="0">
                <a:ln>
                  <a:noFill/>
                </a:ln>
                <a:solidFill>
                  <a:prstClr val="white"/>
                </a:solidFill>
                <a:effectLst/>
                <a:uLnTx/>
                <a:uFillTx/>
                <a:latin typeface="Calibri"/>
                <a:ea typeface="Calibri"/>
                <a:cs typeface="Calibri"/>
                <a:sym typeface="Calibri"/>
              </a:rPr>
              <a:t>The presence of many hydrogen bonds between the water molecules means that a lot of heat energy is needed to separate the water molecules from each other. </a:t>
            </a:r>
          </a:p>
        </p:txBody>
      </p:sp>
      <p:pic>
        <p:nvPicPr>
          <p:cNvPr id="3074" name="Picture 2" descr="ADLC - Elementary Science: Heat Capacity - YouTube">
            <a:extLst>
              <a:ext uri="{FF2B5EF4-FFF2-40B4-BE49-F238E27FC236}">
                <a16:creationId xmlns:a16="http://schemas.microsoft.com/office/drawing/2014/main" id="{FD069CB2-C223-452B-EBC6-6E922A6DAE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78753" y="2383416"/>
            <a:ext cx="5786035" cy="325464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7572D34-F029-FB09-B4FB-56353B026930}"/>
              </a:ext>
            </a:extLst>
          </p:cNvPr>
          <p:cNvSpPr txBox="1"/>
          <p:nvPr/>
        </p:nvSpPr>
        <p:spPr>
          <a:xfrm>
            <a:off x="967846" y="5799677"/>
            <a:ext cx="10256308" cy="954107"/>
          </a:xfrm>
          <a:prstGeom prst="rect">
            <a:avLst/>
          </a:prstGeom>
          <a:noFill/>
        </p:spPr>
        <p:txBody>
          <a:bodyPr wrap="square">
            <a:spAutoFit/>
          </a:bodyPr>
          <a:lstStyle/>
          <a:p>
            <a:pPr marL="285750" indent="-285750" algn="l">
              <a:buClr>
                <a:schemeClr val="bg1"/>
              </a:buClr>
              <a:buFont typeface="Arial" panose="020B0604020202020204" pitchFamily="34" charset="0"/>
              <a:buChar char="•"/>
            </a:pPr>
            <a:r>
              <a:rPr lang="en-GB" sz="2800" b="0" i="0" u="none" strike="noStrike" baseline="0" dirty="0">
                <a:solidFill>
                  <a:schemeClr val="bg1"/>
                </a:solidFill>
                <a:latin typeface="Calibri" panose="020F0502020204030204" pitchFamily="34" charset="0"/>
                <a:ea typeface="Calibri" panose="020F0502020204030204" pitchFamily="34" charset="0"/>
                <a:cs typeface="Calibri" panose="020F0502020204030204" pitchFamily="34" charset="0"/>
              </a:rPr>
              <a:t>So, the temperature of large bodies of water/ lakes/ rivers/ oceans remains fairly stable. This makes them good habitats for organisms.</a:t>
            </a:r>
            <a:endParaRPr lang="en-MY"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708732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45205FC-620B-FE18-48AF-7F9C185339A6}"/>
              </a:ext>
            </a:extLst>
          </p:cNvPr>
          <p:cNvSpPr/>
          <p:nvPr/>
        </p:nvSpPr>
        <p:spPr>
          <a:xfrm>
            <a:off x="838200" y="2013924"/>
            <a:ext cx="10596942" cy="421297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MY" sz="1200"/>
          </a:p>
        </p:txBody>
      </p:sp>
      <p:sp>
        <p:nvSpPr>
          <p:cNvPr id="2" name="Title 1">
            <a:extLst>
              <a:ext uri="{FF2B5EF4-FFF2-40B4-BE49-F238E27FC236}">
                <a16:creationId xmlns:a16="http://schemas.microsoft.com/office/drawing/2014/main" id="{8E8BB628-F6E4-BDE3-8E48-362CD5E8FAD3}"/>
              </a:ext>
            </a:extLst>
          </p:cNvPr>
          <p:cNvSpPr>
            <a:spLocks noGrp="1"/>
          </p:cNvSpPr>
          <p:nvPr>
            <p:ph type="title"/>
          </p:nvPr>
        </p:nvSpPr>
        <p:spPr/>
        <p:txBody>
          <a:bodyPr>
            <a:normAutofit fontScale="90000"/>
          </a:bodyPr>
          <a:lstStyle/>
          <a:p>
            <a:r>
              <a:rPr lang="en-GB" dirty="0">
                <a:solidFill>
                  <a:srgbClr val="003366"/>
                </a:solidFill>
                <a:latin typeface="Amasis MT Pro Medium" panose="02040604050005020304" pitchFamily="18" charset="0"/>
              </a:rPr>
              <a:t>Properties of water: </a:t>
            </a:r>
            <a:br>
              <a:rPr lang="en-GB" dirty="0">
                <a:solidFill>
                  <a:srgbClr val="003366"/>
                </a:solidFill>
                <a:latin typeface="Amasis MT Pro Medium" panose="02040604050005020304" pitchFamily="18" charset="0"/>
              </a:rPr>
            </a:br>
            <a:r>
              <a:rPr lang="en-GB" dirty="0">
                <a:solidFill>
                  <a:srgbClr val="003366"/>
                </a:solidFill>
                <a:latin typeface="Amasis MT Pro Medium" panose="02040604050005020304" pitchFamily="18" charset="0"/>
              </a:rPr>
              <a:t>DENSITY DECREASES UNDER 4ºC</a:t>
            </a:r>
          </a:p>
        </p:txBody>
      </p:sp>
      <p:sp>
        <p:nvSpPr>
          <p:cNvPr id="6" name="TextBox 5">
            <a:extLst>
              <a:ext uri="{FF2B5EF4-FFF2-40B4-BE49-F238E27FC236}">
                <a16:creationId xmlns:a16="http://schemas.microsoft.com/office/drawing/2014/main" id="{5B2A3E63-DA6F-1D2A-F7B7-B6BCA0C8F28A}"/>
              </a:ext>
            </a:extLst>
          </p:cNvPr>
          <p:cNvSpPr txBox="1"/>
          <p:nvPr/>
        </p:nvSpPr>
        <p:spPr>
          <a:xfrm>
            <a:off x="986503" y="2076260"/>
            <a:ext cx="5915551" cy="4088299"/>
          </a:xfrm>
          <a:prstGeom prst="rect">
            <a:avLst/>
          </a:prstGeom>
          <a:noFill/>
        </p:spPr>
        <p:txBody>
          <a:bodyPr wrap="square">
            <a:spAutoFit/>
          </a:bodyPr>
          <a:lstStyle/>
          <a:p>
            <a:pPr marL="228600" marR="0" lvl="0" indent="-228600" algn="just" defTabSz="914400" rtl="0" eaLnBrk="1" fontAlgn="auto" latinLnBrk="0" hangingPunct="1">
              <a:lnSpc>
                <a:spcPct val="90000"/>
              </a:lnSpc>
              <a:spcBef>
                <a:spcPts val="1000"/>
              </a:spcBef>
              <a:spcAft>
                <a:spcPts val="0"/>
              </a:spcAft>
              <a:buClr>
                <a:prstClr val="white"/>
              </a:buClr>
              <a:buSzPts val="3200"/>
              <a:buFont typeface="Arial"/>
              <a:buChar char="•"/>
              <a:tabLst/>
              <a:defRPr/>
            </a:pPr>
            <a:r>
              <a:rPr kumimoji="0" lang="en-GB" sz="3000" b="0" i="0" u="none" strike="noStrike" kern="1200" cap="none" spc="0" normalizeH="0" baseline="0" noProof="0" dirty="0">
                <a:ln>
                  <a:noFill/>
                </a:ln>
                <a:solidFill>
                  <a:prstClr val="white"/>
                </a:solidFill>
                <a:effectLst/>
                <a:uLnTx/>
                <a:uFillTx/>
                <a:latin typeface="Calibri"/>
                <a:ea typeface="Calibri"/>
                <a:cs typeface="Calibri"/>
                <a:sym typeface="Calibri"/>
              </a:rPr>
              <a:t>As water cools to 4°C, it reaches its maximum density.</a:t>
            </a:r>
          </a:p>
          <a:p>
            <a:pPr marL="228600" marR="0" lvl="0" indent="-228600" algn="just" defTabSz="914400" rtl="0" eaLnBrk="1" fontAlgn="auto" latinLnBrk="0" hangingPunct="1">
              <a:lnSpc>
                <a:spcPct val="90000"/>
              </a:lnSpc>
              <a:spcBef>
                <a:spcPts val="1000"/>
              </a:spcBef>
              <a:spcAft>
                <a:spcPts val="0"/>
              </a:spcAft>
              <a:buClr>
                <a:prstClr val="white"/>
              </a:buClr>
              <a:buSzPts val="3200"/>
              <a:buFont typeface="Arial"/>
              <a:buChar char="•"/>
              <a:tabLst/>
              <a:defRPr/>
            </a:pPr>
            <a:r>
              <a:rPr kumimoji="0" lang="en-GB" sz="3000" b="0" i="0" u="none" strike="noStrike" kern="1200" cap="none" spc="0" normalizeH="0" baseline="0" noProof="0" dirty="0">
                <a:ln>
                  <a:noFill/>
                </a:ln>
                <a:solidFill>
                  <a:prstClr val="white"/>
                </a:solidFill>
                <a:effectLst/>
                <a:uLnTx/>
                <a:uFillTx/>
                <a:latin typeface="Calibri"/>
                <a:ea typeface="Calibri"/>
                <a:cs typeface="Calibri"/>
                <a:sym typeface="Calibri"/>
              </a:rPr>
              <a:t>Ice is less dense than water and floats, forming an insulating layer.</a:t>
            </a:r>
          </a:p>
          <a:p>
            <a:pPr marL="228600" marR="0" lvl="0" indent="-228600" algn="just" defTabSz="914400" rtl="0" eaLnBrk="1" fontAlgn="auto" latinLnBrk="0" hangingPunct="1">
              <a:lnSpc>
                <a:spcPct val="90000"/>
              </a:lnSpc>
              <a:spcBef>
                <a:spcPts val="1000"/>
              </a:spcBef>
              <a:spcAft>
                <a:spcPts val="0"/>
              </a:spcAft>
              <a:buClr>
                <a:prstClr val="white"/>
              </a:buClr>
              <a:buSzPts val="3200"/>
              <a:buFont typeface="Arial"/>
              <a:buChar char="•"/>
              <a:tabLst/>
              <a:defRPr/>
            </a:pPr>
            <a:r>
              <a:rPr kumimoji="0" lang="en-GB" sz="3000" b="0" i="0" u="none" strike="noStrike" kern="1200" cap="none" spc="0" normalizeH="0" baseline="0" noProof="0" dirty="0">
                <a:ln>
                  <a:noFill/>
                </a:ln>
                <a:solidFill>
                  <a:prstClr val="white"/>
                </a:solidFill>
                <a:effectLst/>
                <a:uLnTx/>
                <a:uFillTx/>
                <a:latin typeface="Calibri"/>
                <a:ea typeface="Calibri"/>
                <a:cs typeface="Calibri"/>
                <a:sym typeface="Calibri"/>
              </a:rPr>
              <a:t>This property enables organisms to live in water even in very cold winters which can otherwise result in freezing of water bodies/habitats.</a:t>
            </a:r>
            <a:endParaRPr kumimoji="0" lang="en-GB" sz="3000" b="0" i="0" u="none" strike="noStrike" kern="1200" cap="none" spc="0" normalizeH="0" baseline="0" noProof="0" dirty="0">
              <a:ln>
                <a:noFill/>
              </a:ln>
              <a:solidFill>
                <a:prstClr val="black"/>
              </a:solidFill>
              <a:effectLst/>
              <a:uLnTx/>
              <a:uFillTx/>
              <a:latin typeface="The Hand"/>
              <a:ea typeface="+mn-ea"/>
              <a:cs typeface="+mn-cs"/>
            </a:endParaRPr>
          </a:p>
        </p:txBody>
      </p:sp>
      <p:pic>
        <p:nvPicPr>
          <p:cNvPr id="4098" name="Picture 2" descr="Volume and Density | Introduction to Chemistry | | Course Hero">
            <a:extLst>
              <a:ext uri="{FF2B5EF4-FFF2-40B4-BE49-F238E27FC236}">
                <a16:creationId xmlns:a16="http://schemas.microsoft.com/office/drawing/2014/main" id="{B349BF65-5840-C3BC-2663-C4696381912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1641" t="-1" b="-1338"/>
          <a:stretch/>
        </p:blipFill>
        <p:spPr bwMode="auto">
          <a:xfrm>
            <a:off x="7229265" y="2155854"/>
            <a:ext cx="4066312" cy="37410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22974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45205FC-620B-FE18-48AF-7F9C185339A6}"/>
              </a:ext>
            </a:extLst>
          </p:cNvPr>
          <p:cNvSpPr/>
          <p:nvPr/>
        </p:nvSpPr>
        <p:spPr>
          <a:xfrm>
            <a:off x="838200" y="2013924"/>
            <a:ext cx="10596942" cy="421297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200" b="0" i="0" u="none" strike="noStrike" kern="0" cap="none" spc="0" normalizeH="0" baseline="0" noProof="0">
              <a:ln>
                <a:noFill/>
              </a:ln>
              <a:solidFill>
                <a:prstClr val="white"/>
              </a:solidFill>
              <a:effectLst/>
              <a:uLnTx/>
              <a:uFillTx/>
              <a:latin typeface="The Hand"/>
              <a:ea typeface="+mn-ea"/>
              <a:cs typeface="+mn-cs"/>
              <a:sym typeface="Arial"/>
            </a:endParaRPr>
          </a:p>
        </p:txBody>
      </p:sp>
      <p:sp>
        <p:nvSpPr>
          <p:cNvPr id="2" name="Title 1">
            <a:extLst>
              <a:ext uri="{FF2B5EF4-FFF2-40B4-BE49-F238E27FC236}">
                <a16:creationId xmlns:a16="http://schemas.microsoft.com/office/drawing/2014/main" id="{8E8BB628-F6E4-BDE3-8E48-362CD5E8FAD3}"/>
              </a:ext>
            </a:extLst>
          </p:cNvPr>
          <p:cNvSpPr>
            <a:spLocks noGrp="1"/>
          </p:cNvSpPr>
          <p:nvPr>
            <p:ph type="title"/>
          </p:nvPr>
        </p:nvSpPr>
        <p:spPr/>
        <p:txBody>
          <a:bodyPr>
            <a:normAutofit fontScale="90000"/>
          </a:bodyPr>
          <a:lstStyle/>
          <a:p>
            <a:r>
              <a:rPr lang="en-GB" dirty="0">
                <a:solidFill>
                  <a:srgbClr val="003366"/>
                </a:solidFill>
                <a:latin typeface="Amasis MT Pro Medium" panose="02040604050005020304" pitchFamily="18" charset="0"/>
              </a:rPr>
              <a:t>Properties of water: </a:t>
            </a:r>
            <a:br>
              <a:rPr lang="en-GB" dirty="0">
                <a:solidFill>
                  <a:srgbClr val="003366"/>
                </a:solidFill>
                <a:latin typeface="Amasis MT Pro Medium" panose="02040604050005020304" pitchFamily="18" charset="0"/>
              </a:rPr>
            </a:br>
            <a:r>
              <a:rPr lang="en-GB" dirty="0">
                <a:solidFill>
                  <a:srgbClr val="003366"/>
                </a:solidFill>
                <a:latin typeface="Amasis MT Pro Medium" panose="02040604050005020304" pitchFamily="18" charset="0"/>
              </a:rPr>
              <a:t>DENSITY DECREASES UNDER 4ºC</a:t>
            </a:r>
          </a:p>
        </p:txBody>
      </p:sp>
      <p:pic>
        <p:nvPicPr>
          <p:cNvPr id="4" name="Picture 3">
            <a:extLst>
              <a:ext uri="{FF2B5EF4-FFF2-40B4-BE49-F238E27FC236}">
                <a16:creationId xmlns:a16="http://schemas.microsoft.com/office/drawing/2014/main" id="{5346F0A7-2FF7-3830-F2AC-CF016835FB01}"/>
              </a:ext>
            </a:extLst>
          </p:cNvPr>
          <p:cNvPicPr>
            <a:picLocks noChangeAspect="1"/>
          </p:cNvPicPr>
          <p:nvPr/>
        </p:nvPicPr>
        <p:blipFill>
          <a:blip r:embed="rId4"/>
          <a:stretch>
            <a:fillRect/>
          </a:stretch>
        </p:blipFill>
        <p:spPr>
          <a:xfrm>
            <a:off x="329021" y="1791788"/>
            <a:ext cx="6404882" cy="4887418"/>
          </a:xfrm>
          <a:prstGeom prst="rect">
            <a:avLst/>
          </a:prstGeom>
        </p:spPr>
      </p:pic>
      <p:pic>
        <p:nvPicPr>
          <p:cNvPr id="3" name="Picture 2" descr="Changing Life: Sea Ice - Antarctic and Southern Ocean Coalition">
            <a:extLst>
              <a:ext uri="{FF2B5EF4-FFF2-40B4-BE49-F238E27FC236}">
                <a16:creationId xmlns:a16="http://schemas.microsoft.com/office/drawing/2014/main" id="{3E980252-5C8D-1294-2C69-BA10F2CEED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57253" y="1690688"/>
            <a:ext cx="5129076" cy="322245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55A4CBD-48C5-D723-2DF9-F6920D8D3B4B}"/>
              </a:ext>
            </a:extLst>
          </p:cNvPr>
          <p:cNvSpPr txBox="1"/>
          <p:nvPr/>
        </p:nvSpPr>
        <p:spPr>
          <a:xfrm>
            <a:off x="6792439" y="4722223"/>
            <a:ext cx="4858705" cy="1631216"/>
          </a:xfrm>
          <a:prstGeom prst="rect">
            <a:avLst/>
          </a:prstGeom>
          <a:solidFill>
            <a:schemeClr val="bg1"/>
          </a:solidFill>
        </p:spPr>
        <p:txBody>
          <a:bodyPr wrap="square" rtlCol="0">
            <a:spAutoFit/>
          </a:bodyPr>
          <a:lstStyle/>
          <a:p>
            <a:pPr marL="285750" indent="-285750" algn="just">
              <a:buFont typeface="Arial" panose="020B0604020202020204" pitchFamily="34" charset="0"/>
              <a:buChar char="•"/>
            </a:pPr>
            <a:r>
              <a:rPr lang="en-GB" sz="2000" b="1" dirty="0"/>
              <a:t>Ice provides habitat for organisms such as penguins in Antarctica.</a:t>
            </a:r>
          </a:p>
          <a:p>
            <a:pPr marL="285750" indent="-285750" algn="just">
              <a:buFont typeface="Arial" panose="020B0604020202020204" pitchFamily="34" charset="0"/>
              <a:buChar char="•"/>
            </a:pPr>
            <a:r>
              <a:rPr lang="en-GB" sz="2000" b="1" dirty="0"/>
              <a:t>And water underneath is insulated by the ice protecting and providing a habitat for aquatic organisms.</a:t>
            </a:r>
            <a:endParaRPr lang="en-MY" sz="2000" b="1" dirty="0"/>
          </a:p>
        </p:txBody>
      </p:sp>
    </p:spTree>
    <p:extLst>
      <p:ext uri="{BB962C8B-B14F-4D97-AF65-F5344CB8AC3E}">
        <p14:creationId xmlns:p14="http://schemas.microsoft.com/office/powerpoint/2010/main" val="9565840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45205FC-620B-FE18-48AF-7F9C185339A6}"/>
              </a:ext>
            </a:extLst>
          </p:cNvPr>
          <p:cNvSpPr/>
          <p:nvPr/>
        </p:nvSpPr>
        <p:spPr>
          <a:xfrm>
            <a:off x="838200" y="2013924"/>
            <a:ext cx="10596942" cy="421297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white"/>
              </a:solidFill>
              <a:effectLst/>
              <a:uLnTx/>
              <a:uFillTx/>
              <a:latin typeface="The Hand"/>
              <a:ea typeface="+mn-ea"/>
              <a:cs typeface="+mn-cs"/>
            </a:endParaRPr>
          </a:p>
        </p:txBody>
      </p:sp>
      <p:sp>
        <p:nvSpPr>
          <p:cNvPr id="2" name="Title 1">
            <a:extLst>
              <a:ext uri="{FF2B5EF4-FFF2-40B4-BE49-F238E27FC236}">
                <a16:creationId xmlns:a16="http://schemas.microsoft.com/office/drawing/2014/main" id="{8E8BB628-F6E4-BDE3-8E48-362CD5E8FAD3}"/>
              </a:ext>
            </a:extLst>
          </p:cNvPr>
          <p:cNvSpPr>
            <a:spLocks noGrp="1"/>
          </p:cNvSpPr>
          <p:nvPr>
            <p:ph type="title"/>
          </p:nvPr>
        </p:nvSpPr>
        <p:spPr/>
        <p:txBody>
          <a:bodyPr>
            <a:normAutofit fontScale="90000"/>
          </a:bodyPr>
          <a:lstStyle/>
          <a:p>
            <a:r>
              <a:rPr lang="en-GB" dirty="0">
                <a:solidFill>
                  <a:srgbClr val="003366"/>
                </a:solidFill>
                <a:latin typeface="Amasis MT Pro Medium" panose="02040604050005020304" pitchFamily="18" charset="0"/>
              </a:rPr>
              <a:t>Properties of water: </a:t>
            </a:r>
            <a:br>
              <a:rPr lang="en-GB" dirty="0">
                <a:solidFill>
                  <a:srgbClr val="003366"/>
                </a:solidFill>
                <a:latin typeface="Amasis MT Pro Medium" panose="02040604050005020304" pitchFamily="18" charset="0"/>
              </a:rPr>
            </a:br>
            <a:r>
              <a:rPr lang="en-GB" dirty="0">
                <a:solidFill>
                  <a:srgbClr val="003366"/>
                </a:solidFill>
                <a:latin typeface="Amasis MT Pro Medium" panose="02040604050005020304" pitchFamily="18" charset="0"/>
              </a:rPr>
              <a:t>COHESION AND ADHESION</a:t>
            </a:r>
          </a:p>
        </p:txBody>
      </p:sp>
      <p:sp>
        <p:nvSpPr>
          <p:cNvPr id="6" name="TextBox 5">
            <a:extLst>
              <a:ext uri="{FF2B5EF4-FFF2-40B4-BE49-F238E27FC236}">
                <a16:creationId xmlns:a16="http://schemas.microsoft.com/office/drawing/2014/main" id="{5B2A3E63-DA6F-1D2A-F7B7-B6BCA0C8F28A}"/>
              </a:ext>
            </a:extLst>
          </p:cNvPr>
          <p:cNvSpPr txBox="1"/>
          <p:nvPr/>
        </p:nvSpPr>
        <p:spPr>
          <a:xfrm>
            <a:off x="908696" y="2073696"/>
            <a:ext cx="10021146" cy="1771767"/>
          </a:xfrm>
          <a:prstGeom prst="rect">
            <a:avLst/>
          </a:prstGeom>
          <a:noFill/>
        </p:spPr>
        <p:txBody>
          <a:bodyPr wrap="square">
            <a:spAutoFit/>
          </a:bodyPr>
          <a:lstStyle/>
          <a:p>
            <a:pPr marL="228600" marR="0" lvl="0" indent="-228600" algn="just" defTabSz="914400" rtl="0" eaLnBrk="1" fontAlgn="auto" latinLnBrk="0" hangingPunct="1">
              <a:lnSpc>
                <a:spcPct val="90000"/>
              </a:lnSpc>
              <a:spcBef>
                <a:spcPts val="1000"/>
              </a:spcBef>
              <a:spcAft>
                <a:spcPts val="0"/>
              </a:spcAft>
              <a:buClr>
                <a:prstClr val="white"/>
              </a:buClr>
              <a:buSzPts val="3200"/>
              <a:buFont typeface="Arial"/>
              <a:buChar char="•"/>
              <a:tabLst/>
              <a:defRPr/>
            </a:pPr>
            <a:r>
              <a:rPr kumimoji="0" lang="en-GB" sz="2800" b="0" i="0" u="none" strike="noStrike" kern="1200" cap="none" spc="0" normalizeH="0" baseline="0" noProof="0" dirty="0">
                <a:ln>
                  <a:noFill/>
                </a:ln>
                <a:solidFill>
                  <a:prstClr val="white"/>
                </a:solidFill>
                <a:effectLst/>
                <a:uLnTx/>
                <a:uFillTx/>
                <a:latin typeface="Calibri"/>
                <a:ea typeface="Calibri"/>
                <a:cs typeface="Calibri"/>
                <a:sym typeface="Calibri"/>
              </a:rPr>
              <a:t>Water molecules are </a:t>
            </a:r>
            <a:r>
              <a:rPr kumimoji="0" lang="en-GB" sz="2800" b="1" i="0" u="none" strike="noStrike" kern="1200" cap="none" spc="0" normalizeH="0" baseline="0" noProof="0" dirty="0">
                <a:ln>
                  <a:noFill/>
                </a:ln>
                <a:solidFill>
                  <a:schemeClr val="accent1">
                    <a:lumMod val="40000"/>
                    <a:lumOff val="60000"/>
                  </a:schemeClr>
                </a:solidFill>
                <a:effectLst/>
                <a:uLnTx/>
                <a:uFillTx/>
                <a:latin typeface="Calibri"/>
                <a:ea typeface="Calibri"/>
                <a:cs typeface="Calibri"/>
                <a:sym typeface="Calibri"/>
              </a:rPr>
              <a:t>cohesive</a:t>
            </a:r>
            <a:r>
              <a:rPr kumimoji="0" lang="en-GB" sz="2800" b="0" i="0" u="none" strike="noStrike" kern="1200" cap="none" spc="0" normalizeH="0" baseline="0" noProof="0" dirty="0">
                <a:ln>
                  <a:noFill/>
                </a:ln>
                <a:solidFill>
                  <a:prstClr val="white"/>
                </a:solidFill>
                <a:effectLst/>
                <a:uLnTx/>
                <a:uFillTx/>
                <a:latin typeface="Calibri"/>
                <a:ea typeface="Calibri"/>
                <a:cs typeface="Calibri"/>
                <a:sym typeface="Calibri"/>
              </a:rPr>
              <a:t>-the force between the water molecules mean they stick together.</a:t>
            </a:r>
          </a:p>
          <a:p>
            <a:pPr marL="228600" marR="0" lvl="0" indent="-228600" algn="just" defTabSz="914400" rtl="0" eaLnBrk="1" fontAlgn="auto" latinLnBrk="0" hangingPunct="1">
              <a:lnSpc>
                <a:spcPct val="90000"/>
              </a:lnSpc>
              <a:spcBef>
                <a:spcPts val="1000"/>
              </a:spcBef>
              <a:spcAft>
                <a:spcPts val="0"/>
              </a:spcAft>
              <a:buClr>
                <a:prstClr val="white"/>
              </a:buClr>
              <a:buSzPts val="3200"/>
              <a:buFont typeface="Arial"/>
              <a:buChar char="•"/>
              <a:tabLst/>
              <a:defRPr/>
            </a:pPr>
            <a:r>
              <a:rPr kumimoji="0" lang="en-GB" sz="2800" b="0" i="0" u="none" strike="noStrike" kern="1200" cap="none" spc="0" normalizeH="0" baseline="0" noProof="0" dirty="0">
                <a:ln>
                  <a:noFill/>
                </a:ln>
                <a:solidFill>
                  <a:prstClr val="white"/>
                </a:solidFill>
                <a:effectLst/>
                <a:uLnTx/>
                <a:uFillTx/>
                <a:latin typeface="Calibri"/>
                <a:ea typeface="Calibri"/>
                <a:cs typeface="Calibri"/>
                <a:sym typeface="Calibri"/>
              </a:rPr>
              <a:t>Water molecules are </a:t>
            </a:r>
            <a:r>
              <a:rPr kumimoji="0" lang="en-GB" sz="2800" b="1" i="0" u="none" strike="noStrike" kern="1200" cap="none" spc="0" normalizeH="0" baseline="0" noProof="0" dirty="0">
                <a:ln>
                  <a:noFill/>
                </a:ln>
                <a:solidFill>
                  <a:schemeClr val="accent1">
                    <a:lumMod val="40000"/>
                    <a:lumOff val="60000"/>
                  </a:schemeClr>
                </a:solidFill>
                <a:effectLst/>
                <a:uLnTx/>
                <a:uFillTx/>
                <a:latin typeface="Calibri"/>
                <a:ea typeface="Calibri"/>
                <a:cs typeface="Calibri"/>
                <a:sym typeface="Calibri"/>
              </a:rPr>
              <a:t>adhesive</a:t>
            </a:r>
            <a:r>
              <a:rPr kumimoji="0" lang="en-GB" sz="2800" b="0" i="0" u="none" strike="noStrike" kern="1200" cap="none" spc="0" normalizeH="0" baseline="0" noProof="0" dirty="0">
                <a:ln>
                  <a:noFill/>
                </a:ln>
                <a:solidFill>
                  <a:prstClr val="white"/>
                </a:solidFill>
                <a:effectLst/>
                <a:uLnTx/>
                <a:uFillTx/>
                <a:latin typeface="Calibri"/>
                <a:ea typeface="Calibri"/>
                <a:cs typeface="Calibri"/>
                <a:sym typeface="Calibri"/>
              </a:rPr>
              <a:t>- they are attracted to other different molecules. </a:t>
            </a:r>
          </a:p>
        </p:txBody>
      </p:sp>
      <p:pic>
        <p:nvPicPr>
          <p:cNvPr id="5122" name="Picture 2" descr="Clean Water Space » Adhesion and Cohesion of Water">
            <a:extLst>
              <a:ext uri="{FF2B5EF4-FFF2-40B4-BE49-F238E27FC236}">
                <a16:creationId xmlns:a16="http://schemas.microsoft.com/office/drawing/2014/main" id="{61EBD611-347A-338C-506E-F4B732B086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3294" y="3845463"/>
            <a:ext cx="1836758" cy="295853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5124" name="Picture 4" descr="Cohesive and Adhesive Properties | BioNinja">
            <a:extLst>
              <a:ext uri="{FF2B5EF4-FFF2-40B4-BE49-F238E27FC236}">
                <a16:creationId xmlns:a16="http://schemas.microsoft.com/office/drawing/2014/main" id="{3F690D86-8E7E-8597-98EF-54E57DFE0D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47762" y="4005883"/>
            <a:ext cx="5097616" cy="244619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51663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4"/>
          <p:cNvSpPr/>
          <p:nvPr/>
        </p:nvSpPr>
        <p:spPr>
          <a:xfrm>
            <a:off x="476794" y="271715"/>
            <a:ext cx="11162212" cy="5092504"/>
          </a:xfrm>
          <a:prstGeom prst="rect">
            <a:avLst/>
          </a:prstGeom>
          <a:solidFill>
            <a:srgbClr val="0C0C0C"/>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9" name="Google Shape;209;p14"/>
          <p:cNvSpPr txBox="1"/>
          <p:nvPr/>
        </p:nvSpPr>
        <p:spPr>
          <a:xfrm>
            <a:off x="790303" y="386070"/>
            <a:ext cx="10561320" cy="4421062"/>
          </a:xfrm>
          <a:prstGeom prst="rect">
            <a:avLst/>
          </a:prstGeom>
          <a:noFill/>
          <a:ln>
            <a:noFill/>
          </a:ln>
        </p:spPr>
        <p:txBody>
          <a:bodyPr spcFirstLastPara="1" wrap="square" lIns="91425" tIns="45700" rIns="91425" bIns="45700" anchor="t" anchorCtr="0">
            <a:noAutofit/>
          </a:bodyPr>
          <a:lstStyle/>
          <a:p>
            <a:pPr marL="457200" marR="0" lvl="0" indent="-457200" algn="just" rtl="0">
              <a:lnSpc>
                <a:spcPct val="90000"/>
              </a:lnSpc>
              <a:spcBef>
                <a:spcPts val="1000"/>
              </a:spcBef>
              <a:spcAft>
                <a:spcPts val="0"/>
              </a:spcAft>
              <a:buClr>
                <a:schemeClr val="lt1"/>
              </a:buClr>
              <a:buSzPts val="3200"/>
              <a:buFont typeface="Wingdings" panose="05000000000000000000" pitchFamily="2" charset="2"/>
              <a:buChar char="Ø"/>
            </a:pPr>
            <a:r>
              <a:rPr lang="en-GB" sz="3200" b="0" i="0" u="none" strike="noStrike" cap="none" dirty="0">
                <a:solidFill>
                  <a:schemeClr val="lt1"/>
                </a:solidFill>
                <a:latin typeface="Calibri"/>
                <a:ea typeface="Calibri"/>
                <a:cs typeface="Calibri"/>
                <a:sym typeface="Calibri"/>
              </a:rPr>
              <a:t>Cohesion is the tendency of molecules within a substance to ‘stick together’. </a:t>
            </a:r>
          </a:p>
          <a:p>
            <a:pPr marL="457200" marR="0" lvl="0" indent="-457200" algn="just" rtl="0">
              <a:lnSpc>
                <a:spcPct val="90000"/>
              </a:lnSpc>
              <a:spcBef>
                <a:spcPts val="1000"/>
              </a:spcBef>
              <a:spcAft>
                <a:spcPts val="0"/>
              </a:spcAft>
              <a:buClr>
                <a:schemeClr val="lt1"/>
              </a:buClr>
              <a:buSzPts val="3200"/>
              <a:buFont typeface="Wingdings" panose="05000000000000000000" pitchFamily="2" charset="2"/>
              <a:buChar char="Ø"/>
            </a:pPr>
            <a:r>
              <a:rPr lang="en-GB" sz="3200" b="0" i="0" u="none" strike="noStrike" cap="none" dirty="0">
                <a:solidFill>
                  <a:schemeClr val="lt1"/>
                </a:solidFill>
                <a:latin typeface="Calibri"/>
                <a:ea typeface="Calibri"/>
                <a:cs typeface="Calibri"/>
                <a:sym typeface="Calibri"/>
              </a:rPr>
              <a:t>Water has a high Cohesion because of Hydrogen bonding. </a:t>
            </a:r>
          </a:p>
          <a:p>
            <a:pPr marL="457200" marR="0" lvl="0" indent="-457200" algn="just" rtl="0">
              <a:lnSpc>
                <a:spcPct val="90000"/>
              </a:lnSpc>
              <a:spcBef>
                <a:spcPts val="1000"/>
              </a:spcBef>
              <a:spcAft>
                <a:spcPts val="0"/>
              </a:spcAft>
              <a:buClr>
                <a:schemeClr val="lt1"/>
              </a:buClr>
              <a:buSzPts val="3200"/>
              <a:buFont typeface="Wingdings" panose="05000000000000000000" pitchFamily="2" charset="2"/>
              <a:buChar char="Ø"/>
            </a:pPr>
            <a:r>
              <a:rPr lang="en-GB" sz="3200" b="0" i="0" u="none" strike="noStrike" cap="none" dirty="0">
                <a:solidFill>
                  <a:schemeClr val="lt1"/>
                </a:solidFill>
                <a:latin typeface="Calibri"/>
                <a:ea typeface="Calibri"/>
                <a:cs typeface="Calibri"/>
                <a:sym typeface="Calibri"/>
              </a:rPr>
              <a:t>This is important as transport of water in the xylem in plants relies on water being pulled up. </a:t>
            </a:r>
          </a:p>
          <a:p>
            <a:pPr marL="457200" marR="0" lvl="0" indent="-457200" algn="just" rtl="0">
              <a:lnSpc>
                <a:spcPct val="90000"/>
              </a:lnSpc>
              <a:spcBef>
                <a:spcPts val="1000"/>
              </a:spcBef>
              <a:spcAft>
                <a:spcPts val="0"/>
              </a:spcAft>
              <a:buClr>
                <a:schemeClr val="lt1"/>
              </a:buClr>
              <a:buSzPts val="3200"/>
              <a:buFont typeface="Wingdings" panose="05000000000000000000" pitchFamily="2" charset="2"/>
              <a:buChar char="Ø"/>
            </a:pPr>
            <a:r>
              <a:rPr lang="en-GB" sz="3200" b="0" i="0" u="none" strike="noStrike" cap="none" dirty="0">
                <a:solidFill>
                  <a:schemeClr val="lt1"/>
                </a:solidFill>
                <a:latin typeface="Calibri"/>
                <a:ea typeface="Calibri"/>
                <a:cs typeface="Calibri"/>
                <a:sym typeface="Calibri"/>
              </a:rPr>
              <a:t>Cohesion also gives the water a high surface tension, allowing small organisms, such as Pond Skaters, to walk along it.</a:t>
            </a:r>
          </a:p>
          <a:p>
            <a:pPr marL="457200" marR="0" lvl="0" indent="-457200" algn="l" rtl="0">
              <a:lnSpc>
                <a:spcPct val="90000"/>
              </a:lnSpc>
              <a:spcBef>
                <a:spcPts val="1000"/>
              </a:spcBef>
              <a:spcAft>
                <a:spcPts val="0"/>
              </a:spcAft>
              <a:buClr>
                <a:schemeClr val="lt1"/>
              </a:buClr>
              <a:buSzPts val="3200"/>
              <a:buFont typeface="Wingdings" panose="05000000000000000000" pitchFamily="2" charset="2"/>
              <a:buChar char="Ø"/>
            </a:pPr>
            <a:endParaRPr sz="3200" b="0" i="0" u="none" strike="noStrike" cap="none" dirty="0">
              <a:solidFill>
                <a:schemeClr val="lt1"/>
              </a:solidFill>
              <a:latin typeface="Calibri"/>
              <a:ea typeface="Calibri"/>
              <a:cs typeface="Calibri"/>
              <a:sym typeface="Calibri"/>
            </a:endParaRPr>
          </a:p>
          <a:p>
            <a:pPr marL="660400" marR="0" lvl="0" indent="-457200" algn="l" rtl="0">
              <a:lnSpc>
                <a:spcPct val="90000"/>
              </a:lnSpc>
              <a:spcBef>
                <a:spcPts val="1000"/>
              </a:spcBef>
              <a:spcAft>
                <a:spcPts val="0"/>
              </a:spcAft>
              <a:buClr>
                <a:schemeClr val="lt1"/>
              </a:buClr>
              <a:buSzPts val="3200"/>
              <a:buFont typeface="Wingdings" panose="05000000000000000000" pitchFamily="2" charset="2"/>
              <a:buChar char="Ø"/>
            </a:pPr>
            <a:endParaRPr sz="3200" b="0" i="0" u="none" strike="noStrike" cap="none" dirty="0">
              <a:solidFill>
                <a:schemeClr val="lt1"/>
              </a:solidFill>
              <a:latin typeface="Calibri"/>
              <a:ea typeface="Calibri"/>
              <a:cs typeface="Calibri"/>
              <a:sym typeface="Calibri"/>
            </a:endParaRPr>
          </a:p>
          <a:p>
            <a:pPr marL="0" marR="0" lvl="0" indent="0" algn="l" rtl="0">
              <a:lnSpc>
                <a:spcPct val="90000"/>
              </a:lnSpc>
              <a:spcBef>
                <a:spcPts val="1000"/>
              </a:spcBef>
              <a:spcAft>
                <a:spcPts val="0"/>
              </a:spcAft>
              <a:buClr>
                <a:schemeClr val="lt1"/>
              </a:buClr>
              <a:buSzPts val="3200"/>
              <a:buFont typeface="Arial"/>
              <a:buNone/>
            </a:pPr>
            <a:endParaRPr sz="3200" b="0" i="0" u="none" strike="noStrike" cap="none" dirty="0">
              <a:solidFill>
                <a:schemeClr val="lt1"/>
              </a:solidFill>
              <a:latin typeface="Calibri"/>
              <a:ea typeface="Calibri"/>
              <a:cs typeface="Calibri"/>
              <a:sym typeface="Calibri"/>
            </a:endParaRPr>
          </a:p>
        </p:txBody>
      </p:sp>
      <p:pic>
        <p:nvPicPr>
          <p:cNvPr id="210" name="Google Shape;210;p14"/>
          <p:cNvPicPr preferRelativeResize="0"/>
          <p:nvPr/>
        </p:nvPicPr>
        <p:blipFill rotWithShape="1">
          <a:blip r:embed="rId3">
            <a:alphaModFix/>
          </a:blip>
          <a:srcRect/>
          <a:stretch/>
        </p:blipFill>
        <p:spPr>
          <a:xfrm>
            <a:off x="1653783" y="4456898"/>
            <a:ext cx="9338612" cy="227700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45205FC-620B-FE18-48AF-7F9C185339A6}"/>
              </a:ext>
            </a:extLst>
          </p:cNvPr>
          <p:cNvSpPr/>
          <p:nvPr/>
        </p:nvSpPr>
        <p:spPr>
          <a:xfrm>
            <a:off x="838200" y="2013924"/>
            <a:ext cx="10596942" cy="421297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white"/>
              </a:solidFill>
              <a:effectLst/>
              <a:uLnTx/>
              <a:uFillTx/>
              <a:latin typeface="The Hand"/>
              <a:ea typeface="+mn-ea"/>
              <a:cs typeface="+mn-cs"/>
            </a:endParaRPr>
          </a:p>
        </p:txBody>
      </p:sp>
      <p:sp>
        <p:nvSpPr>
          <p:cNvPr id="2" name="Title 1">
            <a:extLst>
              <a:ext uri="{FF2B5EF4-FFF2-40B4-BE49-F238E27FC236}">
                <a16:creationId xmlns:a16="http://schemas.microsoft.com/office/drawing/2014/main" id="{8E8BB628-F6E4-BDE3-8E48-362CD5E8FAD3}"/>
              </a:ext>
            </a:extLst>
          </p:cNvPr>
          <p:cNvSpPr>
            <a:spLocks noGrp="1"/>
          </p:cNvSpPr>
          <p:nvPr>
            <p:ph type="title"/>
          </p:nvPr>
        </p:nvSpPr>
        <p:spPr/>
        <p:txBody>
          <a:bodyPr>
            <a:normAutofit fontScale="90000"/>
          </a:bodyPr>
          <a:lstStyle/>
          <a:p>
            <a:r>
              <a:rPr lang="en-GB" dirty="0">
                <a:solidFill>
                  <a:srgbClr val="003366"/>
                </a:solidFill>
                <a:latin typeface="Amasis MT Pro Medium" panose="02040604050005020304" pitchFamily="18" charset="0"/>
              </a:rPr>
              <a:t>Properties of water: </a:t>
            </a:r>
            <a:br>
              <a:rPr lang="en-GB" dirty="0">
                <a:solidFill>
                  <a:srgbClr val="003366"/>
                </a:solidFill>
                <a:latin typeface="Amasis MT Pro Medium" panose="02040604050005020304" pitchFamily="18" charset="0"/>
              </a:rPr>
            </a:br>
            <a:r>
              <a:rPr lang="en-GB" dirty="0">
                <a:solidFill>
                  <a:srgbClr val="003366"/>
                </a:solidFill>
                <a:latin typeface="Amasis MT Pro Medium" panose="02040604050005020304" pitchFamily="18" charset="0"/>
              </a:rPr>
              <a:t>HIGH SURFACE TENSION</a:t>
            </a:r>
          </a:p>
        </p:txBody>
      </p:sp>
      <p:sp>
        <p:nvSpPr>
          <p:cNvPr id="6" name="TextBox 5">
            <a:extLst>
              <a:ext uri="{FF2B5EF4-FFF2-40B4-BE49-F238E27FC236}">
                <a16:creationId xmlns:a16="http://schemas.microsoft.com/office/drawing/2014/main" id="{5B2A3E63-DA6F-1D2A-F7B7-B6BCA0C8F28A}"/>
              </a:ext>
            </a:extLst>
          </p:cNvPr>
          <p:cNvSpPr txBox="1"/>
          <p:nvPr/>
        </p:nvSpPr>
        <p:spPr>
          <a:xfrm>
            <a:off x="1043274" y="2237330"/>
            <a:ext cx="5110081" cy="3710759"/>
          </a:xfrm>
          <a:prstGeom prst="rect">
            <a:avLst/>
          </a:prstGeom>
          <a:noFill/>
        </p:spPr>
        <p:txBody>
          <a:bodyPr wrap="square">
            <a:spAutoFit/>
          </a:bodyPr>
          <a:lstStyle/>
          <a:p>
            <a:pPr marL="228600" marR="0" lvl="0" indent="-228600" algn="just" defTabSz="914400" rtl="0" eaLnBrk="1" fontAlgn="auto" latinLnBrk="0" hangingPunct="1">
              <a:lnSpc>
                <a:spcPct val="90000"/>
              </a:lnSpc>
              <a:spcBef>
                <a:spcPts val="1000"/>
              </a:spcBef>
              <a:spcAft>
                <a:spcPts val="0"/>
              </a:spcAft>
              <a:buClr>
                <a:prstClr val="white"/>
              </a:buClr>
              <a:buSzPts val="3200"/>
              <a:buFont typeface="Arial"/>
              <a:buChar char="•"/>
              <a:tabLst/>
              <a:defRPr/>
            </a:pPr>
            <a:r>
              <a:rPr kumimoji="0" lang="en-GB" sz="2800" b="0" i="0" u="none" strike="noStrike" kern="1200" cap="none" spc="0" normalizeH="0" baseline="0" noProof="0" dirty="0">
                <a:ln>
                  <a:noFill/>
                </a:ln>
                <a:solidFill>
                  <a:prstClr val="white"/>
                </a:solidFill>
                <a:effectLst/>
                <a:uLnTx/>
                <a:uFillTx/>
                <a:latin typeface="Calibri"/>
                <a:ea typeface="Calibri"/>
                <a:cs typeface="Calibri"/>
                <a:sym typeface="Calibri"/>
              </a:rPr>
              <a:t>Water has high surface tension because of the attraction between the water molecules.</a:t>
            </a:r>
          </a:p>
          <a:p>
            <a:pPr marL="228600" marR="0" lvl="0" indent="-228600" algn="just" defTabSz="914400" rtl="0" eaLnBrk="1" fontAlgn="auto" latinLnBrk="0" hangingPunct="1">
              <a:lnSpc>
                <a:spcPct val="90000"/>
              </a:lnSpc>
              <a:spcBef>
                <a:spcPts val="1000"/>
              </a:spcBef>
              <a:spcAft>
                <a:spcPts val="0"/>
              </a:spcAft>
              <a:buClr>
                <a:prstClr val="white"/>
              </a:buClr>
              <a:buSzPts val="3200"/>
              <a:buFont typeface="Arial"/>
              <a:buChar char="•"/>
              <a:tabLst/>
              <a:defRPr/>
            </a:pPr>
            <a:r>
              <a:rPr kumimoji="0" lang="en-GB" sz="2800" b="0" i="0" u="none" strike="noStrike" kern="1200" cap="none" spc="0" normalizeH="0" baseline="0" noProof="0" dirty="0">
                <a:ln>
                  <a:noFill/>
                </a:ln>
                <a:solidFill>
                  <a:prstClr val="white"/>
                </a:solidFill>
                <a:effectLst/>
                <a:uLnTx/>
                <a:uFillTx/>
                <a:latin typeface="Calibri"/>
                <a:ea typeface="Calibri"/>
                <a:cs typeface="Calibri"/>
                <a:sym typeface="Calibri"/>
              </a:rPr>
              <a:t>The attraction of hydrogen bonds between water molecules is greater than the attraction between the water molecules and other molecules in air.</a:t>
            </a:r>
          </a:p>
        </p:txBody>
      </p:sp>
      <p:pic>
        <p:nvPicPr>
          <p:cNvPr id="6146" name="Picture 2" descr="IB HL 2.2.U2 Cohesion and Adhesion">
            <a:extLst>
              <a:ext uri="{FF2B5EF4-FFF2-40B4-BE49-F238E27FC236}">
                <a16:creationId xmlns:a16="http://schemas.microsoft.com/office/drawing/2014/main" id="{CEA6E1D1-C163-FF9C-330C-836474CB8A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9942" y="2426238"/>
            <a:ext cx="4977767" cy="318289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3916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5"/>
          <p:cNvSpPr/>
          <p:nvPr/>
        </p:nvSpPr>
        <p:spPr>
          <a:xfrm>
            <a:off x="1006081" y="1094675"/>
            <a:ext cx="10044333" cy="5092504"/>
          </a:xfrm>
          <a:prstGeom prst="rect">
            <a:avLst/>
          </a:prstGeom>
          <a:solidFill>
            <a:srgbClr val="0C0C0C"/>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7" name="Google Shape;217;p15"/>
          <p:cNvSpPr txBox="1"/>
          <p:nvPr/>
        </p:nvSpPr>
        <p:spPr>
          <a:xfrm>
            <a:off x="1006081" y="1498623"/>
            <a:ext cx="10044333" cy="860544"/>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3200"/>
              <a:buFont typeface="Arial"/>
              <a:buNone/>
            </a:pPr>
            <a:r>
              <a:rPr lang="en-US" sz="3200" b="0" i="0" u="none" strike="noStrike" cap="none" dirty="0">
                <a:solidFill>
                  <a:schemeClr val="lt1"/>
                </a:solidFill>
                <a:latin typeface="Arial Black"/>
                <a:ea typeface="Arial Black"/>
                <a:cs typeface="Arial Black"/>
                <a:sym typeface="Arial Black"/>
              </a:rPr>
              <a:t>High surface tension </a:t>
            </a:r>
            <a:endParaRPr sz="3200" b="0" i="0" u="none" strike="noStrike" cap="none" dirty="0">
              <a:solidFill>
                <a:schemeClr val="lt1"/>
              </a:solidFill>
              <a:latin typeface="Arial Black"/>
              <a:ea typeface="Arial Black"/>
              <a:cs typeface="Arial Black"/>
              <a:sym typeface="Arial Black"/>
            </a:endParaRPr>
          </a:p>
          <a:p>
            <a:pPr marL="0" marR="0" lvl="0" indent="0" algn="l" rtl="0">
              <a:lnSpc>
                <a:spcPct val="90000"/>
              </a:lnSpc>
              <a:spcBef>
                <a:spcPts val="1000"/>
              </a:spcBef>
              <a:spcAft>
                <a:spcPts val="0"/>
              </a:spcAft>
              <a:buClr>
                <a:schemeClr val="lt1"/>
              </a:buClr>
              <a:buSzPts val="3200"/>
              <a:buFont typeface="Arial"/>
              <a:buNone/>
            </a:pPr>
            <a:endParaRPr sz="3200" b="0" i="0" u="none" strike="noStrike" cap="none" dirty="0">
              <a:solidFill>
                <a:schemeClr val="lt1"/>
              </a:solidFill>
              <a:latin typeface="Arial Black"/>
              <a:ea typeface="Arial Black"/>
              <a:cs typeface="Arial Black"/>
              <a:sym typeface="Arial Black"/>
            </a:endParaRPr>
          </a:p>
          <a:p>
            <a:pPr marL="0" marR="0" lvl="0" indent="0" algn="l" rtl="0">
              <a:lnSpc>
                <a:spcPct val="90000"/>
              </a:lnSpc>
              <a:spcBef>
                <a:spcPts val="1000"/>
              </a:spcBef>
              <a:spcAft>
                <a:spcPts val="0"/>
              </a:spcAft>
              <a:buClr>
                <a:schemeClr val="lt1"/>
              </a:buClr>
              <a:buSzPts val="3200"/>
              <a:buFont typeface="Arial"/>
              <a:buNone/>
            </a:pPr>
            <a:endParaRPr sz="3200" b="0" i="0" u="none" strike="noStrike" cap="none" dirty="0">
              <a:solidFill>
                <a:schemeClr val="lt1"/>
              </a:solidFill>
              <a:latin typeface="Calibri"/>
              <a:ea typeface="Calibri"/>
              <a:cs typeface="Calibri"/>
              <a:sym typeface="Calibri"/>
            </a:endParaRPr>
          </a:p>
          <a:p>
            <a:pPr marL="228600" marR="0" lvl="0" indent="-25400" algn="l" rtl="0">
              <a:lnSpc>
                <a:spcPct val="90000"/>
              </a:lnSpc>
              <a:spcBef>
                <a:spcPts val="1000"/>
              </a:spcBef>
              <a:spcAft>
                <a:spcPts val="0"/>
              </a:spcAft>
              <a:buClr>
                <a:schemeClr val="lt1"/>
              </a:buClr>
              <a:buSzPts val="3200"/>
              <a:buFont typeface="Arial"/>
              <a:buNone/>
            </a:pPr>
            <a:endParaRPr sz="3200" b="0" i="0" u="none" strike="noStrike" cap="none" dirty="0">
              <a:solidFill>
                <a:schemeClr val="lt1"/>
              </a:solidFill>
              <a:latin typeface="Calibri"/>
              <a:ea typeface="Calibri"/>
              <a:cs typeface="Calibri"/>
              <a:sym typeface="Calibri"/>
            </a:endParaRPr>
          </a:p>
          <a:p>
            <a:pPr marL="0" marR="0" lvl="0" indent="0" algn="l" rtl="0">
              <a:lnSpc>
                <a:spcPct val="90000"/>
              </a:lnSpc>
              <a:spcBef>
                <a:spcPts val="1000"/>
              </a:spcBef>
              <a:spcAft>
                <a:spcPts val="0"/>
              </a:spcAft>
              <a:buClr>
                <a:schemeClr val="lt1"/>
              </a:buClr>
              <a:buSzPts val="3200"/>
              <a:buFont typeface="Arial"/>
              <a:buNone/>
            </a:pPr>
            <a:endParaRPr sz="3200" b="0" i="0" u="none" strike="noStrike" cap="none" dirty="0">
              <a:solidFill>
                <a:schemeClr val="lt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2E7B284E-4C31-B654-B99D-9DA049E8E61B}"/>
              </a:ext>
            </a:extLst>
          </p:cNvPr>
          <p:cNvPicPr>
            <a:picLocks noChangeAspect="1"/>
          </p:cNvPicPr>
          <p:nvPr/>
        </p:nvPicPr>
        <p:blipFill>
          <a:blip r:embed="rId3"/>
          <a:stretch>
            <a:fillRect/>
          </a:stretch>
        </p:blipFill>
        <p:spPr>
          <a:xfrm>
            <a:off x="1006081" y="2066255"/>
            <a:ext cx="6115357" cy="3933024"/>
          </a:xfrm>
          <a:prstGeom prst="rect">
            <a:avLst/>
          </a:prstGeom>
        </p:spPr>
      </p:pic>
      <p:sp>
        <p:nvSpPr>
          <p:cNvPr id="4" name="TextBox 3">
            <a:extLst>
              <a:ext uri="{FF2B5EF4-FFF2-40B4-BE49-F238E27FC236}">
                <a16:creationId xmlns:a16="http://schemas.microsoft.com/office/drawing/2014/main" id="{A5672A54-CD1D-D49F-4B39-9953C00334FA}"/>
              </a:ext>
            </a:extLst>
          </p:cNvPr>
          <p:cNvSpPr txBox="1"/>
          <p:nvPr/>
        </p:nvSpPr>
        <p:spPr>
          <a:xfrm>
            <a:off x="7231263" y="2263052"/>
            <a:ext cx="3709326" cy="3539430"/>
          </a:xfrm>
          <a:prstGeom prst="rect">
            <a:avLst/>
          </a:prstGeom>
          <a:noFill/>
          <a:ln w="19050">
            <a:solidFill>
              <a:schemeClr val="accent5">
                <a:lumMod val="60000"/>
                <a:lumOff val="40000"/>
              </a:schemeClr>
            </a:solidFill>
          </a:ln>
        </p:spPr>
        <p:txBody>
          <a:bodyPr wrap="square">
            <a:spAutoFit/>
          </a:bodyPr>
          <a:lstStyle/>
          <a:p>
            <a:pPr algn="just"/>
            <a:r>
              <a:rPr lang="en-GB" sz="2800" b="0" i="0" u="none" strike="noStrike" baseline="0" dirty="0">
                <a:solidFill>
                  <a:schemeClr val="bg1"/>
                </a:solidFill>
                <a:latin typeface="Calibri" panose="020F0502020204030204" pitchFamily="34" charset="0"/>
                <a:ea typeface="Calibri" panose="020F0502020204030204" pitchFamily="34" charset="0"/>
                <a:cs typeface="Calibri" panose="020F0502020204030204" pitchFamily="34" charset="0"/>
              </a:rPr>
              <a:t>High surface tension means that the water surface acts as a “skin</a:t>
            </a:r>
            <a:r>
              <a:rPr lang="en-GB" sz="2800" dirty="0">
                <a:solidFill>
                  <a:schemeClr val="bg1"/>
                </a:solidFill>
                <a:latin typeface="Calibri" panose="020F0502020204030204" pitchFamily="34" charset="0"/>
                <a:ea typeface="Calibri" panose="020F0502020204030204" pitchFamily="34" charset="0"/>
                <a:cs typeface="Calibri" panose="020F0502020204030204" pitchFamily="34" charset="0"/>
              </a:rPr>
              <a:t>”;</a:t>
            </a:r>
            <a:r>
              <a:rPr lang="en-GB" sz="2800" b="0" i="0" u="none" strike="noStrike" baseline="0" dirty="0">
                <a:solidFill>
                  <a:schemeClr val="bg1"/>
                </a:solidFill>
                <a:latin typeface="Calibri" panose="020F0502020204030204" pitchFamily="34" charset="0"/>
                <a:ea typeface="Calibri" panose="020F0502020204030204" pitchFamily="34" charset="0"/>
                <a:cs typeface="Calibri" panose="020F0502020204030204" pitchFamily="34" charset="0"/>
              </a:rPr>
              <a:t> this is very important</a:t>
            </a:r>
          </a:p>
          <a:p>
            <a:pPr algn="just"/>
            <a:r>
              <a:rPr lang="en-GB" sz="2800" b="0" i="0" u="none" strike="noStrike" baseline="0" dirty="0">
                <a:solidFill>
                  <a:schemeClr val="bg1"/>
                </a:solidFill>
                <a:latin typeface="Calibri" panose="020F0502020204030204" pitchFamily="34" charset="0"/>
                <a:ea typeface="Calibri" panose="020F0502020204030204" pitchFamily="34" charset="0"/>
                <a:cs typeface="Calibri" panose="020F0502020204030204" pitchFamily="34" charset="0"/>
              </a:rPr>
              <a:t>in water being drawn up the phloem of a plant and for life at the surface of ponds</a:t>
            </a:r>
            <a:r>
              <a:rPr lang="en-GB" sz="2800" dirty="0">
                <a:solidFill>
                  <a:schemeClr val="bg1"/>
                </a:solidFill>
                <a:latin typeface="Calibri" panose="020F0502020204030204" pitchFamily="34" charset="0"/>
                <a:ea typeface="Calibri" panose="020F0502020204030204" pitchFamily="34" charset="0"/>
                <a:cs typeface="Calibri" panose="020F0502020204030204" pitchFamily="34" charset="0"/>
              </a:rPr>
              <a:t>/</a:t>
            </a:r>
            <a:r>
              <a:rPr lang="en-GB" sz="2800" b="0" i="0" u="none" strike="noStrike" baseline="0" dirty="0">
                <a:solidFill>
                  <a:schemeClr val="bg1"/>
                </a:solidFill>
                <a:latin typeface="Calibri" panose="020F0502020204030204" pitchFamily="34" charset="0"/>
                <a:ea typeface="Calibri" panose="020F0502020204030204" pitchFamily="34" charset="0"/>
                <a:cs typeface="Calibri" panose="020F0502020204030204" pitchFamily="34" charset="0"/>
              </a:rPr>
              <a:t>lakes.</a:t>
            </a:r>
            <a:endParaRPr lang="en-MY"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56718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 grpId="0"/>
    </p:bldLst>
  </p:timing>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45205FC-620B-FE18-48AF-7F9C185339A6}"/>
              </a:ext>
            </a:extLst>
          </p:cNvPr>
          <p:cNvSpPr/>
          <p:nvPr/>
        </p:nvSpPr>
        <p:spPr>
          <a:xfrm>
            <a:off x="300446" y="1690689"/>
            <a:ext cx="11652068" cy="5108528"/>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2800" b="0" i="0" u="none" strike="noStrike" kern="1200" cap="none" spc="0" normalizeH="0" baseline="0" noProof="0">
              <a:ln>
                <a:noFill/>
              </a:ln>
              <a:solidFill>
                <a:prstClr val="white"/>
              </a:solidFill>
              <a:effectLst/>
              <a:uLnTx/>
              <a:uFillTx/>
              <a:latin typeface="The Hand"/>
              <a:ea typeface="+mn-ea"/>
              <a:cs typeface="+mn-cs"/>
              <a:sym typeface="Arial"/>
            </a:endParaRPr>
          </a:p>
        </p:txBody>
      </p:sp>
      <p:sp>
        <p:nvSpPr>
          <p:cNvPr id="2" name="Title 1">
            <a:extLst>
              <a:ext uri="{FF2B5EF4-FFF2-40B4-BE49-F238E27FC236}">
                <a16:creationId xmlns:a16="http://schemas.microsoft.com/office/drawing/2014/main" id="{8E8BB628-F6E4-BDE3-8E48-362CD5E8FAD3}"/>
              </a:ext>
            </a:extLst>
          </p:cNvPr>
          <p:cNvSpPr>
            <a:spLocks noGrp="1"/>
          </p:cNvSpPr>
          <p:nvPr>
            <p:ph type="title"/>
          </p:nvPr>
        </p:nvSpPr>
        <p:spPr>
          <a:xfrm>
            <a:off x="300446" y="301439"/>
            <a:ext cx="10809660" cy="1325563"/>
          </a:xfrm>
        </p:spPr>
        <p:txBody>
          <a:bodyPr>
            <a:normAutofit fontScale="90000"/>
          </a:bodyPr>
          <a:lstStyle/>
          <a:p>
            <a:r>
              <a:rPr lang="en-GB" b="1" dirty="0">
                <a:solidFill>
                  <a:srgbClr val="003366"/>
                </a:solidFill>
                <a:latin typeface="Amasis MT Pro Medium" panose="02040604050005020304" pitchFamily="18" charset="0"/>
              </a:rPr>
              <a:t>SUMMARY: Solvent Properties of Water</a:t>
            </a:r>
          </a:p>
        </p:txBody>
      </p:sp>
      <p:sp>
        <p:nvSpPr>
          <p:cNvPr id="4" name="TextBox 3">
            <a:extLst>
              <a:ext uri="{FF2B5EF4-FFF2-40B4-BE49-F238E27FC236}">
                <a16:creationId xmlns:a16="http://schemas.microsoft.com/office/drawing/2014/main" id="{3A338551-78A0-7E25-7F2C-44594A06DDE9}"/>
              </a:ext>
            </a:extLst>
          </p:cNvPr>
          <p:cNvSpPr txBox="1"/>
          <p:nvPr/>
        </p:nvSpPr>
        <p:spPr>
          <a:xfrm>
            <a:off x="300446" y="1818062"/>
            <a:ext cx="11199223" cy="5182957"/>
          </a:xfrm>
          <a:prstGeom prst="rect">
            <a:avLst/>
          </a:prstGeom>
          <a:noFill/>
        </p:spPr>
        <p:txBody>
          <a:bodyPr wrap="square">
            <a:spAutoFit/>
          </a:bodyPr>
          <a:lstStyle/>
          <a:p>
            <a:pPr marL="228600" marR="0" lvl="0" indent="-228600" algn="just" defTabSz="914400" rtl="0" eaLnBrk="1" fontAlgn="auto" latinLnBrk="0" hangingPunct="1">
              <a:lnSpc>
                <a:spcPct val="90000"/>
              </a:lnSpc>
              <a:spcBef>
                <a:spcPts val="1000"/>
              </a:spcBef>
              <a:spcAft>
                <a:spcPts val="0"/>
              </a:spcAft>
              <a:buClr>
                <a:prstClr val="white"/>
              </a:buClr>
              <a:buSzPts val="3200"/>
              <a:buFont typeface="Arial"/>
              <a:buChar char="•"/>
              <a:tabLst/>
              <a:defRPr/>
            </a:pPr>
            <a:r>
              <a:rPr kumimoji="0" lang="en-GB" sz="250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sym typeface="Arial"/>
              </a:rPr>
              <a:t>Water is a good transport medium as it is a polar solvent.</a:t>
            </a:r>
          </a:p>
          <a:p>
            <a:pPr marL="228600" marR="0" lvl="0" indent="-228600" algn="just" defTabSz="914400" rtl="0" eaLnBrk="1" fontAlgn="auto" latinLnBrk="0" hangingPunct="1">
              <a:lnSpc>
                <a:spcPct val="90000"/>
              </a:lnSpc>
              <a:spcBef>
                <a:spcPts val="1000"/>
              </a:spcBef>
              <a:spcAft>
                <a:spcPts val="0"/>
              </a:spcAft>
              <a:buClr>
                <a:prstClr val="white"/>
              </a:buClr>
              <a:buSzPts val="3200"/>
              <a:buFont typeface="Arial"/>
              <a:buChar char="•"/>
              <a:tabLst/>
              <a:defRPr/>
            </a:pPr>
            <a:r>
              <a:rPr lang="en-GB" sz="2500" kern="1200" dirty="0">
                <a:solidFill>
                  <a:schemeClr val="bg1"/>
                </a:solidFill>
                <a:latin typeface="Arial" panose="020B0604020202020204" pitchFamily="34" charset="0"/>
                <a:ea typeface="+mn-ea"/>
                <a:cs typeface="Arial" panose="020B0604020202020204" pitchFamily="34" charset="0"/>
              </a:rPr>
              <a:t>Water; because of its dipolar nature, surrounds ionic/polar molecules and form H- bonds, dissolving them.</a:t>
            </a:r>
          </a:p>
          <a:p>
            <a:pPr marL="228600" marR="0" lvl="0" indent="-228600" algn="just" defTabSz="914400" rtl="0" eaLnBrk="1" fontAlgn="auto" latinLnBrk="0" hangingPunct="1">
              <a:lnSpc>
                <a:spcPct val="90000"/>
              </a:lnSpc>
              <a:spcBef>
                <a:spcPts val="1000"/>
              </a:spcBef>
              <a:spcAft>
                <a:spcPts val="0"/>
              </a:spcAft>
              <a:buClr>
                <a:prstClr val="white"/>
              </a:buClr>
              <a:buSzPts val="3200"/>
              <a:buFont typeface="Arial"/>
              <a:buChar char="•"/>
              <a:tabLst/>
              <a:defRPr/>
            </a:pPr>
            <a:r>
              <a:rPr kumimoji="0" lang="en-GB" sz="250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sym typeface="Calibri"/>
              </a:rPr>
              <a:t>It is a liquid hence is able to flow due to the cohesive and adhesive forces.</a:t>
            </a:r>
          </a:p>
          <a:p>
            <a:pPr marL="228600" marR="0" lvl="0" indent="-228600" algn="just" defTabSz="914400" rtl="0" eaLnBrk="1" fontAlgn="auto" latinLnBrk="0" hangingPunct="1">
              <a:lnSpc>
                <a:spcPct val="90000"/>
              </a:lnSpc>
              <a:spcBef>
                <a:spcPts val="1000"/>
              </a:spcBef>
              <a:spcAft>
                <a:spcPts val="0"/>
              </a:spcAft>
              <a:buClr>
                <a:prstClr val="white"/>
              </a:buClr>
              <a:buSzPts val="3200"/>
              <a:buFont typeface="Arial"/>
              <a:buChar char="•"/>
              <a:tabLst/>
              <a:defRPr/>
            </a:pPr>
            <a:r>
              <a:rPr lang="en-GB" sz="2500" kern="1200" dirty="0">
                <a:solidFill>
                  <a:schemeClr val="bg1"/>
                </a:solidFill>
                <a:latin typeface="Arial" panose="020B0604020202020204" pitchFamily="34" charset="0"/>
                <a:ea typeface="+mn-ea"/>
                <a:cs typeface="Arial" panose="020B0604020202020204" pitchFamily="34" charset="0"/>
                <a:sym typeface="Calibri"/>
              </a:rPr>
              <a:t>Water allows transport of polar substances like glucose and amino acids in mass transport in blood of animals.</a:t>
            </a:r>
          </a:p>
          <a:p>
            <a:pPr marL="228600" marR="0" lvl="0" indent="-228600" algn="just" defTabSz="914400" rtl="0" eaLnBrk="1" fontAlgn="auto" latinLnBrk="0" hangingPunct="1">
              <a:lnSpc>
                <a:spcPct val="90000"/>
              </a:lnSpc>
              <a:spcBef>
                <a:spcPts val="1000"/>
              </a:spcBef>
              <a:spcAft>
                <a:spcPts val="0"/>
              </a:spcAft>
              <a:buClr>
                <a:prstClr val="white"/>
              </a:buClr>
              <a:buSzPts val="3200"/>
              <a:buFont typeface="Arial"/>
              <a:buChar char="•"/>
              <a:tabLst/>
              <a:defRPr/>
            </a:pPr>
            <a:r>
              <a:rPr kumimoji="0" lang="en-GB" sz="250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sym typeface="Calibri"/>
              </a:rPr>
              <a:t>Water allows transport of inorganic ions from roots to leaves in plants via xylem vessels.</a:t>
            </a:r>
          </a:p>
          <a:p>
            <a:pPr marL="228600" marR="0" lvl="0" indent="-228600" algn="just" defTabSz="914400" rtl="0" eaLnBrk="1" fontAlgn="auto" latinLnBrk="0" hangingPunct="1">
              <a:lnSpc>
                <a:spcPct val="90000"/>
              </a:lnSpc>
              <a:spcBef>
                <a:spcPts val="1000"/>
              </a:spcBef>
              <a:spcAft>
                <a:spcPts val="0"/>
              </a:spcAft>
              <a:buClr>
                <a:prstClr val="white"/>
              </a:buClr>
              <a:buSzPts val="3200"/>
              <a:buFont typeface="Arial"/>
              <a:buChar char="•"/>
              <a:tabLst/>
              <a:defRPr/>
            </a:pPr>
            <a:r>
              <a:rPr lang="en-GB" sz="2500" kern="1200" dirty="0">
                <a:solidFill>
                  <a:schemeClr val="bg1"/>
                </a:solidFill>
                <a:latin typeface="Arial" panose="020B0604020202020204" pitchFamily="34" charset="0"/>
                <a:ea typeface="+mn-ea"/>
                <a:cs typeface="Arial" panose="020B0604020202020204" pitchFamily="34" charset="0"/>
                <a:sym typeface="Calibri"/>
              </a:rPr>
              <a:t>Water acts as an aqueous medium to allow chemical reactions to takes place in cell cytoplasm.</a:t>
            </a:r>
          </a:p>
          <a:p>
            <a:pPr marL="228600" marR="0" lvl="0" indent="-228600" algn="just" defTabSz="914400" rtl="0" eaLnBrk="1" fontAlgn="auto" latinLnBrk="0" hangingPunct="1">
              <a:lnSpc>
                <a:spcPct val="90000"/>
              </a:lnSpc>
              <a:spcBef>
                <a:spcPts val="1000"/>
              </a:spcBef>
              <a:spcAft>
                <a:spcPts val="0"/>
              </a:spcAft>
              <a:buClr>
                <a:prstClr val="white"/>
              </a:buClr>
              <a:buSzPts val="3200"/>
              <a:buFont typeface="Arial"/>
              <a:buChar char="•"/>
              <a:tabLst/>
              <a:defRPr/>
            </a:pPr>
            <a:r>
              <a:rPr kumimoji="0" lang="en-GB" sz="250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sym typeface="Calibri"/>
              </a:rPr>
              <a:t>Water act as a reactant in important metabolic reaction</a:t>
            </a:r>
            <a:r>
              <a:rPr lang="en-GB" sz="2500" kern="1200" dirty="0">
                <a:solidFill>
                  <a:schemeClr val="bg1"/>
                </a:solidFill>
                <a:latin typeface="Arial" panose="020B0604020202020204" pitchFamily="34" charset="0"/>
                <a:ea typeface="+mn-ea"/>
                <a:cs typeface="Arial" panose="020B0604020202020204" pitchFamily="34" charset="0"/>
                <a:sym typeface="Calibri"/>
              </a:rPr>
              <a:t>s in living organisms. </a:t>
            </a:r>
            <a:r>
              <a:rPr lang="en-GB" sz="2500" kern="1200" dirty="0" err="1">
                <a:solidFill>
                  <a:schemeClr val="bg1"/>
                </a:solidFill>
                <a:latin typeface="Arial" panose="020B0604020202020204" pitchFamily="34" charset="0"/>
                <a:ea typeface="+mn-ea"/>
                <a:cs typeface="Arial" panose="020B0604020202020204" pitchFamily="34" charset="0"/>
                <a:sym typeface="Calibri"/>
              </a:rPr>
              <a:t>Eg</a:t>
            </a:r>
            <a:r>
              <a:rPr lang="en-GB" sz="2500" kern="1200" dirty="0">
                <a:solidFill>
                  <a:schemeClr val="bg1"/>
                </a:solidFill>
                <a:latin typeface="Arial" panose="020B0604020202020204" pitchFamily="34" charset="0"/>
                <a:ea typeface="+mn-ea"/>
                <a:cs typeface="Arial" panose="020B0604020202020204" pitchFamily="34" charset="0"/>
                <a:sym typeface="Calibri"/>
              </a:rPr>
              <a:t>: Hydrolysis &amp; Photosynthesis</a:t>
            </a:r>
            <a:endParaRPr kumimoji="0" lang="en-GB" sz="2500" i="0" u="none" strike="noStrike" kern="1200" cap="none" spc="0" normalizeH="0" baseline="0" noProof="0" dirty="0">
              <a:ln>
                <a:noFill/>
              </a:ln>
              <a:solidFill>
                <a:schemeClr val="bg1"/>
              </a:solidFill>
              <a:effectLst/>
              <a:uLnTx/>
              <a:uFillTx/>
              <a:latin typeface="Arial" panose="020B0604020202020204" pitchFamily="34" charset="0"/>
              <a:ea typeface="Calibri"/>
              <a:cs typeface="Arial" panose="020B0604020202020204" pitchFamily="34" charset="0"/>
              <a:sym typeface="Calibri"/>
            </a:endParaRPr>
          </a:p>
        </p:txBody>
      </p:sp>
    </p:spTree>
    <p:extLst>
      <p:ext uri="{BB962C8B-B14F-4D97-AF65-F5344CB8AC3E}">
        <p14:creationId xmlns:p14="http://schemas.microsoft.com/office/powerpoint/2010/main" val="28235952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45205FC-620B-FE18-48AF-7F9C185339A6}"/>
              </a:ext>
            </a:extLst>
          </p:cNvPr>
          <p:cNvSpPr/>
          <p:nvPr/>
        </p:nvSpPr>
        <p:spPr>
          <a:xfrm>
            <a:off x="838200" y="2013924"/>
            <a:ext cx="10596942" cy="421297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white"/>
              </a:solidFill>
              <a:effectLst/>
              <a:uLnTx/>
              <a:uFillTx/>
              <a:latin typeface="The Hand"/>
              <a:ea typeface="+mn-ea"/>
              <a:cs typeface="+mn-cs"/>
              <a:sym typeface="Arial"/>
            </a:endParaRPr>
          </a:p>
        </p:txBody>
      </p:sp>
      <p:sp>
        <p:nvSpPr>
          <p:cNvPr id="2" name="Title 1">
            <a:extLst>
              <a:ext uri="{FF2B5EF4-FFF2-40B4-BE49-F238E27FC236}">
                <a16:creationId xmlns:a16="http://schemas.microsoft.com/office/drawing/2014/main" id="{8E8BB628-F6E4-BDE3-8E48-362CD5E8FAD3}"/>
              </a:ext>
            </a:extLst>
          </p:cNvPr>
          <p:cNvSpPr>
            <a:spLocks noGrp="1"/>
          </p:cNvSpPr>
          <p:nvPr>
            <p:ph type="title"/>
          </p:nvPr>
        </p:nvSpPr>
        <p:spPr/>
        <p:txBody>
          <a:bodyPr>
            <a:normAutofit/>
          </a:bodyPr>
          <a:lstStyle/>
          <a:p>
            <a:r>
              <a:rPr lang="en-GB" dirty="0">
                <a:solidFill>
                  <a:srgbClr val="003366"/>
                </a:solidFill>
                <a:latin typeface="Amasis MT Pro Medium" panose="02040604050005020304" pitchFamily="18" charset="0"/>
              </a:rPr>
              <a:t>Command Words </a:t>
            </a:r>
          </a:p>
        </p:txBody>
      </p:sp>
      <p:pic>
        <p:nvPicPr>
          <p:cNvPr id="6" name="Picture 5">
            <a:extLst>
              <a:ext uri="{FF2B5EF4-FFF2-40B4-BE49-F238E27FC236}">
                <a16:creationId xmlns:a16="http://schemas.microsoft.com/office/drawing/2014/main" id="{5F5140F6-FE62-D2B3-AE15-26146C3D244F}"/>
              </a:ext>
            </a:extLst>
          </p:cNvPr>
          <p:cNvPicPr>
            <a:picLocks noChangeAspect="1"/>
          </p:cNvPicPr>
          <p:nvPr/>
        </p:nvPicPr>
        <p:blipFill>
          <a:blip r:embed="rId3"/>
          <a:stretch>
            <a:fillRect/>
          </a:stretch>
        </p:blipFill>
        <p:spPr>
          <a:xfrm>
            <a:off x="1422505" y="2288290"/>
            <a:ext cx="7545145" cy="2053694"/>
          </a:xfrm>
          <a:prstGeom prst="rect">
            <a:avLst/>
          </a:prstGeom>
        </p:spPr>
      </p:pic>
      <p:pic>
        <p:nvPicPr>
          <p:cNvPr id="16" name="Picture 15">
            <a:extLst>
              <a:ext uri="{FF2B5EF4-FFF2-40B4-BE49-F238E27FC236}">
                <a16:creationId xmlns:a16="http://schemas.microsoft.com/office/drawing/2014/main" id="{1699DD61-EC98-A145-88F6-8E964328D81E}"/>
              </a:ext>
            </a:extLst>
          </p:cNvPr>
          <p:cNvPicPr>
            <a:picLocks noChangeAspect="1"/>
          </p:cNvPicPr>
          <p:nvPr/>
        </p:nvPicPr>
        <p:blipFill>
          <a:blip r:embed="rId4"/>
          <a:stretch>
            <a:fillRect/>
          </a:stretch>
        </p:blipFill>
        <p:spPr>
          <a:xfrm>
            <a:off x="1147505" y="4829654"/>
            <a:ext cx="10206295" cy="571306"/>
          </a:xfrm>
          <a:prstGeom prst="rect">
            <a:avLst/>
          </a:prstGeom>
        </p:spPr>
      </p:pic>
      <p:sp>
        <p:nvSpPr>
          <p:cNvPr id="17" name="Rectangle 16">
            <a:extLst>
              <a:ext uri="{FF2B5EF4-FFF2-40B4-BE49-F238E27FC236}">
                <a16:creationId xmlns:a16="http://schemas.microsoft.com/office/drawing/2014/main" id="{F2470BBD-5EDC-A79B-5DCE-2673FE55A305}"/>
              </a:ext>
            </a:extLst>
          </p:cNvPr>
          <p:cNvSpPr/>
          <p:nvPr/>
        </p:nvSpPr>
        <p:spPr>
          <a:xfrm>
            <a:off x="1848394" y="2645229"/>
            <a:ext cx="1012372" cy="424542"/>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8" name="Arrow: Curved Right 17">
            <a:extLst>
              <a:ext uri="{FF2B5EF4-FFF2-40B4-BE49-F238E27FC236}">
                <a16:creationId xmlns:a16="http://schemas.microsoft.com/office/drawing/2014/main" id="{AC0EDAAA-EF66-91CC-4ECE-9FAE8E6D30F5}"/>
              </a:ext>
            </a:extLst>
          </p:cNvPr>
          <p:cNvSpPr/>
          <p:nvPr/>
        </p:nvSpPr>
        <p:spPr>
          <a:xfrm>
            <a:off x="1553134" y="3114446"/>
            <a:ext cx="966651" cy="1884341"/>
          </a:xfrm>
          <a:prstGeom prst="curvedRightArrow">
            <a:avLst/>
          </a:prstGeom>
          <a:solidFill>
            <a:schemeClr val="accent4">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solidFill>
                <a:schemeClr val="tx1"/>
              </a:solidFill>
            </a:endParaRPr>
          </a:p>
        </p:txBody>
      </p:sp>
    </p:spTree>
    <p:extLst>
      <p:ext uri="{BB962C8B-B14F-4D97-AF65-F5344CB8AC3E}">
        <p14:creationId xmlns:p14="http://schemas.microsoft.com/office/powerpoint/2010/main" val="4024091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barn(inVertical)">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down)">
                                      <p:cBhvr>
                                        <p:cTn id="2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animBg="1"/>
      <p:bldP spid="18"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45205FC-620B-FE18-48AF-7F9C185339A6}"/>
              </a:ext>
            </a:extLst>
          </p:cNvPr>
          <p:cNvSpPr/>
          <p:nvPr/>
        </p:nvSpPr>
        <p:spPr>
          <a:xfrm>
            <a:off x="838200" y="2013924"/>
            <a:ext cx="10596942" cy="421297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white"/>
              </a:solidFill>
              <a:effectLst/>
              <a:uLnTx/>
              <a:uFillTx/>
              <a:latin typeface="The Hand"/>
              <a:ea typeface="+mn-ea"/>
              <a:cs typeface="+mn-cs"/>
              <a:sym typeface="Arial"/>
            </a:endParaRPr>
          </a:p>
        </p:txBody>
      </p:sp>
      <p:pic>
        <p:nvPicPr>
          <p:cNvPr id="4" name="Picture 3">
            <a:extLst>
              <a:ext uri="{FF2B5EF4-FFF2-40B4-BE49-F238E27FC236}">
                <a16:creationId xmlns:a16="http://schemas.microsoft.com/office/drawing/2014/main" id="{C10D3C8A-49F1-CD82-6603-95840BF33676}"/>
              </a:ext>
            </a:extLst>
          </p:cNvPr>
          <p:cNvPicPr>
            <a:picLocks noChangeAspect="1"/>
          </p:cNvPicPr>
          <p:nvPr/>
        </p:nvPicPr>
        <p:blipFill>
          <a:blip r:embed="rId3"/>
          <a:stretch>
            <a:fillRect/>
          </a:stretch>
        </p:blipFill>
        <p:spPr>
          <a:xfrm>
            <a:off x="1401382" y="2320700"/>
            <a:ext cx="8558533" cy="1325563"/>
          </a:xfrm>
          <a:prstGeom prst="rect">
            <a:avLst/>
          </a:prstGeom>
        </p:spPr>
      </p:pic>
      <p:sp>
        <p:nvSpPr>
          <p:cNvPr id="2" name="Title 1">
            <a:extLst>
              <a:ext uri="{FF2B5EF4-FFF2-40B4-BE49-F238E27FC236}">
                <a16:creationId xmlns:a16="http://schemas.microsoft.com/office/drawing/2014/main" id="{8E8BB628-F6E4-BDE3-8E48-362CD5E8FAD3}"/>
              </a:ext>
            </a:extLst>
          </p:cNvPr>
          <p:cNvSpPr>
            <a:spLocks noGrp="1"/>
          </p:cNvSpPr>
          <p:nvPr>
            <p:ph type="title"/>
          </p:nvPr>
        </p:nvSpPr>
        <p:spPr/>
        <p:txBody>
          <a:bodyPr>
            <a:normAutofit/>
          </a:bodyPr>
          <a:lstStyle/>
          <a:p>
            <a:r>
              <a:rPr lang="en-GB" dirty="0">
                <a:solidFill>
                  <a:srgbClr val="003366"/>
                </a:solidFill>
                <a:latin typeface="Amasis MT Pro Medium" panose="02040604050005020304" pitchFamily="18" charset="0"/>
              </a:rPr>
              <a:t>Command Words </a:t>
            </a:r>
          </a:p>
        </p:txBody>
      </p:sp>
      <p:sp>
        <p:nvSpPr>
          <p:cNvPr id="17" name="Rectangle 16">
            <a:extLst>
              <a:ext uri="{FF2B5EF4-FFF2-40B4-BE49-F238E27FC236}">
                <a16:creationId xmlns:a16="http://schemas.microsoft.com/office/drawing/2014/main" id="{F2470BBD-5EDC-A79B-5DCE-2673FE55A305}"/>
              </a:ext>
            </a:extLst>
          </p:cNvPr>
          <p:cNvSpPr/>
          <p:nvPr/>
        </p:nvSpPr>
        <p:spPr>
          <a:xfrm>
            <a:off x="1835142" y="2320951"/>
            <a:ext cx="793886" cy="437716"/>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MY" sz="1400" b="0" i="0" u="none" strike="noStrike" kern="0" cap="none" spc="0" normalizeH="0" baseline="0" noProof="0">
              <a:ln>
                <a:noFill/>
              </a:ln>
              <a:solidFill>
                <a:prstClr val="white"/>
              </a:solidFill>
              <a:effectLst/>
              <a:uLnTx/>
              <a:uFillTx/>
              <a:latin typeface="The Hand"/>
              <a:ea typeface="+mn-ea"/>
              <a:cs typeface="+mn-cs"/>
              <a:sym typeface="Arial"/>
            </a:endParaRPr>
          </a:p>
        </p:txBody>
      </p:sp>
      <p:pic>
        <p:nvPicPr>
          <p:cNvPr id="8" name="Picture 7">
            <a:extLst>
              <a:ext uri="{FF2B5EF4-FFF2-40B4-BE49-F238E27FC236}">
                <a16:creationId xmlns:a16="http://schemas.microsoft.com/office/drawing/2014/main" id="{A3DAACAF-74AD-3DE6-D93A-97D75975703E}"/>
              </a:ext>
            </a:extLst>
          </p:cNvPr>
          <p:cNvPicPr>
            <a:picLocks noChangeAspect="1"/>
          </p:cNvPicPr>
          <p:nvPr/>
        </p:nvPicPr>
        <p:blipFill>
          <a:blip r:embed="rId4"/>
          <a:stretch>
            <a:fillRect/>
          </a:stretch>
        </p:blipFill>
        <p:spPr>
          <a:xfrm>
            <a:off x="1147085" y="4715889"/>
            <a:ext cx="10137230" cy="783574"/>
          </a:xfrm>
          <a:prstGeom prst="rect">
            <a:avLst/>
          </a:prstGeom>
        </p:spPr>
      </p:pic>
      <p:sp>
        <p:nvSpPr>
          <p:cNvPr id="18" name="Arrow: Curved Right 17">
            <a:extLst>
              <a:ext uri="{FF2B5EF4-FFF2-40B4-BE49-F238E27FC236}">
                <a16:creationId xmlns:a16="http://schemas.microsoft.com/office/drawing/2014/main" id="{AC0EDAAA-EF66-91CC-4ECE-9FAE8E6D30F5}"/>
              </a:ext>
            </a:extLst>
          </p:cNvPr>
          <p:cNvSpPr/>
          <p:nvPr/>
        </p:nvSpPr>
        <p:spPr>
          <a:xfrm>
            <a:off x="1401382" y="2758667"/>
            <a:ext cx="966651" cy="2240120"/>
          </a:xfrm>
          <a:prstGeom prst="curvedRightArrow">
            <a:avLst/>
          </a:prstGeom>
          <a:solidFill>
            <a:schemeClr val="accent4">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MY" sz="1400" b="0" i="0" u="none" strike="noStrike" kern="0" cap="none" spc="0" normalizeH="0" baseline="0" noProof="0">
              <a:ln>
                <a:noFill/>
              </a:ln>
              <a:solidFill>
                <a:prstClr val="black"/>
              </a:solidFill>
              <a:effectLst/>
              <a:uLnTx/>
              <a:uFillTx/>
              <a:latin typeface="The Hand"/>
              <a:ea typeface="+mn-ea"/>
              <a:cs typeface="+mn-cs"/>
              <a:sym typeface="Arial"/>
            </a:endParaRPr>
          </a:p>
        </p:txBody>
      </p:sp>
    </p:spTree>
    <p:extLst>
      <p:ext uri="{BB962C8B-B14F-4D97-AF65-F5344CB8AC3E}">
        <p14:creationId xmlns:p14="http://schemas.microsoft.com/office/powerpoint/2010/main" val="361322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barn(inVertical)">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down)">
                                      <p:cBhvr>
                                        <p:cTn id="2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animBg="1"/>
      <p:bldP spid="18"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45205FC-620B-FE18-48AF-7F9C185339A6}"/>
              </a:ext>
            </a:extLst>
          </p:cNvPr>
          <p:cNvSpPr/>
          <p:nvPr/>
        </p:nvSpPr>
        <p:spPr>
          <a:xfrm>
            <a:off x="838200" y="2013924"/>
            <a:ext cx="10596942" cy="421297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white"/>
              </a:solidFill>
              <a:effectLst/>
              <a:uLnTx/>
              <a:uFillTx/>
              <a:latin typeface="The Hand"/>
              <a:ea typeface="+mn-ea"/>
              <a:cs typeface="+mn-cs"/>
              <a:sym typeface="Arial"/>
            </a:endParaRPr>
          </a:p>
        </p:txBody>
      </p:sp>
      <p:sp>
        <p:nvSpPr>
          <p:cNvPr id="2" name="Title 1">
            <a:extLst>
              <a:ext uri="{FF2B5EF4-FFF2-40B4-BE49-F238E27FC236}">
                <a16:creationId xmlns:a16="http://schemas.microsoft.com/office/drawing/2014/main" id="{8E8BB628-F6E4-BDE3-8E48-362CD5E8FAD3}"/>
              </a:ext>
            </a:extLst>
          </p:cNvPr>
          <p:cNvSpPr>
            <a:spLocks noGrp="1"/>
          </p:cNvSpPr>
          <p:nvPr>
            <p:ph type="title"/>
          </p:nvPr>
        </p:nvSpPr>
        <p:spPr/>
        <p:txBody>
          <a:bodyPr>
            <a:normAutofit/>
          </a:bodyPr>
          <a:lstStyle/>
          <a:p>
            <a:r>
              <a:rPr lang="en-GB" dirty="0">
                <a:solidFill>
                  <a:srgbClr val="003366"/>
                </a:solidFill>
                <a:latin typeface="Amasis MT Pro Medium" panose="02040604050005020304" pitchFamily="18" charset="0"/>
              </a:rPr>
              <a:t>Command Words </a:t>
            </a:r>
          </a:p>
        </p:txBody>
      </p:sp>
      <p:pic>
        <p:nvPicPr>
          <p:cNvPr id="5" name="Picture 4">
            <a:extLst>
              <a:ext uri="{FF2B5EF4-FFF2-40B4-BE49-F238E27FC236}">
                <a16:creationId xmlns:a16="http://schemas.microsoft.com/office/drawing/2014/main" id="{FF26FA53-C762-4173-E87B-9A5934339EA2}"/>
              </a:ext>
            </a:extLst>
          </p:cNvPr>
          <p:cNvPicPr>
            <a:picLocks noChangeAspect="1"/>
          </p:cNvPicPr>
          <p:nvPr/>
        </p:nvPicPr>
        <p:blipFill>
          <a:blip r:embed="rId3"/>
          <a:stretch>
            <a:fillRect/>
          </a:stretch>
        </p:blipFill>
        <p:spPr>
          <a:xfrm>
            <a:off x="1401382" y="2249878"/>
            <a:ext cx="7700555" cy="2983579"/>
          </a:xfrm>
          <a:prstGeom prst="rect">
            <a:avLst/>
          </a:prstGeom>
        </p:spPr>
      </p:pic>
      <p:sp>
        <p:nvSpPr>
          <p:cNvPr id="17" name="Rectangle 16">
            <a:extLst>
              <a:ext uri="{FF2B5EF4-FFF2-40B4-BE49-F238E27FC236}">
                <a16:creationId xmlns:a16="http://schemas.microsoft.com/office/drawing/2014/main" id="{F2470BBD-5EDC-A79B-5DCE-2673FE55A305}"/>
              </a:ext>
            </a:extLst>
          </p:cNvPr>
          <p:cNvSpPr/>
          <p:nvPr/>
        </p:nvSpPr>
        <p:spPr>
          <a:xfrm>
            <a:off x="1835142" y="2320951"/>
            <a:ext cx="793886" cy="437716"/>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MY" sz="1400" b="0" i="0" u="none" strike="noStrike" kern="0" cap="none" spc="0" normalizeH="0" baseline="0" noProof="0">
              <a:ln>
                <a:noFill/>
              </a:ln>
              <a:solidFill>
                <a:prstClr val="white"/>
              </a:solidFill>
              <a:effectLst/>
              <a:uLnTx/>
              <a:uFillTx/>
              <a:latin typeface="The Hand"/>
              <a:ea typeface="+mn-ea"/>
              <a:cs typeface="+mn-cs"/>
              <a:sym typeface="Arial"/>
            </a:endParaRPr>
          </a:p>
        </p:txBody>
      </p:sp>
      <p:pic>
        <p:nvPicPr>
          <p:cNvPr id="9" name="Picture 8">
            <a:extLst>
              <a:ext uri="{FF2B5EF4-FFF2-40B4-BE49-F238E27FC236}">
                <a16:creationId xmlns:a16="http://schemas.microsoft.com/office/drawing/2014/main" id="{7AB0A80F-7E45-EB59-B569-7B15E4B41517}"/>
              </a:ext>
            </a:extLst>
          </p:cNvPr>
          <p:cNvPicPr>
            <a:picLocks noChangeAspect="1"/>
          </p:cNvPicPr>
          <p:nvPr/>
        </p:nvPicPr>
        <p:blipFill>
          <a:blip r:embed="rId4"/>
          <a:stretch>
            <a:fillRect/>
          </a:stretch>
        </p:blipFill>
        <p:spPr>
          <a:xfrm>
            <a:off x="1097280" y="4675415"/>
            <a:ext cx="10337862" cy="995758"/>
          </a:xfrm>
          <a:prstGeom prst="rect">
            <a:avLst/>
          </a:prstGeom>
        </p:spPr>
      </p:pic>
      <p:sp>
        <p:nvSpPr>
          <p:cNvPr id="18" name="Arrow: Curved Right 17">
            <a:extLst>
              <a:ext uri="{FF2B5EF4-FFF2-40B4-BE49-F238E27FC236}">
                <a16:creationId xmlns:a16="http://schemas.microsoft.com/office/drawing/2014/main" id="{AC0EDAAA-EF66-91CC-4ECE-9FAE8E6D30F5}"/>
              </a:ext>
            </a:extLst>
          </p:cNvPr>
          <p:cNvSpPr/>
          <p:nvPr/>
        </p:nvSpPr>
        <p:spPr>
          <a:xfrm>
            <a:off x="1401382" y="2758667"/>
            <a:ext cx="966651" cy="2240120"/>
          </a:xfrm>
          <a:prstGeom prst="curvedRightArrow">
            <a:avLst/>
          </a:prstGeom>
          <a:solidFill>
            <a:schemeClr val="accent4">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MY" sz="1400" b="0" i="0" u="none" strike="noStrike" kern="0" cap="none" spc="0" normalizeH="0" baseline="0" noProof="0">
              <a:ln>
                <a:noFill/>
              </a:ln>
              <a:solidFill>
                <a:prstClr val="black"/>
              </a:solidFill>
              <a:effectLst/>
              <a:uLnTx/>
              <a:uFillTx/>
              <a:latin typeface="The Hand"/>
              <a:ea typeface="+mn-ea"/>
              <a:cs typeface="+mn-cs"/>
              <a:sym typeface="Arial"/>
            </a:endParaRPr>
          </a:p>
        </p:txBody>
      </p:sp>
    </p:spTree>
    <p:extLst>
      <p:ext uri="{BB962C8B-B14F-4D97-AF65-F5344CB8AC3E}">
        <p14:creationId xmlns:p14="http://schemas.microsoft.com/office/powerpoint/2010/main" val="2018088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grpId="0"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barn(inVertical)">
                                      <p:cBhvr>
                                        <p:cTn id="16" dur="5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down)">
                                      <p:cBhvr>
                                        <p:cTn id="2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animBg="1"/>
      <p:bldP spid="18"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45205FC-620B-FE18-48AF-7F9C185339A6}"/>
              </a:ext>
            </a:extLst>
          </p:cNvPr>
          <p:cNvSpPr/>
          <p:nvPr/>
        </p:nvSpPr>
        <p:spPr>
          <a:xfrm>
            <a:off x="838200" y="2013924"/>
            <a:ext cx="10596942" cy="421297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white"/>
              </a:solidFill>
              <a:effectLst/>
              <a:uLnTx/>
              <a:uFillTx/>
              <a:latin typeface="The Hand"/>
              <a:ea typeface="+mn-ea"/>
              <a:cs typeface="+mn-cs"/>
            </a:endParaRPr>
          </a:p>
        </p:txBody>
      </p:sp>
      <p:sp>
        <p:nvSpPr>
          <p:cNvPr id="2" name="Title 1">
            <a:extLst>
              <a:ext uri="{FF2B5EF4-FFF2-40B4-BE49-F238E27FC236}">
                <a16:creationId xmlns:a16="http://schemas.microsoft.com/office/drawing/2014/main" id="{8E8BB628-F6E4-BDE3-8E48-362CD5E8FAD3}"/>
              </a:ext>
            </a:extLst>
          </p:cNvPr>
          <p:cNvSpPr>
            <a:spLocks noGrp="1"/>
          </p:cNvSpPr>
          <p:nvPr>
            <p:ph type="title"/>
          </p:nvPr>
        </p:nvSpPr>
        <p:spPr/>
        <p:txBody>
          <a:bodyPr>
            <a:normAutofit/>
          </a:bodyPr>
          <a:lstStyle/>
          <a:p>
            <a:r>
              <a:rPr lang="en-GB" dirty="0">
                <a:solidFill>
                  <a:srgbClr val="003366"/>
                </a:solidFill>
                <a:latin typeface="Amasis MT Pro Medium" panose="02040604050005020304" pitchFamily="18" charset="0"/>
              </a:rPr>
              <a:t>Checkpoint Questions</a:t>
            </a:r>
          </a:p>
        </p:txBody>
      </p:sp>
      <p:sp>
        <p:nvSpPr>
          <p:cNvPr id="4" name="TextBox 3">
            <a:extLst>
              <a:ext uri="{FF2B5EF4-FFF2-40B4-BE49-F238E27FC236}">
                <a16:creationId xmlns:a16="http://schemas.microsoft.com/office/drawing/2014/main" id="{757D7C64-37DD-BA54-AB2C-2DDEBBFC8F03}"/>
              </a:ext>
            </a:extLst>
          </p:cNvPr>
          <p:cNvSpPr txBox="1"/>
          <p:nvPr/>
        </p:nvSpPr>
        <p:spPr>
          <a:xfrm>
            <a:off x="926674" y="2280697"/>
            <a:ext cx="10248644" cy="26203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1. Water is described as a dipolar molecule because it has a ____________   (1)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a:t>
            </a:r>
            <a:r>
              <a:rPr kumimoji="0" lang="en-US" sz="2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 </a:t>
            </a: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positively charged hydrogen end and a negatively charged oxygen end</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a:t>
            </a:r>
            <a:r>
              <a:rPr kumimoji="0" lang="en-US" sz="2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B </a:t>
            </a: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positively charged hydrogen end and a positively charged oxygen end</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a:t>
            </a:r>
            <a:r>
              <a:rPr kumimoji="0" lang="en-US" sz="2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C</a:t>
            </a: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negatively charged hydrogen end and a negatively charged oxygen end</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a:t>
            </a:r>
            <a:r>
              <a:rPr kumimoji="0" lang="en-US" sz="2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D</a:t>
            </a: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negatively charged hydrogen end and a positively charged oxygen end</a:t>
            </a:r>
          </a:p>
        </p:txBody>
      </p:sp>
      <p:grpSp>
        <p:nvGrpSpPr>
          <p:cNvPr id="5" name="Group 4">
            <a:extLst>
              <a:ext uri="{FF2B5EF4-FFF2-40B4-BE49-F238E27FC236}">
                <a16:creationId xmlns:a16="http://schemas.microsoft.com/office/drawing/2014/main" id="{8E27A80D-0A43-621D-1173-0578100BC0A3}"/>
              </a:ext>
            </a:extLst>
          </p:cNvPr>
          <p:cNvGrpSpPr>
            <a:grpSpLocks/>
          </p:cNvGrpSpPr>
          <p:nvPr/>
        </p:nvGrpSpPr>
        <p:grpSpPr>
          <a:xfrm>
            <a:off x="1016682" y="2844039"/>
            <a:ext cx="531866" cy="1991848"/>
            <a:chOff x="0" y="0"/>
            <a:chExt cx="257175" cy="1047750"/>
          </a:xfrm>
        </p:grpSpPr>
        <p:grpSp>
          <p:nvGrpSpPr>
            <p:cNvPr id="8" name="Group 7">
              <a:extLst>
                <a:ext uri="{FF2B5EF4-FFF2-40B4-BE49-F238E27FC236}">
                  <a16:creationId xmlns:a16="http://schemas.microsoft.com/office/drawing/2014/main" id="{87609F62-785B-886E-5483-A508C511BF3C}"/>
                </a:ext>
              </a:extLst>
            </p:cNvPr>
            <p:cNvGrpSpPr/>
            <p:nvPr/>
          </p:nvGrpSpPr>
          <p:grpSpPr>
            <a:xfrm>
              <a:off x="0" y="0"/>
              <a:ext cx="257175" cy="523875"/>
              <a:chOff x="0" y="0"/>
              <a:chExt cx="257175" cy="523875"/>
            </a:xfrm>
          </p:grpSpPr>
          <p:pic>
            <p:nvPicPr>
              <p:cNvPr id="12" name="Picture 11">
                <a:extLst>
                  <a:ext uri="{FF2B5EF4-FFF2-40B4-BE49-F238E27FC236}">
                    <a16:creationId xmlns:a16="http://schemas.microsoft.com/office/drawing/2014/main" id="{DE12EF10-80A0-11E6-E649-00540AD35488}"/>
                  </a:ext>
                </a:extLst>
              </p:cNvPr>
              <p:cNvPicPr>
                <a:picLocks noChangeAspect="1"/>
              </p:cNvPicPr>
              <p:nvPr/>
            </p:nvPicPr>
            <p:blipFill rotWithShape="1">
              <a:blip r:embed="rId3">
                <a:extLst>
                  <a:ext uri="{28A0092B-C50C-407E-A947-70E740481C1C}">
                    <a14:useLocalDpi xmlns:a14="http://schemas.microsoft.com/office/drawing/2010/main" val="0"/>
                  </a:ext>
                </a:extLst>
              </a:blip>
              <a:srcRect t="29240" b="55556"/>
              <a:stretch/>
            </p:blipFill>
            <p:spPr bwMode="auto">
              <a:xfrm>
                <a:off x="0" y="276225"/>
                <a:ext cx="257175" cy="247650"/>
              </a:xfrm>
              <a:prstGeom prst="rect">
                <a:avLst/>
              </a:prstGeom>
              <a:noFill/>
              <a:ln>
                <a:noFill/>
              </a:ln>
              <a:extLst>
                <a:ext uri="{53640926-AAD7-44D8-BBD7-CCE9431645EC}">
                  <a14:shadowObscured xmlns:a14="http://schemas.microsoft.com/office/drawing/2010/main"/>
                </a:ext>
              </a:extLst>
            </p:spPr>
          </p:pic>
          <p:pic>
            <p:nvPicPr>
              <p:cNvPr id="13" name="Picture 12">
                <a:extLst>
                  <a:ext uri="{FF2B5EF4-FFF2-40B4-BE49-F238E27FC236}">
                    <a16:creationId xmlns:a16="http://schemas.microsoft.com/office/drawing/2014/main" id="{4A850F9C-2CDE-FBA9-E335-73B5C9409D24}"/>
                  </a:ext>
                </a:extLst>
              </p:cNvPr>
              <p:cNvPicPr>
                <a:picLocks noChangeAspect="1"/>
              </p:cNvPicPr>
              <p:nvPr/>
            </p:nvPicPr>
            <p:blipFill rotWithShape="1">
              <a:blip r:embed="rId3">
                <a:extLst>
                  <a:ext uri="{28A0092B-C50C-407E-A947-70E740481C1C}">
                    <a14:useLocalDpi xmlns:a14="http://schemas.microsoft.com/office/drawing/2010/main" val="0"/>
                  </a:ext>
                </a:extLst>
              </a:blip>
              <a:srcRect b="83041"/>
              <a:stretch/>
            </p:blipFill>
            <p:spPr bwMode="auto">
              <a:xfrm>
                <a:off x="0" y="0"/>
                <a:ext cx="257175" cy="276225"/>
              </a:xfrm>
              <a:prstGeom prst="rect">
                <a:avLst/>
              </a:prstGeom>
              <a:noFill/>
              <a:ln>
                <a:noFill/>
              </a:ln>
              <a:extLst>
                <a:ext uri="{53640926-AAD7-44D8-BBD7-CCE9431645EC}">
                  <a14:shadowObscured xmlns:a14="http://schemas.microsoft.com/office/drawing/2010/main"/>
                </a:ext>
              </a:extLst>
            </p:spPr>
          </p:pic>
        </p:grpSp>
        <p:grpSp>
          <p:nvGrpSpPr>
            <p:cNvPr id="9" name="Group 8">
              <a:extLst>
                <a:ext uri="{FF2B5EF4-FFF2-40B4-BE49-F238E27FC236}">
                  <a16:creationId xmlns:a16="http://schemas.microsoft.com/office/drawing/2014/main" id="{833C7EF4-21A5-6A8A-D503-9A433655452C}"/>
                </a:ext>
              </a:extLst>
            </p:cNvPr>
            <p:cNvGrpSpPr/>
            <p:nvPr/>
          </p:nvGrpSpPr>
          <p:grpSpPr>
            <a:xfrm>
              <a:off x="0" y="523875"/>
              <a:ext cx="257175" cy="523875"/>
              <a:chOff x="0" y="0"/>
              <a:chExt cx="257175" cy="523875"/>
            </a:xfrm>
          </p:grpSpPr>
          <p:pic>
            <p:nvPicPr>
              <p:cNvPr id="10" name="Picture 9">
                <a:extLst>
                  <a:ext uri="{FF2B5EF4-FFF2-40B4-BE49-F238E27FC236}">
                    <a16:creationId xmlns:a16="http://schemas.microsoft.com/office/drawing/2014/main" id="{597C1C60-EEE4-24B8-DC6F-AB042037159B}"/>
                  </a:ext>
                </a:extLst>
              </p:cNvPr>
              <p:cNvPicPr>
                <a:picLocks noChangeAspect="1"/>
              </p:cNvPicPr>
              <p:nvPr/>
            </p:nvPicPr>
            <p:blipFill rotWithShape="1">
              <a:blip r:embed="rId3">
                <a:extLst>
                  <a:ext uri="{28A0092B-C50C-407E-A947-70E740481C1C}">
                    <a14:useLocalDpi xmlns:a14="http://schemas.microsoft.com/office/drawing/2010/main" val="0"/>
                  </a:ext>
                </a:extLst>
              </a:blip>
              <a:srcRect t="29240" b="55556"/>
              <a:stretch/>
            </p:blipFill>
            <p:spPr bwMode="auto">
              <a:xfrm>
                <a:off x="0" y="276225"/>
                <a:ext cx="257175" cy="247650"/>
              </a:xfrm>
              <a:prstGeom prst="rect">
                <a:avLst/>
              </a:prstGeom>
              <a:noFill/>
              <a:ln>
                <a:noFill/>
              </a:ln>
              <a:extLst>
                <a:ext uri="{53640926-AAD7-44D8-BBD7-CCE9431645EC}">
                  <a14:shadowObscured xmlns:a14="http://schemas.microsoft.com/office/drawing/2010/main"/>
                </a:ext>
              </a:extLst>
            </p:spPr>
          </p:pic>
          <p:pic>
            <p:nvPicPr>
              <p:cNvPr id="11" name="Picture 10">
                <a:extLst>
                  <a:ext uri="{FF2B5EF4-FFF2-40B4-BE49-F238E27FC236}">
                    <a16:creationId xmlns:a16="http://schemas.microsoft.com/office/drawing/2014/main" id="{844A00BB-4E72-EC73-6C1F-BA63A63C651F}"/>
                  </a:ext>
                </a:extLst>
              </p:cNvPr>
              <p:cNvPicPr>
                <a:picLocks noChangeAspect="1"/>
              </p:cNvPicPr>
              <p:nvPr/>
            </p:nvPicPr>
            <p:blipFill rotWithShape="1">
              <a:blip r:embed="rId3">
                <a:extLst>
                  <a:ext uri="{28A0092B-C50C-407E-A947-70E740481C1C}">
                    <a14:useLocalDpi xmlns:a14="http://schemas.microsoft.com/office/drawing/2010/main" val="0"/>
                  </a:ext>
                </a:extLst>
              </a:blip>
              <a:srcRect b="83041"/>
              <a:stretch/>
            </p:blipFill>
            <p:spPr bwMode="auto">
              <a:xfrm>
                <a:off x="0" y="0"/>
                <a:ext cx="257175" cy="276225"/>
              </a:xfrm>
              <a:prstGeom prst="rect">
                <a:avLst/>
              </a:prstGeom>
              <a:noFill/>
              <a:ln>
                <a:noFill/>
              </a:ln>
              <a:extLst>
                <a:ext uri="{53640926-AAD7-44D8-BBD7-CCE9431645EC}">
                  <a14:shadowObscured xmlns:a14="http://schemas.microsoft.com/office/drawing/2010/main"/>
                </a:ext>
              </a:extLst>
            </p:spPr>
          </p:pic>
        </p:grpSp>
      </p:grpSp>
      <p:sp>
        <p:nvSpPr>
          <p:cNvPr id="15" name="TextBox 14">
            <a:extLst>
              <a:ext uri="{FF2B5EF4-FFF2-40B4-BE49-F238E27FC236}">
                <a16:creationId xmlns:a16="http://schemas.microsoft.com/office/drawing/2014/main" id="{F75C8332-8B25-91BE-E10B-8FD9E9541943}"/>
              </a:ext>
            </a:extLst>
          </p:cNvPr>
          <p:cNvSpPr txBox="1"/>
          <p:nvPr/>
        </p:nvSpPr>
        <p:spPr>
          <a:xfrm>
            <a:off x="3002485" y="5336371"/>
            <a:ext cx="6097022"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E4650E">
                    <a:lumMod val="40000"/>
                    <a:lumOff val="60000"/>
                  </a:srgbClr>
                </a:solidFill>
                <a:effectLst/>
                <a:uLnTx/>
                <a:uFillTx/>
                <a:latin typeface="Calibri" panose="020F0502020204030204" pitchFamily="34" charset="0"/>
                <a:ea typeface="+mn-ea"/>
                <a:cs typeface="Calibri" panose="020F0502020204030204" pitchFamily="34" charset="0"/>
              </a:rPr>
              <a:t>ANSWER: A</a:t>
            </a:r>
            <a:endParaRPr kumimoji="0" lang="en-MY" sz="3200" b="0" i="0" u="none" strike="noStrike" kern="1200" cap="none" spc="0" normalizeH="0" baseline="0" noProof="0" dirty="0">
              <a:ln>
                <a:noFill/>
              </a:ln>
              <a:solidFill>
                <a:srgbClr val="E4650E">
                  <a:lumMod val="40000"/>
                  <a:lumOff val="60000"/>
                </a:srgbClr>
              </a:solidFill>
              <a:effectLst/>
              <a:uLnTx/>
              <a:uFillTx/>
              <a:latin typeface="The Hand"/>
              <a:ea typeface="+mn-ea"/>
              <a:cs typeface="+mn-cs"/>
            </a:endParaRPr>
          </a:p>
        </p:txBody>
      </p:sp>
    </p:spTree>
    <p:extLst>
      <p:ext uri="{BB962C8B-B14F-4D97-AF65-F5344CB8AC3E}">
        <p14:creationId xmlns:p14="http://schemas.microsoft.com/office/powerpoint/2010/main" val="3227980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ppt_x"/>
                                          </p:val>
                                        </p:tav>
                                        <p:tav tm="100000">
                                          <p:val>
                                            <p:strVal val="#ppt_x"/>
                                          </p:val>
                                        </p:tav>
                                      </p:tavLst>
                                    </p:anim>
                                    <p:anim calcmode="lin" valueType="num">
                                      <p:cBhvr additive="base">
                                        <p:cTn id="1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45205FC-620B-FE18-48AF-7F9C185339A6}"/>
              </a:ext>
            </a:extLst>
          </p:cNvPr>
          <p:cNvSpPr/>
          <p:nvPr/>
        </p:nvSpPr>
        <p:spPr>
          <a:xfrm>
            <a:off x="756858" y="1823680"/>
            <a:ext cx="10596942" cy="4601668"/>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white"/>
              </a:solidFill>
              <a:effectLst/>
              <a:uLnTx/>
              <a:uFillTx/>
              <a:latin typeface="The Hand"/>
              <a:ea typeface="+mn-ea"/>
              <a:cs typeface="+mn-cs"/>
            </a:endParaRPr>
          </a:p>
        </p:txBody>
      </p:sp>
      <p:sp>
        <p:nvSpPr>
          <p:cNvPr id="2" name="Title 1">
            <a:extLst>
              <a:ext uri="{FF2B5EF4-FFF2-40B4-BE49-F238E27FC236}">
                <a16:creationId xmlns:a16="http://schemas.microsoft.com/office/drawing/2014/main" id="{8E8BB628-F6E4-BDE3-8E48-362CD5E8FAD3}"/>
              </a:ext>
            </a:extLst>
          </p:cNvPr>
          <p:cNvSpPr>
            <a:spLocks noGrp="1"/>
          </p:cNvSpPr>
          <p:nvPr>
            <p:ph type="title"/>
          </p:nvPr>
        </p:nvSpPr>
        <p:spPr/>
        <p:txBody>
          <a:bodyPr>
            <a:normAutofit/>
          </a:bodyPr>
          <a:lstStyle/>
          <a:p>
            <a:r>
              <a:rPr lang="en-GB" dirty="0">
                <a:solidFill>
                  <a:srgbClr val="003366"/>
                </a:solidFill>
                <a:latin typeface="Amasis MT Pro Medium" panose="02040604050005020304" pitchFamily="18" charset="0"/>
              </a:rPr>
              <a:t>Checkpoint Questions</a:t>
            </a:r>
          </a:p>
        </p:txBody>
      </p:sp>
      <p:sp>
        <p:nvSpPr>
          <p:cNvPr id="4" name="TextBox 3">
            <a:extLst>
              <a:ext uri="{FF2B5EF4-FFF2-40B4-BE49-F238E27FC236}">
                <a16:creationId xmlns:a16="http://schemas.microsoft.com/office/drawing/2014/main" id="{757D7C64-37DD-BA54-AB2C-2DDEBBFC8F03}"/>
              </a:ext>
            </a:extLst>
          </p:cNvPr>
          <p:cNvSpPr txBox="1"/>
          <p:nvPr/>
        </p:nvSpPr>
        <p:spPr>
          <a:xfrm>
            <a:off x="838200" y="1762533"/>
            <a:ext cx="10248644" cy="466281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700" b="0" i="0" u="sng"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2. Fill in the blanks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7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27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Water has the chemical formula________.Water molecules are described as ________ because they have a slight positive charge at one end of the molecule and a slight negative charge at the other end. As a result, individual   molecules form ___________ bonds with each other. Water is an important ____________in living organisms because most biochemical   reactions takes place in aqueous solution. Water also has a high _____________which means that its temperature remains relatively stable despite large changes in the temperature of the surrounding environment.</a:t>
            </a:r>
            <a:endParaRPr kumimoji="0" lang="en-GB" sz="2700" b="0" i="0" u="none" strike="noStrike" kern="1200" cap="none" spc="0" normalizeH="0" baseline="0" noProof="0" dirty="0">
              <a:ln>
                <a:noFill/>
              </a:ln>
              <a:solidFill>
                <a:srgbClr val="E4650E">
                  <a:lumMod val="40000"/>
                  <a:lumOff val="60000"/>
                </a:srgbClr>
              </a:solidFill>
              <a:effectLst/>
              <a:uLnTx/>
              <a:uFillTx/>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6919443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45205FC-620B-FE18-48AF-7F9C185339A6}"/>
              </a:ext>
            </a:extLst>
          </p:cNvPr>
          <p:cNvSpPr/>
          <p:nvPr/>
        </p:nvSpPr>
        <p:spPr>
          <a:xfrm>
            <a:off x="756858" y="1823680"/>
            <a:ext cx="10596942" cy="421297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white"/>
              </a:solidFill>
              <a:effectLst/>
              <a:uLnTx/>
              <a:uFillTx/>
              <a:latin typeface="The Hand"/>
              <a:ea typeface="+mn-ea"/>
              <a:cs typeface="+mn-cs"/>
            </a:endParaRPr>
          </a:p>
        </p:txBody>
      </p:sp>
      <p:sp>
        <p:nvSpPr>
          <p:cNvPr id="2" name="Title 1">
            <a:extLst>
              <a:ext uri="{FF2B5EF4-FFF2-40B4-BE49-F238E27FC236}">
                <a16:creationId xmlns:a16="http://schemas.microsoft.com/office/drawing/2014/main" id="{8E8BB628-F6E4-BDE3-8E48-362CD5E8FAD3}"/>
              </a:ext>
            </a:extLst>
          </p:cNvPr>
          <p:cNvSpPr>
            <a:spLocks noGrp="1"/>
          </p:cNvSpPr>
          <p:nvPr>
            <p:ph type="title"/>
          </p:nvPr>
        </p:nvSpPr>
        <p:spPr/>
        <p:txBody>
          <a:bodyPr>
            <a:normAutofit/>
          </a:bodyPr>
          <a:lstStyle/>
          <a:p>
            <a:r>
              <a:rPr lang="en-GB" dirty="0">
                <a:solidFill>
                  <a:srgbClr val="003366"/>
                </a:solidFill>
                <a:latin typeface="Amasis MT Pro Medium" panose="02040604050005020304" pitchFamily="18" charset="0"/>
              </a:rPr>
              <a:t>Checkpoint Questions</a:t>
            </a:r>
          </a:p>
        </p:txBody>
      </p:sp>
      <p:sp>
        <p:nvSpPr>
          <p:cNvPr id="4" name="TextBox 3">
            <a:extLst>
              <a:ext uri="{FF2B5EF4-FFF2-40B4-BE49-F238E27FC236}">
                <a16:creationId xmlns:a16="http://schemas.microsoft.com/office/drawing/2014/main" id="{757D7C64-37DD-BA54-AB2C-2DDEBBFC8F03}"/>
              </a:ext>
            </a:extLst>
          </p:cNvPr>
          <p:cNvSpPr txBox="1"/>
          <p:nvPr/>
        </p:nvSpPr>
        <p:spPr>
          <a:xfrm>
            <a:off x="926674" y="2280697"/>
            <a:ext cx="10248644" cy="378565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2.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4650E">
                    <a:lumMod val="40000"/>
                    <a:lumOff val="60000"/>
                  </a:srgbClr>
                </a:solidFill>
                <a:effectLst/>
                <a:uLnTx/>
                <a:uFillTx/>
                <a:latin typeface="Calibri" panose="020F0502020204030204" pitchFamily="34" charset="0"/>
                <a:ea typeface="+mn-ea"/>
                <a:cs typeface="Calibri" panose="020F0502020204030204" pitchFamily="34" charset="0"/>
              </a:rPr>
              <a:t>A</a:t>
            </a:r>
            <a:r>
              <a:rPr kumimoji="0" lang="en-GB" sz="2400" b="0" i="0" u="none" strike="noStrike" kern="1200" cap="none" spc="0" normalizeH="0" baseline="0" noProof="0" dirty="0">
                <a:ln>
                  <a:noFill/>
                </a:ln>
                <a:solidFill>
                  <a:srgbClr val="E4650E">
                    <a:lumMod val="40000"/>
                    <a:lumOff val="60000"/>
                  </a:srgbClr>
                </a:solidFill>
                <a:effectLst/>
                <a:uLnTx/>
                <a:uFillTx/>
                <a:latin typeface="Calibri" panose="020F0502020204030204" pitchFamily="34" charset="0"/>
                <a:ea typeface="+mn-ea"/>
                <a:cs typeface="Calibri" panose="020F0502020204030204" pitchFamily="34" charset="0"/>
              </a:rPr>
              <a:t>NSWER: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srgbClr val="E4650E">
                    <a:lumMod val="40000"/>
                    <a:lumOff val="60000"/>
                  </a:srgbClr>
                </a:solidFill>
                <a:effectLst/>
                <a:uLnTx/>
                <a:uFillTx/>
                <a:latin typeface="Calibri" panose="020F0502020204030204" pitchFamily="34" charset="0"/>
                <a:ea typeface="+mn-ea"/>
                <a:cs typeface="Calibri" panose="020F0502020204030204" pitchFamily="34" charset="0"/>
              </a:rPr>
              <a:t>H</a:t>
            </a:r>
            <a:r>
              <a:rPr kumimoji="0" lang="en-GB" sz="1600" b="0" i="0" u="none" strike="noStrike" kern="1200" cap="none" spc="0" normalizeH="0" baseline="0" noProof="0" dirty="0">
                <a:ln>
                  <a:noFill/>
                </a:ln>
                <a:solidFill>
                  <a:srgbClr val="E4650E">
                    <a:lumMod val="40000"/>
                    <a:lumOff val="60000"/>
                  </a:srgbClr>
                </a:solidFill>
                <a:effectLst/>
                <a:uLnTx/>
                <a:uFillTx/>
                <a:latin typeface="Calibri" panose="020F0502020204030204" pitchFamily="34" charset="0"/>
                <a:ea typeface="+mn-ea"/>
                <a:cs typeface="Calibri" panose="020F0502020204030204" pitchFamily="34" charset="0"/>
              </a:rPr>
              <a:t>2</a:t>
            </a:r>
            <a:r>
              <a:rPr kumimoji="0" lang="en-GB" sz="2400" b="0" i="0" u="none" strike="noStrike" kern="1200" cap="none" spc="0" normalizeH="0" baseline="0" noProof="0" dirty="0">
                <a:ln>
                  <a:noFill/>
                </a:ln>
                <a:solidFill>
                  <a:srgbClr val="E4650E">
                    <a:lumMod val="40000"/>
                    <a:lumOff val="60000"/>
                  </a:srgbClr>
                </a:solidFill>
                <a:effectLst/>
                <a:uLnTx/>
                <a:uFillTx/>
                <a:latin typeface="Calibri" panose="020F0502020204030204" pitchFamily="34" charset="0"/>
                <a:ea typeface="+mn-ea"/>
                <a:cs typeface="Calibri" panose="020F0502020204030204" pitchFamily="34" charset="0"/>
              </a:rPr>
              <a:t>O					[1]</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srgbClr val="E4650E">
                    <a:lumMod val="40000"/>
                    <a:lumOff val="60000"/>
                  </a:srgbClr>
                </a:solidFill>
                <a:effectLst/>
                <a:uLnTx/>
                <a:uFillTx/>
                <a:latin typeface="Calibri" panose="020F0502020204030204" pitchFamily="34" charset="0"/>
                <a:ea typeface="+mn-ea"/>
                <a:cs typeface="Calibri" panose="020F0502020204030204" pitchFamily="34" charset="0"/>
              </a:rPr>
              <a:t>Bipolar / Dipolar / polar		[1]</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srgbClr val="E4650E">
                    <a:lumMod val="40000"/>
                    <a:lumOff val="60000"/>
                  </a:srgbClr>
                </a:solidFill>
                <a:effectLst/>
                <a:uLnTx/>
                <a:uFillTx/>
                <a:latin typeface="Calibri" panose="020F0502020204030204" pitchFamily="34" charset="0"/>
                <a:ea typeface="+mn-ea"/>
                <a:cs typeface="Calibri" panose="020F0502020204030204" pitchFamily="34" charset="0"/>
              </a:rPr>
              <a:t>Weak hydrogen / H – bonds 	[1]</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srgbClr val="E4650E">
                    <a:lumMod val="40000"/>
                    <a:lumOff val="60000"/>
                  </a:srgbClr>
                </a:solidFill>
                <a:effectLst/>
                <a:uLnTx/>
                <a:uFillTx/>
                <a:latin typeface="Calibri" panose="020F0502020204030204" pitchFamily="34" charset="0"/>
                <a:ea typeface="+mn-ea"/>
                <a:cs typeface="Calibri" panose="020F0502020204030204" pitchFamily="34" charset="0"/>
              </a:rPr>
              <a:t>Solvent				[1]</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srgbClr val="E4650E">
                    <a:lumMod val="40000"/>
                    <a:lumOff val="60000"/>
                  </a:srgbClr>
                </a:solidFill>
                <a:effectLst/>
                <a:uLnTx/>
                <a:uFillTx/>
                <a:latin typeface="Calibri" panose="020F0502020204030204" pitchFamily="34" charset="0"/>
                <a:ea typeface="+mn-ea"/>
                <a:cs typeface="Calibri" panose="020F0502020204030204" pitchFamily="34" charset="0"/>
              </a:rPr>
              <a:t>Specific heat capacity		[1]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E4650E">
                  <a:lumMod val="40000"/>
                  <a:lumOff val="60000"/>
                </a:srgbClr>
              </a:solidFill>
              <a:effectLst/>
              <a:uLnTx/>
              <a:uFillTx/>
              <a:latin typeface="Calibri" panose="020F0502020204030204" pitchFamily="34" charset="0"/>
              <a:ea typeface="+mn-ea"/>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E4650E">
                  <a:lumMod val="40000"/>
                  <a:lumOff val="60000"/>
                </a:srgbClr>
              </a:solidFill>
              <a:effectLst/>
              <a:uLnTx/>
              <a:uFillTx/>
              <a:latin typeface="Calibri" panose="020F0502020204030204" pitchFamily="34" charset="0"/>
              <a:ea typeface="+mn-ea"/>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349618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45205FC-620B-FE18-48AF-7F9C185339A6}"/>
              </a:ext>
            </a:extLst>
          </p:cNvPr>
          <p:cNvSpPr/>
          <p:nvPr/>
        </p:nvSpPr>
        <p:spPr>
          <a:xfrm>
            <a:off x="756858" y="1823680"/>
            <a:ext cx="10596942" cy="421297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white"/>
              </a:solidFill>
              <a:effectLst/>
              <a:uLnTx/>
              <a:uFillTx/>
              <a:latin typeface="The Hand"/>
              <a:ea typeface="+mn-ea"/>
              <a:cs typeface="+mn-cs"/>
            </a:endParaRPr>
          </a:p>
        </p:txBody>
      </p:sp>
      <p:sp>
        <p:nvSpPr>
          <p:cNvPr id="2" name="Title 1">
            <a:extLst>
              <a:ext uri="{FF2B5EF4-FFF2-40B4-BE49-F238E27FC236}">
                <a16:creationId xmlns:a16="http://schemas.microsoft.com/office/drawing/2014/main" id="{8E8BB628-F6E4-BDE3-8E48-362CD5E8FAD3}"/>
              </a:ext>
            </a:extLst>
          </p:cNvPr>
          <p:cNvSpPr>
            <a:spLocks noGrp="1"/>
          </p:cNvSpPr>
          <p:nvPr>
            <p:ph type="title"/>
          </p:nvPr>
        </p:nvSpPr>
        <p:spPr/>
        <p:txBody>
          <a:bodyPr>
            <a:normAutofit/>
          </a:bodyPr>
          <a:lstStyle/>
          <a:p>
            <a:r>
              <a:rPr lang="en-GB" dirty="0">
                <a:solidFill>
                  <a:srgbClr val="003366"/>
                </a:solidFill>
                <a:latin typeface="Amasis MT Pro Medium" panose="02040604050005020304" pitchFamily="18" charset="0"/>
              </a:rPr>
              <a:t>Checkpoint Questions</a:t>
            </a:r>
          </a:p>
        </p:txBody>
      </p:sp>
      <p:sp>
        <p:nvSpPr>
          <p:cNvPr id="4" name="TextBox 3">
            <a:extLst>
              <a:ext uri="{FF2B5EF4-FFF2-40B4-BE49-F238E27FC236}">
                <a16:creationId xmlns:a16="http://schemas.microsoft.com/office/drawing/2014/main" id="{757D7C64-37DD-BA54-AB2C-2DDEBBFC8F03}"/>
              </a:ext>
            </a:extLst>
          </p:cNvPr>
          <p:cNvSpPr txBox="1"/>
          <p:nvPr/>
        </p:nvSpPr>
        <p:spPr>
          <a:xfrm>
            <a:off x="926674" y="2280697"/>
            <a:ext cx="10248644" cy="34163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3. </a:t>
            </a:r>
            <a:r>
              <a:rPr kumimoji="0" lang="en-GB"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What is the name between the bond between two water molecules?	        (1)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E4650E">
                  <a:lumMod val="40000"/>
                  <a:lumOff val="60000"/>
                </a:srgbClr>
              </a:solidFill>
              <a:effectLst/>
              <a:uLnTx/>
              <a:uFillTx/>
              <a:latin typeface="Calibri" panose="020F0502020204030204" pitchFamily="34" charset="0"/>
              <a:ea typeface="+mn-ea"/>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4650E">
                    <a:lumMod val="40000"/>
                    <a:lumOff val="60000"/>
                  </a:srgbClr>
                </a:solidFill>
                <a:effectLst/>
                <a:uLnTx/>
                <a:uFillTx/>
                <a:latin typeface="Calibri" panose="020F0502020204030204" pitchFamily="34" charset="0"/>
                <a:ea typeface="+mn-ea"/>
                <a:cs typeface="Calibri" panose="020F0502020204030204" pitchFamily="34" charset="0"/>
              </a:rPr>
              <a:t>A</a:t>
            </a:r>
            <a:r>
              <a:rPr kumimoji="0" lang="en-GB" sz="2400" b="0" i="0" u="none" strike="noStrike" kern="1200" cap="none" spc="0" normalizeH="0" baseline="0" noProof="0" dirty="0">
                <a:ln>
                  <a:noFill/>
                </a:ln>
                <a:solidFill>
                  <a:srgbClr val="E4650E">
                    <a:lumMod val="40000"/>
                    <a:lumOff val="60000"/>
                  </a:srgbClr>
                </a:solidFill>
                <a:effectLst/>
                <a:uLnTx/>
                <a:uFillTx/>
                <a:latin typeface="Calibri" panose="020F0502020204030204" pitchFamily="34" charset="0"/>
                <a:ea typeface="+mn-ea"/>
                <a:cs typeface="Calibri" panose="020F0502020204030204" pitchFamily="34" charset="0"/>
              </a:rPr>
              <a:t>NSWER: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E4650E">
                    <a:lumMod val="40000"/>
                    <a:lumOff val="60000"/>
                  </a:srgbClr>
                </a:solidFill>
                <a:effectLst/>
                <a:uLnTx/>
                <a:uFillTx/>
                <a:latin typeface="Calibri" panose="020F0502020204030204" pitchFamily="34" charset="0"/>
                <a:ea typeface="+mn-ea"/>
                <a:cs typeface="Calibri" panose="020F0502020204030204" pitchFamily="34" charset="0"/>
              </a:rPr>
              <a:t>Hydrogen bond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4. </a:t>
            </a:r>
            <a:r>
              <a:rPr kumimoji="0" lang="en-GB"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State the property of water that enable these bonds to be formed.	        (1)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E4650E">
                  <a:lumMod val="40000"/>
                  <a:lumOff val="60000"/>
                </a:srgbClr>
              </a:solidFill>
              <a:effectLst/>
              <a:uLnTx/>
              <a:uFillTx/>
              <a:latin typeface="Calibri" panose="020F0502020204030204" pitchFamily="34" charset="0"/>
              <a:ea typeface="+mn-ea"/>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4650E">
                    <a:lumMod val="40000"/>
                    <a:lumOff val="60000"/>
                  </a:srgbClr>
                </a:solidFill>
                <a:effectLst/>
                <a:uLnTx/>
                <a:uFillTx/>
                <a:latin typeface="Calibri" panose="020F0502020204030204" pitchFamily="34" charset="0"/>
                <a:ea typeface="+mn-ea"/>
                <a:cs typeface="Calibri" panose="020F0502020204030204" pitchFamily="34" charset="0"/>
              </a:rPr>
              <a:t>A</a:t>
            </a:r>
            <a:r>
              <a:rPr kumimoji="0" lang="en-GB" sz="2400" b="0" i="0" u="none" strike="noStrike" kern="1200" cap="none" spc="0" normalizeH="0" baseline="0" noProof="0" dirty="0">
                <a:ln>
                  <a:noFill/>
                </a:ln>
                <a:solidFill>
                  <a:srgbClr val="E4650E">
                    <a:lumMod val="40000"/>
                    <a:lumOff val="60000"/>
                  </a:srgbClr>
                </a:solidFill>
                <a:effectLst/>
                <a:uLnTx/>
                <a:uFillTx/>
                <a:latin typeface="Calibri" panose="020F0502020204030204" pitchFamily="34" charset="0"/>
                <a:ea typeface="+mn-ea"/>
                <a:cs typeface="Calibri" panose="020F0502020204030204" pitchFamily="34" charset="0"/>
              </a:rPr>
              <a:t>NSWER: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E4650E">
                    <a:lumMod val="40000"/>
                    <a:lumOff val="60000"/>
                  </a:srgbClr>
                </a:solidFill>
                <a:effectLst/>
                <a:uLnTx/>
                <a:uFillTx/>
                <a:latin typeface="Calibri" panose="020F0502020204030204" pitchFamily="34" charset="0"/>
                <a:ea typeface="+mn-ea"/>
                <a:cs typeface="Calibri" panose="020F0502020204030204" pitchFamily="34" charset="0"/>
              </a:rPr>
              <a:t>Dipole nature</a:t>
            </a:r>
          </a:p>
        </p:txBody>
      </p:sp>
    </p:spTree>
    <p:extLst>
      <p:ext uri="{BB962C8B-B14F-4D97-AF65-F5344CB8AC3E}">
        <p14:creationId xmlns:p14="http://schemas.microsoft.com/office/powerpoint/2010/main" val="1639092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Effect transition="in" filter="fade">
                                      <p:cBhvr>
                                        <p:cTn id="15" dur="500"/>
                                        <p:tgtEl>
                                          <p:spTgt spid="4">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
                                            <p:txEl>
                                              <p:pRg st="5" end="5"/>
                                            </p:txEl>
                                          </p:spTgt>
                                        </p:tgtEl>
                                        <p:attrNameLst>
                                          <p:attrName>style.visibility</p:attrName>
                                        </p:attrNameLst>
                                      </p:cBhvr>
                                      <p:to>
                                        <p:strVal val="visible"/>
                                      </p:to>
                                    </p:set>
                                    <p:animEffect transition="in" filter="fade">
                                      <p:cBhvr>
                                        <p:cTn id="20" dur="500"/>
                                        <p:tgtEl>
                                          <p:spTgt spid="4">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animEffect transition="in" filter="fade">
                                      <p:cBhvr>
                                        <p:cTn id="25" dur="500"/>
                                        <p:tgtEl>
                                          <p:spTgt spid="4">
                                            <p:txEl>
                                              <p:pRg st="7" end="7"/>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4">
                                            <p:txEl>
                                              <p:pRg st="8" end="8"/>
                                            </p:txEl>
                                          </p:spTgt>
                                        </p:tgtEl>
                                        <p:attrNameLst>
                                          <p:attrName>style.visibility</p:attrName>
                                        </p:attrNameLst>
                                      </p:cBhvr>
                                      <p:to>
                                        <p:strVal val="visible"/>
                                      </p:to>
                                    </p:set>
                                    <p:animEffect transition="in" filter="fade">
                                      <p:cBhvr>
                                        <p:cTn id="28"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45205FC-620B-FE18-48AF-7F9C185339A6}"/>
              </a:ext>
            </a:extLst>
          </p:cNvPr>
          <p:cNvSpPr/>
          <p:nvPr/>
        </p:nvSpPr>
        <p:spPr>
          <a:xfrm>
            <a:off x="756858" y="1823680"/>
            <a:ext cx="10596942" cy="421297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white"/>
              </a:solidFill>
              <a:effectLst/>
              <a:uLnTx/>
              <a:uFillTx/>
              <a:latin typeface="The Hand"/>
              <a:ea typeface="+mn-ea"/>
              <a:cs typeface="+mn-cs"/>
            </a:endParaRPr>
          </a:p>
        </p:txBody>
      </p:sp>
      <p:sp>
        <p:nvSpPr>
          <p:cNvPr id="2" name="Title 1">
            <a:extLst>
              <a:ext uri="{FF2B5EF4-FFF2-40B4-BE49-F238E27FC236}">
                <a16:creationId xmlns:a16="http://schemas.microsoft.com/office/drawing/2014/main" id="{8E8BB628-F6E4-BDE3-8E48-362CD5E8FAD3}"/>
              </a:ext>
            </a:extLst>
          </p:cNvPr>
          <p:cNvSpPr>
            <a:spLocks noGrp="1"/>
          </p:cNvSpPr>
          <p:nvPr>
            <p:ph type="title"/>
          </p:nvPr>
        </p:nvSpPr>
        <p:spPr/>
        <p:txBody>
          <a:bodyPr>
            <a:normAutofit/>
          </a:bodyPr>
          <a:lstStyle/>
          <a:p>
            <a:r>
              <a:rPr lang="en-GB" dirty="0">
                <a:solidFill>
                  <a:srgbClr val="003366"/>
                </a:solidFill>
                <a:latin typeface="Amasis MT Pro Medium" panose="02040604050005020304" pitchFamily="18" charset="0"/>
              </a:rPr>
              <a:t>Checkpoint Questions</a:t>
            </a:r>
          </a:p>
        </p:txBody>
      </p:sp>
      <p:sp>
        <p:nvSpPr>
          <p:cNvPr id="4" name="TextBox 3">
            <a:extLst>
              <a:ext uri="{FF2B5EF4-FFF2-40B4-BE49-F238E27FC236}">
                <a16:creationId xmlns:a16="http://schemas.microsoft.com/office/drawing/2014/main" id="{757D7C64-37DD-BA54-AB2C-2DDEBBFC8F03}"/>
              </a:ext>
            </a:extLst>
          </p:cNvPr>
          <p:cNvSpPr txBox="1"/>
          <p:nvPr/>
        </p:nvSpPr>
        <p:spPr>
          <a:xfrm>
            <a:off x="926674" y="2280697"/>
            <a:ext cx="10248644" cy="34163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6</a:t>
            </a:r>
            <a:r>
              <a:rPr kumimoji="0" lang="en-US" sz="2400" b="0" i="0" u="none" strike="noStrike" kern="120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rPr>
              <a:t>. </a:t>
            </a:r>
            <a:r>
              <a:rPr kumimoji="0" lang="en-GB"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Explain why water is an effective molecule for transporting other molecules around living organisms. 							(3)</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E4650E">
                  <a:lumMod val="40000"/>
                  <a:lumOff val="60000"/>
                </a:srgbClr>
              </a:solidFill>
              <a:effectLst/>
              <a:uLnTx/>
              <a:uFillTx/>
              <a:latin typeface="Calibri" panose="020F0502020204030204" pitchFamily="34" charset="0"/>
              <a:ea typeface="+mn-ea"/>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4650E">
                    <a:lumMod val="40000"/>
                    <a:lumOff val="60000"/>
                  </a:srgbClr>
                </a:solidFill>
                <a:effectLst/>
                <a:uLnTx/>
                <a:uFillTx/>
                <a:latin typeface="Calibri" panose="020F0502020204030204" pitchFamily="34" charset="0"/>
                <a:ea typeface="+mn-ea"/>
                <a:cs typeface="Calibri" panose="020F0502020204030204" pitchFamily="34" charset="0"/>
              </a:rPr>
              <a:t>A</a:t>
            </a:r>
            <a:r>
              <a:rPr kumimoji="0" lang="en-GB" sz="2400" b="0" i="0" u="none" strike="noStrike" kern="1200" cap="none" spc="0" normalizeH="0" baseline="0" noProof="0" dirty="0">
                <a:ln>
                  <a:noFill/>
                </a:ln>
                <a:solidFill>
                  <a:srgbClr val="E4650E">
                    <a:lumMod val="40000"/>
                    <a:lumOff val="60000"/>
                  </a:srgbClr>
                </a:solidFill>
                <a:effectLst/>
                <a:uLnTx/>
                <a:uFillTx/>
                <a:latin typeface="Calibri" panose="020F0502020204030204" pitchFamily="34" charset="0"/>
                <a:ea typeface="+mn-ea"/>
                <a:cs typeface="Calibri" panose="020F0502020204030204" pitchFamily="34" charset="0"/>
              </a:rPr>
              <a:t>NSWER: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srgbClr val="E4650E">
                    <a:lumMod val="40000"/>
                    <a:lumOff val="60000"/>
                  </a:srgbClr>
                </a:solidFill>
                <a:effectLst/>
                <a:uLnTx/>
                <a:uFillTx/>
                <a:latin typeface="Calibri" panose="020F0502020204030204" pitchFamily="34" charset="0"/>
                <a:ea typeface="+mn-ea"/>
                <a:cs typeface="Calibri" panose="020F0502020204030204" pitchFamily="34" charset="0"/>
              </a:rPr>
              <a:t>water is a solvent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srgbClr val="E4650E">
                    <a:lumMod val="40000"/>
                    <a:lumOff val="60000"/>
                  </a:srgbClr>
                </a:solidFill>
                <a:effectLst/>
                <a:uLnTx/>
                <a:uFillTx/>
                <a:latin typeface="Calibri" panose="020F0502020204030204" pitchFamily="34" charset="0"/>
                <a:ea typeface="+mn-ea"/>
                <a:cs typeface="Calibri" panose="020F0502020204030204" pitchFamily="34" charset="0"/>
              </a:rPr>
              <a:t>water is slightly charged / dipole /polar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srgbClr val="E4650E">
                    <a:lumMod val="40000"/>
                    <a:lumOff val="60000"/>
                  </a:srgbClr>
                </a:solidFill>
                <a:effectLst/>
                <a:uLnTx/>
                <a:uFillTx/>
                <a:latin typeface="Calibri" panose="020F0502020204030204" pitchFamily="34" charset="0"/>
                <a:ea typeface="+mn-ea"/>
                <a:cs typeface="Calibri" panose="020F0502020204030204" pitchFamily="34" charset="0"/>
              </a:rPr>
              <a:t>o</a:t>
            </a:r>
            <a:r>
              <a:rPr kumimoji="0" lang="en-GB" sz="2400" b="0" i="0" u="none" strike="noStrike" kern="1200" cap="none" spc="0" normalizeH="0" baseline="0" noProof="0" dirty="0" err="1">
                <a:ln>
                  <a:noFill/>
                </a:ln>
                <a:solidFill>
                  <a:srgbClr val="E4650E">
                    <a:lumMod val="40000"/>
                    <a:lumOff val="60000"/>
                  </a:srgbClr>
                </a:solidFill>
                <a:effectLst/>
                <a:uLnTx/>
                <a:uFillTx/>
                <a:latin typeface="Calibri" panose="020F0502020204030204" pitchFamily="34" charset="0"/>
                <a:ea typeface="+mn-ea"/>
                <a:cs typeface="Calibri" panose="020F0502020204030204" pitchFamily="34" charset="0"/>
              </a:rPr>
              <a:t>ther</a:t>
            </a:r>
            <a:r>
              <a:rPr kumimoji="0" lang="en-GB" sz="2400" b="0" i="0" u="none" strike="noStrike" kern="1200" cap="none" spc="0" normalizeH="0" baseline="0" noProof="0" dirty="0">
                <a:ln>
                  <a:noFill/>
                </a:ln>
                <a:solidFill>
                  <a:srgbClr val="E4650E">
                    <a:lumMod val="40000"/>
                    <a:lumOff val="60000"/>
                  </a:srgbClr>
                </a:solidFill>
                <a:effectLst/>
                <a:uLnTx/>
                <a:uFillTx/>
                <a:latin typeface="Calibri" panose="020F0502020204030204" pitchFamily="34" charset="0"/>
                <a:ea typeface="+mn-ea"/>
                <a:cs typeface="Calibri" panose="020F0502020204030204" pitchFamily="34" charset="0"/>
              </a:rPr>
              <a:t> polar molecules or ions can dissolve in water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srgbClr val="E4650E">
                    <a:lumMod val="40000"/>
                    <a:lumOff val="60000"/>
                  </a:srgbClr>
                </a:solidFill>
                <a:effectLst/>
                <a:uLnTx/>
                <a:uFillTx/>
                <a:latin typeface="Calibri" panose="020F0502020204030204" pitchFamily="34" charset="0"/>
                <a:ea typeface="+mn-ea"/>
                <a:cs typeface="Calibri" panose="020F0502020204030204" pitchFamily="34" charset="0"/>
              </a:rPr>
              <a:t>water is a fluid with cohesive / adhesive forces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973387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Effect transition="in" filter="fade">
                                      <p:cBhvr>
                                        <p:cTn id="15" dur="500"/>
                                        <p:tgtEl>
                                          <p:spTgt spid="4">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
                                            <p:txEl>
                                              <p:pRg st="4" end="4"/>
                                            </p:txEl>
                                          </p:spTgt>
                                        </p:tgtEl>
                                        <p:attrNameLst>
                                          <p:attrName>style.visibility</p:attrName>
                                        </p:attrNameLst>
                                      </p:cBhvr>
                                      <p:to>
                                        <p:strVal val="visible"/>
                                      </p:to>
                                    </p:set>
                                    <p:animEffect transition="in" filter="fade">
                                      <p:cBhvr>
                                        <p:cTn id="18" dur="500"/>
                                        <p:tgtEl>
                                          <p:spTgt spid="4">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animEffect transition="in" filter="fade">
                                      <p:cBhvr>
                                        <p:cTn id="21" dur="500"/>
                                        <p:tgtEl>
                                          <p:spTgt spid="4">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4">
                                            <p:txEl>
                                              <p:pRg st="6" end="6"/>
                                            </p:txEl>
                                          </p:spTgt>
                                        </p:tgtEl>
                                        <p:attrNameLst>
                                          <p:attrName>style.visibility</p:attrName>
                                        </p:attrNameLst>
                                      </p:cBhvr>
                                      <p:to>
                                        <p:strVal val="visible"/>
                                      </p:to>
                                    </p:set>
                                    <p:animEffect transition="in" filter="fade">
                                      <p:cBhvr>
                                        <p:cTn id="24"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g89c27fe044_0_0"/>
          <p:cNvSpPr/>
          <p:nvPr/>
        </p:nvSpPr>
        <p:spPr>
          <a:xfrm>
            <a:off x="1006081" y="1094675"/>
            <a:ext cx="10044300" cy="5092500"/>
          </a:xfrm>
          <a:prstGeom prst="rect">
            <a:avLst/>
          </a:prstGeom>
          <a:solidFill>
            <a:srgbClr val="0C0C0C"/>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BBF0D4EB-0C16-F427-2732-51450C82F8F0}"/>
              </a:ext>
            </a:extLst>
          </p:cNvPr>
          <p:cNvPicPr>
            <a:picLocks noChangeAspect="1"/>
          </p:cNvPicPr>
          <p:nvPr/>
        </p:nvPicPr>
        <p:blipFill>
          <a:blip r:embed="rId3"/>
          <a:stretch>
            <a:fillRect/>
          </a:stretch>
        </p:blipFill>
        <p:spPr>
          <a:xfrm>
            <a:off x="6312206" y="1371610"/>
            <a:ext cx="4507663" cy="3011595"/>
          </a:xfrm>
          <a:prstGeom prst="rect">
            <a:avLst/>
          </a:prstGeom>
        </p:spPr>
      </p:pic>
      <p:pic>
        <p:nvPicPr>
          <p:cNvPr id="5" name="Picture 4">
            <a:extLst>
              <a:ext uri="{FF2B5EF4-FFF2-40B4-BE49-F238E27FC236}">
                <a16:creationId xmlns:a16="http://schemas.microsoft.com/office/drawing/2014/main" id="{ED512B2C-A8F6-F428-922B-6F100E717E1F}"/>
              </a:ext>
            </a:extLst>
          </p:cNvPr>
          <p:cNvPicPr>
            <a:picLocks noChangeAspect="1"/>
          </p:cNvPicPr>
          <p:nvPr/>
        </p:nvPicPr>
        <p:blipFill>
          <a:blip r:embed="rId4"/>
          <a:stretch>
            <a:fillRect/>
          </a:stretch>
        </p:blipFill>
        <p:spPr>
          <a:xfrm>
            <a:off x="1210244" y="1195449"/>
            <a:ext cx="2095702" cy="1227337"/>
          </a:xfrm>
          <a:prstGeom prst="rect">
            <a:avLst/>
          </a:prstGeom>
        </p:spPr>
      </p:pic>
      <p:pic>
        <p:nvPicPr>
          <p:cNvPr id="7" name="Picture 6">
            <a:extLst>
              <a:ext uri="{FF2B5EF4-FFF2-40B4-BE49-F238E27FC236}">
                <a16:creationId xmlns:a16="http://schemas.microsoft.com/office/drawing/2014/main" id="{0B1732C5-A532-8851-4402-6A3BBA4DBAFA}"/>
              </a:ext>
            </a:extLst>
          </p:cNvPr>
          <p:cNvPicPr>
            <a:picLocks noChangeAspect="1"/>
          </p:cNvPicPr>
          <p:nvPr/>
        </p:nvPicPr>
        <p:blipFill>
          <a:blip r:embed="rId5"/>
          <a:stretch>
            <a:fillRect/>
          </a:stretch>
        </p:blipFill>
        <p:spPr>
          <a:xfrm>
            <a:off x="1210244" y="2542828"/>
            <a:ext cx="4078125" cy="931083"/>
          </a:xfrm>
          <a:prstGeom prst="rect">
            <a:avLst/>
          </a:prstGeom>
        </p:spPr>
      </p:pic>
      <p:pic>
        <p:nvPicPr>
          <p:cNvPr id="9" name="Picture 8">
            <a:extLst>
              <a:ext uri="{FF2B5EF4-FFF2-40B4-BE49-F238E27FC236}">
                <a16:creationId xmlns:a16="http://schemas.microsoft.com/office/drawing/2014/main" id="{A72B5E43-AD08-963A-3C78-8D7B501A8E33}"/>
              </a:ext>
            </a:extLst>
          </p:cNvPr>
          <p:cNvPicPr>
            <a:picLocks noChangeAspect="1"/>
          </p:cNvPicPr>
          <p:nvPr/>
        </p:nvPicPr>
        <p:blipFill>
          <a:blip r:embed="rId6"/>
          <a:stretch>
            <a:fillRect/>
          </a:stretch>
        </p:blipFill>
        <p:spPr>
          <a:xfrm>
            <a:off x="1196084" y="3593953"/>
            <a:ext cx="4106443" cy="1192068"/>
          </a:xfrm>
          <a:prstGeom prst="rect">
            <a:avLst/>
          </a:prstGeom>
        </p:spPr>
      </p:pic>
      <p:pic>
        <p:nvPicPr>
          <p:cNvPr id="11" name="Picture 10">
            <a:extLst>
              <a:ext uri="{FF2B5EF4-FFF2-40B4-BE49-F238E27FC236}">
                <a16:creationId xmlns:a16="http://schemas.microsoft.com/office/drawing/2014/main" id="{20E8B129-A2C2-BF90-CC35-91375BD2AC62}"/>
              </a:ext>
            </a:extLst>
          </p:cNvPr>
          <p:cNvPicPr>
            <a:picLocks noChangeAspect="1"/>
          </p:cNvPicPr>
          <p:nvPr/>
        </p:nvPicPr>
        <p:blipFill>
          <a:blip r:embed="rId7"/>
          <a:stretch>
            <a:fillRect/>
          </a:stretch>
        </p:blipFill>
        <p:spPr>
          <a:xfrm>
            <a:off x="1210243" y="4900755"/>
            <a:ext cx="4191406" cy="76179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ketchyVTI">
  <a:themeElements>
    <a:clrScheme name="SketchyVTI">
      <a:dk1>
        <a:sysClr val="windowText" lastClr="000000"/>
      </a:dk1>
      <a:lt1>
        <a:sysClr val="window" lastClr="FFFFFF"/>
      </a:lt1>
      <a:dk2>
        <a:srgbClr val="39302A"/>
      </a:dk2>
      <a:lt2>
        <a:srgbClr val="E5DEDB"/>
      </a:lt2>
      <a:accent1>
        <a:srgbClr val="E4650E"/>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Custom 2">
      <a:majorFont>
        <a:latin typeface="Modern Love"/>
        <a:ea typeface=""/>
        <a:cs typeface=""/>
      </a:majorFont>
      <a:minorFont>
        <a:latin typeface="The Ha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643</TotalTime>
  <Words>3340</Words>
  <Application>Microsoft Macintosh PowerPoint</Application>
  <PresentationFormat>Widescreen</PresentationFormat>
  <Paragraphs>228</Paragraphs>
  <Slides>51</Slides>
  <Notes>21</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51</vt:i4>
      </vt:variant>
    </vt:vector>
  </HeadingPairs>
  <TitlesOfParts>
    <vt:vector size="63" baseType="lpstr">
      <vt:lpstr>The Hand</vt:lpstr>
      <vt:lpstr>Modern Love</vt:lpstr>
      <vt:lpstr>Amasis MT Pro Medium</vt:lpstr>
      <vt:lpstr>arial</vt:lpstr>
      <vt:lpstr>Wingdings</vt:lpstr>
      <vt:lpstr>Arial Black</vt:lpstr>
      <vt:lpstr>Inter</vt:lpstr>
      <vt:lpstr>arial</vt:lpstr>
      <vt:lpstr>Verdana</vt:lpstr>
      <vt:lpstr>Calibri</vt:lpstr>
      <vt:lpstr>Office Theme</vt:lpstr>
      <vt:lpstr>SketchyVTI</vt:lpstr>
      <vt:lpstr>PowerPoint Presentation</vt:lpstr>
      <vt:lpstr>PowerPoint Presentation</vt:lpstr>
      <vt:lpstr>PowerPoint Presentation</vt:lpstr>
      <vt:lpstr>Prior knowledge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WATER</vt:lpstr>
      <vt:lpstr>PowerPoint Presentation</vt:lpstr>
      <vt:lpstr>Structure</vt:lpstr>
      <vt:lpstr>PowerPoint Presentation</vt:lpstr>
      <vt:lpstr>PowerPoint Presentation</vt:lpstr>
      <vt:lpstr>Dipole nature of the water molecule</vt:lpstr>
      <vt:lpstr>Dipole nature of the water molecule</vt:lpstr>
      <vt:lpstr>Dipole nature of the water molecule</vt:lpstr>
      <vt:lpstr>Dipole nature of the water molecule</vt:lpstr>
      <vt:lpstr>Dipole nature of the water molecule</vt:lpstr>
      <vt:lpstr>Dipole nature of the water molecule</vt:lpstr>
      <vt:lpstr>Properties of water:  POLAR SOLVENT</vt:lpstr>
      <vt:lpstr>It is important to note that polar molecules are not the same as ionic molecules!!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Properties of water:  POLAR SOLVENT</vt:lpstr>
      <vt:lpstr>Properties of water:  HIGH SPECIFIC HEAT CAPACITY</vt:lpstr>
      <vt:lpstr>Properties of water:  DENSITY DECREASES UNDER 4ºC</vt:lpstr>
      <vt:lpstr>Properties of water:  DENSITY DECREASES UNDER 4ºC</vt:lpstr>
      <vt:lpstr>Properties of water:  COHESION AND ADHESION</vt:lpstr>
      <vt:lpstr>PowerPoint Presentation</vt:lpstr>
      <vt:lpstr>Properties of water:  HIGH SURFACE TENSION</vt:lpstr>
      <vt:lpstr>PowerPoint Presentation</vt:lpstr>
      <vt:lpstr>SUMMARY: Solvent Properties of Water</vt:lpstr>
      <vt:lpstr>Command Words </vt:lpstr>
      <vt:lpstr>Command Words </vt:lpstr>
      <vt:lpstr>Command Words </vt:lpstr>
      <vt:lpstr>Checkpoint Questions</vt:lpstr>
      <vt:lpstr>Checkpoint Questions</vt:lpstr>
      <vt:lpstr>Checkpoint Questions</vt:lpstr>
      <vt:lpstr>Checkpoint Questions</vt:lpstr>
      <vt:lpstr>Checkpoint 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Fathimath Jadhulla Hameed</cp:lastModifiedBy>
  <cp:revision>57</cp:revision>
  <dcterms:created xsi:type="dcterms:W3CDTF">2020-04-14T17:06:59Z</dcterms:created>
  <dcterms:modified xsi:type="dcterms:W3CDTF">2026-06-17T03:18:57Z</dcterms:modified>
</cp:coreProperties>
</file>